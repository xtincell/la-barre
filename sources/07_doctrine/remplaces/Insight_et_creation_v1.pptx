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slide" Target="slides/slide1.xml"/><Relationship Id="rId41" Type="http://schemas.openxmlformats.org/officeDocument/2006/relationships/slide" Target="slides/slide2.xml"/><Relationship Id="rId42" Type="http://schemas.openxmlformats.org/officeDocument/2006/relationships/slide" Target="slides/slide3.xml"/><Relationship Id="rId43" Type="http://schemas.openxmlformats.org/officeDocument/2006/relationships/slide" Target="slides/slide4.xml"/><Relationship Id="rId44" Type="http://schemas.openxmlformats.org/officeDocument/2006/relationships/slide" Target="slides/slide5.xml"/><Relationship Id="rId45" Type="http://schemas.openxmlformats.org/officeDocument/2006/relationships/slide" Target="slides/slide6.xml"/><Relationship Id="rId46" Type="http://schemas.openxmlformats.org/officeDocument/2006/relationships/slide" Target="slides/slide7.xml"/><Relationship Id="rId47" Type="http://schemas.openxmlformats.org/officeDocument/2006/relationships/slide" Target="slides/slide8.xml"/><Relationship Id="rId48" Type="http://schemas.openxmlformats.org/officeDocument/2006/relationships/slide" Target="slides/slide9.xml"/><Relationship Id="rId49" Type="http://schemas.openxmlformats.org/officeDocument/2006/relationships/slide" Target="slides/slide10.xml"/><Relationship Id="rId50" Type="http://schemas.openxmlformats.org/officeDocument/2006/relationships/slide" Target="slides/slide11.xml"/><Relationship Id="rId51" Type="http://schemas.openxmlformats.org/officeDocument/2006/relationships/slide" Target="slides/slide12.xml"/><Relationship Id="rId52" Type="http://schemas.openxmlformats.org/officeDocument/2006/relationships/slide" Target="slides/slide13.xml"/><Relationship Id="rId53" Type="http://schemas.openxmlformats.org/officeDocument/2006/relationships/slide" Target="slides/slide14.xml"/><Relationship Id="rId54" Type="http://schemas.openxmlformats.org/officeDocument/2006/relationships/slide" Target="slides/slide15.xml"/><Relationship Id="rId55" Type="http://schemas.openxmlformats.org/officeDocument/2006/relationships/slide" Target="slides/slide16.xml"/><Relationship Id="rId56" Type="http://schemas.openxmlformats.org/officeDocument/2006/relationships/slide" Target="slides/slide17.xml"/><Relationship Id="rId57" Type="http://schemas.openxmlformats.org/officeDocument/2006/relationships/slide" Target="slides/slide18.xml"/><Relationship Id="rId58" Type="http://schemas.openxmlformats.org/officeDocument/2006/relationships/slide" Target="slides/slide19.xml"/><Relationship Id="rId59" Type="http://schemas.openxmlformats.org/officeDocument/2006/relationships/slide" Target="slides/slide20.xml"/><Relationship Id="rId60" Type="http://schemas.openxmlformats.org/officeDocument/2006/relationships/slide" Target="slides/slide21.xml"/><Relationship Id="rId61" Type="http://schemas.openxmlformats.org/officeDocument/2006/relationships/slide" Target="slides/slide22.xml"/><Relationship Id="rId62" Type="http://schemas.openxmlformats.org/officeDocument/2006/relationships/slide" Target="slides/slide23.xml"/><Relationship Id="rId63" Type="http://schemas.openxmlformats.org/officeDocument/2006/relationships/slide" Target="slides/slide24.xml"/><Relationship Id="rId64" Type="http://schemas.openxmlformats.org/officeDocument/2006/relationships/slide" Target="slides/slide25.xml"/><Relationship Id="rId65" Type="http://schemas.openxmlformats.org/officeDocument/2006/relationships/slide" Target="slides/slide26.xml"/><Relationship Id="rId66" Type="http://schemas.openxmlformats.org/officeDocument/2006/relationships/slide" Target="slides/slide27.xml"/><Relationship Id="rId67" Type="http://schemas.openxmlformats.org/officeDocument/2006/relationships/slide" Target="slides/slide28.xml"/><Relationship Id="rId68" Type="http://schemas.openxmlformats.org/officeDocument/2006/relationships/slide" Target="slides/slide29.xml"/><Relationship Id="rId69" Type="http://schemas.openxmlformats.org/officeDocument/2006/relationships/slide" Target="slides/slide30.xml"/><Relationship Id="rId70" Type="http://schemas.openxmlformats.org/officeDocument/2006/relationships/slide" Target="slides/slide31.xml"/><Relationship Id="rId71" Type="http://schemas.openxmlformats.org/officeDocument/2006/relationships/slide" Target="slides/slide32.xml"/><Relationship Id="rId72" Type="http://schemas.openxmlformats.org/officeDocument/2006/relationships/slide" Target="slides/slide33.xml"/><Relationship Id="rId73" Type="http://schemas.openxmlformats.org/officeDocument/2006/relationships/slide" Target="slides/slide34.xml"/><Relationship Id="rId74" Type="http://schemas.openxmlformats.org/officeDocument/2006/relationships/slide" Target="slides/slide35.xml"/><Relationship Id="rId75" Type="http://schemas.openxmlformats.org/officeDocument/2006/relationships/slide" Target="slides/slide36.xml"/><Relationship Id="rId76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module de la série. Suppose le premier acquis : les écoles disent où chercher, celui-ci dit quoi faire de ce qu’on trouve.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cinq imposteurs à voix haute. Ils sonnent tous vrais — c’est exactement le problème.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Distribuer ce tableau imprimé. C’est la page que les jeunes garderont.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C’est la couche la plus impopulaire et la plus rentable. Y passer du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raconter ce cas comme une réussite ni comme un échec. Laisser la salle conclure : l’observation ouvre la place, l’insight donne le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cas revient en partie IV. Le garder au tableau pendant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sensible. Insister sur le fait que documenter n’est pas se couvrir : c’est rendre la correction possible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9728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DOCUMENT DE FORMATION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55448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Trouver l’insight,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en faire une campagne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85800" y="3611880"/>
            <a:ext cx="2011680" cy="10973"/>
          </a:xfrm>
          <a:prstGeom prst="rect">
            <a:avLst/>
          </a:prstGeom>
          <a:solidFill>
            <a:srgbClr val="B23A2E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3886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Où vit le vrai problème, comment on l’écrit,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et ce qui se passe entre une phrase juste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et la première idée.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120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Consommateur · Culture · Catégorie · Entreprise — les quatre couches, et ce que chacune commande</a:t>
            </a:r>
            <a:endParaRPr lang="en-US" sz="1150" dirty="0"/>
          </a:p>
        </p:txBody>
      </p:sp>
      <p:pic>
        <p:nvPicPr>
          <p:cNvPr id="7" name="Picture 6" descr="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4048"/>
            <a:ext cx="1645920" cy="4408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POINT DE DÉPART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Ce qu’est un insight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984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insight n’est ni une donnée ni une observation. C’est une vérité sur les gens qui rend une action évidente.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4937760" cy="1005840"/>
          </a:xfrm>
          <a:prstGeom prst="roundRect">
            <a:avLst>
              <a:gd name="adj" fmla="val 3636"/>
            </a:avLst>
          </a:prstGeom>
          <a:solidFill>
            <a:srgbClr val="1A1A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22860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B04B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Qu’est-ce que ça rend possible ?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204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constat décrit ce qui est. Un insight explique pourquoi, et ouvre une porte.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test tient en une phrase : si l’énoncé ne fait rien surgir, ce n’est pas un insight.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5303520"/>
            <a:ext cx="4937760" cy="777240"/>
          </a:xfrm>
          <a:prstGeom prst="roundRect">
            <a:avLst>
              <a:gd name="adj" fmla="val 4706"/>
            </a:avLst>
          </a:prstGeom>
          <a:solidFill>
            <a:srgbClr val="B23A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8408" y="54681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E9E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plupart des briefs arrivent avec un constat présenté comme un insight.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129844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Cinq imposteurs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5330952" cy="731520"/>
          </a:xfrm>
          <a:prstGeom prst="roundRect">
            <a:avLst>
              <a:gd name="adj" fmla="val 3750"/>
            </a:avLst>
          </a:prstGeom>
          <a:solidFill>
            <a:srgbClr val="F1EEE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1956816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8653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donnée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1671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« 68 % des parents épargnent pour la rentrée »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2642616"/>
            <a:ext cx="5330952" cy="731520"/>
          </a:xfrm>
          <a:prstGeom prst="roundRect">
            <a:avLst>
              <a:gd name="adj" fmla="val 3750"/>
            </a:avLst>
          </a:prstGeom>
          <a:solidFill>
            <a:srgbClr val="F8F6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2816352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7249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constat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30266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« Les parents s’endettent pour l’école »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3502152"/>
            <a:ext cx="5330952" cy="731520"/>
          </a:xfrm>
          <a:prstGeom prst="roundRect">
            <a:avLst>
              <a:gd name="adj" fmla="val 3750"/>
            </a:avLst>
          </a:prstGeom>
          <a:solidFill>
            <a:srgbClr val="F1EEE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3675888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5844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besoin déclaré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3886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« Ils veulent un crédit plus souple »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4361688"/>
            <a:ext cx="5330952" cy="731520"/>
          </a:xfrm>
          <a:prstGeom prst="roundRect">
            <a:avLst>
              <a:gd name="adj" fmla="val 3750"/>
            </a:avLst>
          </a:prstGeom>
          <a:solidFill>
            <a:srgbClr val="F8F6F4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0" y="4535424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44439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verbatim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47457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« C’est dur, mais on n’a pas le choix »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72200" y="5221224"/>
            <a:ext cx="5330952" cy="731520"/>
          </a:xfrm>
          <a:prstGeom prst="roundRect">
            <a:avLst>
              <a:gd name="adj" fmla="val 3750"/>
            </a:avLst>
          </a:prstGeom>
          <a:solidFill>
            <a:srgbClr val="F1EEEA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0" y="5394960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5303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vérité générale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5605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« L’éducation est une priorité »</a:t>
            </a:r>
            <a:endParaRPr lang="en-US" sz="1150" dirty="0"/>
          </a:p>
        </p:txBody>
      </p:sp>
      <p:pic>
        <p:nvPicPr>
          <p:cNvPr id="36" name="Picture 35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DISTINCTION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Six niveaux qu’on confond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88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même dossier, lu à six profondeurs. Seuls les deux derniers permettent d’écrire quelque chose.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10820095" cy="438912"/>
          </a:xfrm>
          <a:prstGeom prst="roundRect">
            <a:avLst>
              <a:gd name="adj" fmla="val 6250"/>
            </a:avLst>
          </a:prstGeom>
          <a:solidFill>
            <a:srgbClr val="1A1A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NIVEAU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17373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QUE ÇA DIT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173736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QU’ON PEUT EN FAIRE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267712"/>
            <a:ext cx="10820095" cy="475488"/>
          </a:xfrm>
          <a:prstGeom prst="roundRect">
            <a:avLst>
              <a:gd name="adj" fmla="val 5769"/>
            </a:avLst>
          </a:prstGeom>
          <a:solidFill>
            <a:srgbClr val="F1EE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2677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donnée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2677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chiffre, une mesure, un pourcentage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26771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Rien. Elle prouve, elle n’oriente pas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2834640"/>
            <a:ext cx="10820095" cy="475488"/>
          </a:xfrm>
          <a:prstGeom prst="roundRect">
            <a:avLst>
              <a:gd name="adj" fmla="val 5769"/>
            </a:avLst>
          </a:prstGeom>
          <a:solidFill>
            <a:srgbClr val="F8F6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28346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constat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28346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description exacte de ce qui se passe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283464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rappel de contexte, en slide 2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3401568"/>
            <a:ext cx="10820095" cy="475488"/>
          </a:xfrm>
          <a:prstGeom prst="roundRect">
            <a:avLst>
              <a:gd name="adj" fmla="val 5769"/>
            </a:avLst>
          </a:prstGeom>
          <a:solidFill>
            <a:srgbClr val="F1EE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34015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besoin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34015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que les gens disent vouloir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40156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argumentaire produit, au mieux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968496"/>
            <a:ext cx="10820095" cy="475488"/>
          </a:xfrm>
          <a:prstGeom prst="roundRect">
            <a:avLst>
              <a:gd name="adj" fmla="val 5769"/>
            </a:avLst>
          </a:prstGeom>
          <a:solidFill>
            <a:srgbClr val="F8F6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" y="396849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verbatim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396849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phrase entendue sur le terrain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396849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preuve, jamais un point de départ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4535424"/>
            <a:ext cx="10820095" cy="475488"/>
          </a:xfrm>
          <a:prstGeom prst="roundRect">
            <a:avLst>
              <a:gd name="adj" fmla="val 5769"/>
            </a:avLst>
          </a:prstGeom>
          <a:solidFill>
            <a:srgbClr val="F1EE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0120" y="453542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tension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697480" y="45354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Deux choses vraies en même temps, incompatibles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453542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début d’un insight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5102352"/>
            <a:ext cx="10820095" cy="475488"/>
          </a:xfrm>
          <a:prstGeom prst="roundRect">
            <a:avLst>
              <a:gd name="adj" fmla="val 5769"/>
            </a:avLst>
          </a:prstGeom>
          <a:solidFill>
            <a:srgbClr val="F8F6F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0120" y="51023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L’insight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2697480" y="51023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tension, plus ce qu’elle empêche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510235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territoire, puis un concept</a:t>
            </a:r>
            <a:endParaRPr lang="en-US" sz="1250" dirty="0"/>
          </a:p>
        </p:txBody>
      </p:sp>
      <p:pic>
        <p:nvPicPr>
          <p:cNvPr id="37" name="Picture 36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TEST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Trois questions avant de l’écrire au tableau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820095" cy="1298448"/>
          </a:xfrm>
          <a:prstGeom prst="roundRect">
            <a:avLst>
              <a:gd name="adj" fmla="val 2817"/>
            </a:avLst>
          </a:prstGeom>
          <a:solidFill>
            <a:srgbClr val="F1EEE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691640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81912" y="163677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Est-ce que quelqu’un pourrait dire le contraire ?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581912" y="2039112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 personne ne peut contredire l’énoncé, c’est une généralité. Un insight prend parti sur une population précise, et laisse les autres de côté.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898648"/>
            <a:ext cx="10820095" cy="1298448"/>
          </a:xfrm>
          <a:prstGeom prst="roundRect">
            <a:avLst>
              <a:gd name="adj" fmla="val 2817"/>
            </a:avLst>
          </a:prstGeom>
          <a:solidFill>
            <a:srgbClr val="1A1A1C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3172968"/>
            <a:ext cx="384048" cy="38404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81912" y="311810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Est-ce que ça met légèrement mal à l’aise ?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581912" y="352044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insight juste touche ce qu’on préfère ne pas dire. Le confort est le signe qu’on est resté au constat.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379976"/>
            <a:ext cx="10820095" cy="1298448"/>
          </a:xfrm>
          <a:prstGeom prst="roundRect">
            <a:avLst>
              <a:gd name="adj" fmla="val 2817"/>
            </a:avLst>
          </a:prstGeom>
          <a:solidFill>
            <a:srgbClr val="F1EEE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4654296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81912" y="459943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Est-ce qu’une idée arrive toute seule ?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581912" y="500176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Si, après l’avoir lu, personne dans la pièce ne propose rien, l’énoncé n’ouvre pas. Il décrit.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3276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Trois oui : c’est un insight. Deux oui : c’est une tension à creuser. Un seul : on recommence.</a:t>
            </a:r>
            <a:endParaRPr lang="en-US" sz="1000" dirty="0"/>
          </a:p>
        </p:txBody>
      </p:sp>
      <p:pic>
        <p:nvPicPr>
          <p:cNvPr id="20" name="Picture 19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PARTIE 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Les quatre couches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3200400"/>
            <a:ext cx="2011680" cy="10973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34747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insight ne vaut rien sans son étage. La couche où il vit décide du livrable qu’on doit produire — et c’est la seule chose à retenir de cette partie.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Consommateur — le message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350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Culture — la big idea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9169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Catégorie — le positionnement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34838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Entreprise — la correction de marque</a:t>
            </a:r>
            <a:endParaRPr lang="en-US" sz="1350" dirty="0"/>
          </a:p>
        </p:txBody>
      </p:sp>
      <p:pic>
        <p:nvPicPr>
          <p:cNvPr id="10" name="Picture 9" descr="ic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L’ÉCHELLE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Les quatre couches en un tableau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10820095" cy="384048"/>
          </a:xfrm>
          <a:prstGeom prst="roundRect">
            <a:avLst>
              <a:gd name="adj" fmla="val 7143"/>
            </a:avLst>
          </a:prstGeom>
          <a:solidFill>
            <a:srgbClr val="1A1A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2984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Couche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298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Où on cherche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298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qu’on trouve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1298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que ça commande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755648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7556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Consommateur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17556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Dans les comportements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755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tension vécue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1755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message et le ton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135124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21351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Culture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21351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Dans la société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1351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contradiction partagée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1351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big idea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2514600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2514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Catégorie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0" y="25146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Chez les concurrents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2514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convention non interrogée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25146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positionnement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2894076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28940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Entreprise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28940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Dans la marque elle-même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28940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écart entre promesse et réalité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28940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correction de marque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685800" y="63276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campagne ne répare pas un positionnement, et un positionnement ne répare pas un service. La colonne de droite est un engagement, pas une indication.</a:t>
            </a:r>
            <a:endParaRPr lang="en-US" sz="1000" dirty="0"/>
          </a:p>
        </p:txBody>
      </p:sp>
      <p:pic>
        <p:nvPicPr>
          <p:cNvPr id="70" name="Picture 69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COUCHE 1 — LE CONSOMMATEUR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 tension vécue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10820095" cy="1234440"/>
          </a:xfrm>
          <a:prstGeom prst="roundRect">
            <a:avLst>
              <a:gd name="adj" fmla="val 2963"/>
            </a:avLst>
          </a:prstGeom>
          <a:solidFill>
            <a:srgbClr val="1A1A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463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QU’ON Y CHERCHE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755648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contradiction dans le comportement d’une personne précise : ce qu’elle fait et ce qu’elle voudrait, ce qu’elle dit et ce qu’elle vit. On descend au niveau de l’individu, pas du segment.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3410712" cy="1783080"/>
          </a:xfrm>
          <a:prstGeom prst="roundRect">
            <a:avLst>
              <a:gd name="adj" fmla="val 1795"/>
            </a:avLst>
          </a:prstGeom>
          <a:solidFill>
            <a:srgbClr val="F1EE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898648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OÙ ON LA TROUVE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27832"/>
            <a:ext cx="28620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 parlant aux gens, en les regardant faire, en écoutant ce qu’ils disent quand ils ne répondent pas à une question d’étude.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697480"/>
            <a:ext cx="3410712" cy="1783080"/>
          </a:xfrm>
          <a:prstGeom prst="roundRect">
            <a:avLst>
              <a:gd name="adj" fmla="val 1795"/>
            </a:avLst>
          </a:prstGeom>
          <a:solidFill>
            <a:srgbClr val="F1EE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898648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COMMENT ON LA RECONNAÎT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27832"/>
            <a:ext cx="28620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Elle se raconte à la première personne, et elle est un peu gênante à lire à voix haute devant le client.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2440" y="2697480"/>
            <a:ext cx="3410712" cy="1783080"/>
          </a:xfrm>
          <a:prstGeom prst="roundRect">
            <a:avLst>
              <a:gd name="adj" fmla="val 1795"/>
            </a:avLst>
          </a:prstGeom>
          <a:solidFill>
            <a:srgbClr val="F1EE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66760" y="2898648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QU’ELLE COMMANDE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227832"/>
            <a:ext cx="28620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message et la langue de la campagne. C’est la couche qui décide du ton, pas de la stratégie.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663440"/>
            <a:ext cx="10820095" cy="1234440"/>
          </a:xfrm>
          <a:prstGeom prst="roundRect">
            <a:avLst>
              <a:gd name="adj" fmla="val 2963"/>
            </a:avLst>
          </a:prstGeom>
          <a:solidFill>
            <a:srgbClr val="B23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48280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E9E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L’ERREUR COURANTE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512064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Lui faire porter une décision de positionnement. Un insight consommateur ne répare pas une marque mal placée : il la rend seulement plus sympathique.</a:t>
            </a:r>
            <a:endParaRPr lang="en-US" sz="1250" dirty="0"/>
          </a:p>
        </p:txBody>
      </p:sp>
      <p:pic>
        <p:nvPicPr>
          <p:cNvPr id="19" name="Picture 18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COUCHE 2 — LA CULTURE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 contradiction partagée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10820095" cy="1234440"/>
          </a:xfrm>
          <a:prstGeom prst="roundRect">
            <a:avLst>
              <a:gd name="adj" fmla="val 2963"/>
            </a:avLst>
          </a:prstGeom>
          <a:solidFill>
            <a:srgbClr val="1A1A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463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QU’ON Y CHERCHE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755648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tension que la société porte sans la résoudre : tradition et modernité, réussite individuelle et devoir familial, langue de la maison et langue de l’école.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3410712" cy="1783080"/>
          </a:xfrm>
          <a:prstGeom prst="roundRect">
            <a:avLst>
              <a:gd name="adj" fmla="val 1795"/>
            </a:avLst>
          </a:prstGeom>
          <a:solidFill>
            <a:srgbClr val="F1EE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898648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OÙ ON LA TROUVE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27832"/>
            <a:ext cx="28620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Dans la musique, les séries, l’humour, les débats, ce qui circule sur les réseaux. Pas dans les panels.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697480"/>
            <a:ext cx="3410712" cy="1783080"/>
          </a:xfrm>
          <a:prstGeom prst="roundRect">
            <a:avLst>
              <a:gd name="adj" fmla="val 1795"/>
            </a:avLst>
          </a:prstGeom>
          <a:solidFill>
            <a:srgbClr val="F1EE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898648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COMMENT ON LA RECONNAÎT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27832"/>
            <a:ext cx="28620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Elle ne parle pas de la catégorie. Elle existerait même si la marque n’existait pas — c’est ce qui lui donne sa portée.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2440" y="2697480"/>
            <a:ext cx="3410712" cy="1783080"/>
          </a:xfrm>
          <a:prstGeom prst="roundRect">
            <a:avLst>
              <a:gd name="adj" fmla="val 1795"/>
            </a:avLst>
          </a:prstGeom>
          <a:solidFill>
            <a:srgbClr val="F1EE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66760" y="2898648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QU’ELLE COMMANDE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227832"/>
            <a:ext cx="28620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big idea : celle qui tient plusieurs années et plusieurs campagnes.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663440"/>
            <a:ext cx="10820095" cy="1234440"/>
          </a:xfrm>
          <a:prstGeom prst="roundRect">
            <a:avLst>
              <a:gd name="adj" fmla="val 2963"/>
            </a:avLst>
          </a:prstGeom>
          <a:solidFill>
            <a:srgbClr val="B23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48280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E9E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L’ERREUR COURANTE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512064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Porter un sujet de société sans que la marque ait le droit d’en parler. La contradiction doit croiser quelque chose que la marque fait déjà.</a:t>
            </a:r>
            <a:endParaRPr lang="en-US" sz="1250" dirty="0"/>
          </a:p>
        </p:txBody>
      </p:sp>
      <p:pic>
        <p:nvPicPr>
          <p:cNvPr id="19" name="Picture 18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COUCHE 3 — LA CATÉGORIE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 convention non interrogée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10820095" cy="1234440"/>
          </a:xfrm>
          <a:prstGeom prst="roundRect">
            <a:avLst>
              <a:gd name="adj" fmla="val 2963"/>
            </a:avLst>
          </a:prstGeom>
          <a:solidFill>
            <a:srgbClr val="1A1A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463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QU’ON Y CHERCHE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755648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que tous les concurrents tiennent pour acquis : la promesse qu’ils font tous, les codes visuels qu’ils partagent, le registre dont aucun ne sort.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3410712" cy="1783080"/>
          </a:xfrm>
          <a:prstGeom prst="roundRect">
            <a:avLst>
              <a:gd name="adj" fmla="val 1795"/>
            </a:avLst>
          </a:prstGeom>
          <a:solidFill>
            <a:srgbClr val="F1EE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898648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OÙ ON LA TROUVE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27832"/>
            <a:ext cx="28620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 alignant toutes les communications de la catégorie sur un mur. La convention apparaît d’elle-même quand tout se ressemble.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697480"/>
            <a:ext cx="3410712" cy="1783080"/>
          </a:xfrm>
          <a:prstGeom prst="roundRect">
            <a:avLst>
              <a:gd name="adj" fmla="val 1795"/>
            </a:avLst>
          </a:prstGeom>
          <a:solidFill>
            <a:srgbClr val="F1EE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898648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COMMENT ON LA RECONNAÎT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27832"/>
            <a:ext cx="28620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Elle se prouve en trois visuels de concurrents. Si vous ne pouvez pas la montrer, vous l’avez supposée.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2440" y="2697480"/>
            <a:ext cx="3410712" cy="1783080"/>
          </a:xfrm>
          <a:prstGeom prst="roundRect">
            <a:avLst>
              <a:gd name="adj" fmla="val 1795"/>
            </a:avLst>
          </a:prstGeom>
          <a:solidFill>
            <a:srgbClr val="F1EE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66760" y="2898648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QU’ELLE COMMANDE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227832"/>
            <a:ext cx="28620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positionnement : la place qu’on occupe, et celle qu’on laisse aux autres.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663440"/>
            <a:ext cx="10820095" cy="1234440"/>
          </a:xfrm>
          <a:prstGeom prst="roundRect">
            <a:avLst>
              <a:gd name="adj" fmla="val 2963"/>
            </a:avLst>
          </a:prstGeom>
          <a:solidFill>
            <a:srgbClr val="B23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48280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E9E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L’ERREUR COURANTE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512064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Casser la convention sans savoir ce qu’on met à la place. Une rupture sans position produit un coup, pas une marque.</a:t>
            </a:r>
            <a:endParaRPr lang="en-US" sz="1250" dirty="0"/>
          </a:p>
        </p:txBody>
      </p:sp>
      <p:pic>
        <p:nvPicPr>
          <p:cNvPr id="19" name="Picture 18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CAS RÉEL — MAYOR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 braiseur de poisson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observation de catégorie, ce qu’elle a produit, et ce qui lui manquait pour aller plus loin.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410712" cy="3017520"/>
          </a:xfrm>
          <a:prstGeom prst="roundRect">
            <a:avLst>
              <a:gd name="adj" fmla="val 1212"/>
            </a:avLst>
          </a:prstGeom>
          <a:solidFill>
            <a:srgbClr val="F1EEEA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38528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7840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Ce qu’on a vu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2907792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Dans l’huile de table, toute la catégorie s’adresse à la ménagère : au marché, en supermarché, en cuisine. Or ceux qui frient le plus achètent le même produit, au carton.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410712" cy="3017520"/>
          </a:xfrm>
          <a:prstGeom prst="roundRect">
            <a:avLst>
              <a:gd name="adj" fmla="val 1212"/>
            </a:avLst>
          </a:prstGeom>
          <a:solidFill>
            <a:srgbClr val="1A1A1C"/>
          </a:solidFill>
          <a:ln/>
        </p:spPr>
      </p:sp>
      <p:sp>
        <p:nvSpPr>
          <p:cNvPr id="11" name="Shape 9"/>
          <p:cNvSpPr/>
          <p:nvPr/>
        </p:nvSpPr>
        <p:spPr>
          <a:xfrm>
            <a:off x="4681728" y="1938528"/>
            <a:ext cx="384048" cy="38404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172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Ce que ça a produit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2907792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territoire visuel que personne n’avait occupé : le braiseur de poisson. Remarqué dans le métier, et jugé inexploré par la catégorie.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1691640"/>
            <a:ext cx="3410712" cy="3017520"/>
          </a:xfrm>
          <a:prstGeom prst="roundRect">
            <a:avLst>
              <a:gd name="adj" fmla="val 1212"/>
            </a:avLst>
          </a:prstGeom>
          <a:solidFill>
            <a:srgbClr val="F1EEEA"/>
          </a:solidFill>
          <a:ln/>
        </p:spPr>
      </p:sp>
      <p:sp>
        <p:nvSpPr>
          <p:cNvPr id="16" name="Shape 14"/>
          <p:cNvSpPr/>
          <p:nvPr/>
        </p:nvSpPr>
        <p:spPr>
          <a:xfrm>
            <a:off x="8385048" y="1938528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8504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85048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Ce qui manquait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85048" y="2907792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couche consommateur. Personne n’est allé demander à un braiseur comment il juge une huile. Sans ça, l’image change et le message reste celui de tout le monde.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51376" y="2926080"/>
            <a:ext cx="457200" cy="548640"/>
          </a:xfrm>
          <a:prstGeom prst="chevron">
            <a:avLst/>
          </a:prstGeom>
          <a:solidFill>
            <a:srgbClr val="B23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854696" y="2926080"/>
            <a:ext cx="457200" cy="548640"/>
          </a:xfrm>
          <a:prstGeom prst="chevron">
            <a:avLst/>
          </a:prstGeom>
          <a:solidFill>
            <a:srgbClr val="B23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983480"/>
            <a:ext cx="10820095" cy="914400"/>
          </a:xfrm>
          <a:prstGeom prst="roundRect">
            <a:avLst>
              <a:gd name="adj" fmla="val 4000"/>
            </a:avLst>
          </a:prstGeom>
          <a:solidFill>
            <a:srgbClr val="2A2A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49834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Dix conversations d’une heure séparaient une exécution nouvelle d’une position défendable. C’est le coût réel de la marche qu’on a sautée.</a:t>
            </a:r>
            <a:endParaRPr lang="en-US" sz="1350" dirty="0"/>
          </a:p>
        </p:txBody>
      </p:sp>
      <p:pic>
        <p:nvPicPr>
          <p:cNvPr id="24" name="Picture 23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COUCHE 4 — L’ENTREPRISE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L’écart interne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10820095" cy="1234440"/>
          </a:xfrm>
          <a:prstGeom prst="roundRect">
            <a:avLst>
              <a:gd name="adj" fmla="val 2963"/>
            </a:avLst>
          </a:prstGeom>
          <a:solidFill>
            <a:srgbClr val="1A1A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463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QU’ON Y CHERCHE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755648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distance entre ce que la marque promet et ce qu’elle livre : le service, le réseau, le délai, l’accueil en agence.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3410712" cy="1783080"/>
          </a:xfrm>
          <a:prstGeom prst="roundRect">
            <a:avLst>
              <a:gd name="adj" fmla="val 1795"/>
            </a:avLst>
          </a:prstGeom>
          <a:solidFill>
            <a:srgbClr val="F1EE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898648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OÙ ON LA TROUVE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27832"/>
            <a:ext cx="28620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Chez les employés de première ligne, dans les réclamations, dans les chiffres que le client ne montre pas spontanément.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697480"/>
            <a:ext cx="3410712" cy="1783080"/>
          </a:xfrm>
          <a:prstGeom prst="roundRect">
            <a:avLst>
              <a:gd name="adj" fmla="val 1795"/>
            </a:avLst>
          </a:prstGeom>
          <a:solidFill>
            <a:srgbClr val="F1EE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898648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COMMENT ON LA RECONNAÎT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27832"/>
            <a:ext cx="28620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Personne dans la salle ne veut en parler. C’est le signe le plus fiable qu’on a trouvé la bonne couche.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2440" y="2697480"/>
            <a:ext cx="3410712" cy="1783080"/>
          </a:xfrm>
          <a:prstGeom prst="roundRect">
            <a:avLst>
              <a:gd name="adj" fmla="val 1795"/>
            </a:avLst>
          </a:prstGeom>
          <a:solidFill>
            <a:srgbClr val="F1EE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66760" y="2898648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QU’ELLE COMMANDE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227832"/>
            <a:ext cx="28620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correction de marque, pas une campagne. Parfois un refus de faire la campagne demandée.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663440"/>
            <a:ext cx="10820095" cy="1234440"/>
          </a:xfrm>
          <a:prstGeom prst="roundRect">
            <a:avLst>
              <a:gd name="adj" fmla="val 2963"/>
            </a:avLst>
          </a:prstGeom>
          <a:solidFill>
            <a:srgbClr val="B23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48280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E9E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L’ERREUR COURANTE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512064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Communiquer par-dessus l’écart. Une promesse que l’expérience contredit accélère la perte de confiance au lieu de la ralentir.</a:t>
            </a:r>
            <a:endParaRPr lang="en-US" sz="1250" dirty="0"/>
          </a:p>
        </p:txBody>
      </p:sp>
      <p:pic>
        <p:nvPicPr>
          <p:cNvPr id="19" name="Picture 18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CAS FIL ROUGE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 prêt scolaire, couche par couche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88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même produit bancaire, lu aux quatre étages. Chaque lecture commande un livrable différent — et une seule correspond au brief reçu.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10820095" cy="438912"/>
          </a:xfrm>
          <a:prstGeom prst="roundRect">
            <a:avLst>
              <a:gd name="adj" fmla="val 6250"/>
            </a:avLst>
          </a:prstGeom>
          <a:solidFill>
            <a:srgbClr val="1A1A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COUCHE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17373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QU’ON Y TROUVE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173736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QUE ÇA COMMANDERAIT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267712"/>
            <a:ext cx="10820095" cy="475488"/>
          </a:xfrm>
          <a:prstGeom prst="roundRect">
            <a:avLst>
              <a:gd name="adj" fmla="val 5769"/>
            </a:avLst>
          </a:prstGeom>
          <a:solidFill>
            <a:srgbClr val="F1EE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2677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Consommateur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2677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 emprunte pour la rentrée, l’argent finance le reste de l’année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26771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message sur l’année, pas sur septembre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2834640"/>
            <a:ext cx="10820095" cy="475488"/>
          </a:xfrm>
          <a:prstGeom prst="roundRect">
            <a:avLst>
              <a:gd name="adj" fmla="val 5769"/>
            </a:avLst>
          </a:prstGeom>
          <a:solidFill>
            <a:srgbClr val="F8F6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28346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Culture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28346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L’école est un devoir qu’on ne discute pas, même sans moyens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283464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idée sur ce qu’un parent accepte de sacrifier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3401568"/>
            <a:ext cx="10820095" cy="475488"/>
          </a:xfrm>
          <a:prstGeom prst="roundRect">
            <a:avLst>
              <a:gd name="adj" fmla="val 5769"/>
            </a:avLst>
          </a:prstGeom>
          <a:solidFill>
            <a:srgbClr val="F1EE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34015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Catégorie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34015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Toutes les banques parlent du taux et de la rapidité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40156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positionnement hors du registre financier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968496"/>
            <a:ext cx="10820095" cy="475488"/>
          </a:xfrm>
          <a:prstGeom prst="roundRect">
            <a:avLst>
              <a:gd name="adj" fmla="val 5769"/>
            </a:avLst>
          </a:prstGeom>
          <a:solidFill>
            <a:srgbClr val="F8F6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" y="396849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Entreprise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396849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délai réel de déblocage ne tient pas la promesse affichée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396849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correction avant toute prise de parole</a:t>
            </a:r>
            <a:endParaRPr lang="en-US" sz="1250" dirty="0"/>
          </a:p>
        </p:txBody>
      </p:sp>
      <p:pic>
        <p:nvPicPr>
          <p:cNvPr id="37" name="Picture 36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PARTIE II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Diagnostiquer, puis séquencer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3200400"/>
            <a:ext cx="2011680" cy="10973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34747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plupart des briefs cassés viennent d’une erreur de couche. Savoir la nommer vaut mieux que savoir y répondre.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Les décalages de couche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350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Quand on ne peut pas le dire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9169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brief-back en trois lignes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34838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L’ordre de travail</a:t>
            </a:r>
            <a:endParaRPr lang="en-US" sz="1350" dirty="0"/>
          </a:p>
        </p:txBody>
      </p:sp>
      <p:pic>
        <p:nvPicPr>
          <p:cNvPr id="10" name="Picture 9" descr="ic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DIAGNOSTIC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Les décalages de couche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10820095" cy="384048"/>
          </a:xfrm>
          <a:prstGeom prst="roundRect">
            <a:avLst>
              <a:gd name="adj" fmla="val 7143"/>
            </a:avLst>
          </a:prstGeom>
          <a:solidFill>
            <a:srgbClr val="1A1A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2984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qu’on demande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298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Où vit le problème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298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bon livrable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1298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qui arrive si on obéit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755648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7556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campagne de notoriété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17556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Catégorie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755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positionnement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1755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 achète de la mémoire pour une marque interchangeable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135124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21351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nouveau slogan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21351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Entreprise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1351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correction de service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1351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promesse amplifie l’écart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2514600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2514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film émotionnel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0" y="25146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Consommateur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2514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message plus juste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25146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Rien de grave, mais rien de durable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2894076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28940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plateforme de marque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28940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Culture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28940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big idea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28940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document que personne n’utilise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3273552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32735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activation promotionnelle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200400" y="32735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Catégorie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0" y="32735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raison de préférer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503920" y="32735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Du volume acheté, puis rendu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685800" y="63276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Nommer la couche ne suffit pas. La page suivante traite du moment où on ne peut pas le dire au client.</a:t>
            </a:r>
            <a:endParaRPr lang="en-US" sz="1000" dirty="0"/>
          </a:p>
        </p:txBody>
      </p:sp>
      <p:pic>
        <p:nvPicPr>
          <p:cNvPr id="70" name="Picture 69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DIPLOMATIE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Quand le client demande la mauvaise chose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décalage se signale rarement de front. Il se traite dans la structure du travail.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5257800" cy="3108960"/>
          </a:xfrm>
          <a:prstGeom prst="roundRect">
            <a:avLst>
              <a:gd name="adj" fmla="val 1176"/>
            </a:avLst>
          </a:prstGeom>
          <a:solidFill>
            <a:srgbClr val="F1EE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19202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QUI NE MARCHE PAS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286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Refuser le brief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5786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Vous avez raison et vous perdez le budget. Le problème, lui, reste entier.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30906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 dire en réunion de restitution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33832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client découvre en public qu’il s’est trompé. Il défendra son brief au lieu d’écouter.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38953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Exécuter en silence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78408" y="41879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Vous livrez ce qui est demandé, ça ne marche pas, et c’est la création qu’on tiendra pour responsable.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239512" cy="3108960"/>
          </a:xfrm>
          <a:prstGeom prst="roundRect">
            <a:avLst>
              <a:gd name="adj" fmla="val 1176"/>
            </a:avLst>
          </a:prstGeom>
          <a:solidFill>
            <a:srgbClr val="1A1A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6248" y="19202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QUI MARCHE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56248" y="2286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Poser la question dans le brief-back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56248" y="2578608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question écrite, envoyée avant de commencer, à laquelle le client répond lui-même.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556248" y="30906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Livrer les deux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56248" y="338328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réponse au brief, puis une slide qui chiffre ce que coûte de ne pas traiter le vrai problème.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56248" y="38953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Écrire la réserve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56248" y="4187952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ligne dans la reco suffit. Elle protège le travail, et elle se cite six mois plus tard.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4983480"/>
            <a:ext cx="10820095" cy="914400"/>
          </a:xfrm>
          <a:prstGeom prst="roundRect">
            <a:avLst>
              <a:gd name="adj" fmla="val 4000"/>
            </a:avLst>
          </a:prstGeom>
          <a:solidFill>
            <a:srgbClr val="B23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49834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règle : on obéit au brief, on documente le désaccord. C’est la seule position tenable quand on n’est pas dans la salle où la décision se prend.</a:t>
            </a:r>
            <a:endParaRPr lang="en-US" sz="1300" dirty="0"/>
          </a:p>
        </p:txBody>
      </p:sp>
      <p:pic>
        <p:nvPicPr>
          <p:cNvPr id="23" name="Picture 22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OUTIL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 brief-back en trois lignes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820095" cy="1298448"/>
          </a:xfrm>
          <a:prstGeom prst="roundRect">
            <a:avLst>
              <a:gd name="adj" fmla="val 2817"/>
            </a:avLst>
          </a:prstGeom>
          <a:solidFill>
            <a:srgbClr val="F1EEE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691640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81912" y="163677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Ce que nous avons compris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581912" y="2039112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problème reformulé dans nos mots, en une phrase. Si le client corrige, c’est déjà un gain.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898648"/>
            <a:ext cx="10820095" cy="1298448"/>
          </a:xfrm>
          <a:prstGeom prst="roundRect">
            <a:avLst>
              <a:gd name="adj" fmla="val 2817"/>
            </a:avLst>
          </a:prstGeom>
          <a:solidFill>
            <a:srgbClr val="1A1A1C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3172968"/>
            <a:ext cx="384048" cy="38404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81912" y="311810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 couche où nous pensons qu’il vit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581912" y="352044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Sans jargon : « le sujet nous semble être la place de la marque, plus que sa notoriété ».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379976"/>
            <a:ext cx="10820095" cy="1298448"/>
          </a:xfrm>
          <a:prstGeom prst="roundRect">
            <a:avLst>
              <a:gd name="adj" fmla="val 2817"/>
            </a:avLst>
          </a:prstGeom>
          <a:solidFill>
            <a:srgbClr val="F1EEE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4654296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81912" y="459943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Ce que nous proposons de produire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581912" y="500176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livrable, nommé. S’il diffère de ce qui est demandé, c’est ici qu’on l’écrit — pas en fin de présentation.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3276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Trois lignes, par écrit, avant le premier atelier. Le document le moins coûteux et le plus protecteur du métier.</a:t>
            </a:r>
            <a:endParaRPr lang="en-US" sz="1000" dirty="0"/>
          </a:p>
        </p:txBody>
      </p:sp>
      <p:pic>
        <p:nvPicPr>
          <p:cNvPr id="20" name="Picture 19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SÉQUENCE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L’ordre de travail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10820095" cy="384048"/>
          </a:xfrm>
          <a:prstGeom prst="roundRect">
            <a:avLst>
              <a:gd name="adj" fmla="val 7143"/>
            </a:avLst>
          </a:prstGeom>
          <a:solidFill>
            <a:srgbClr val="1A1A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2984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Étape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298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qu’on cherche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298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qu’on en tire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1298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 on la saute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755648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7556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 · Catégorie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17556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convention et l’espace libre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755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positionnement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1755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 produit une idée déjà occupée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135124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21351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 · Culture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21351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contradiction qui traverse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1351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big idea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1351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L’idée n’a aucune portée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2514600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2514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 · Consommateur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0" y="25146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tension vécue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2514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ton et la langue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25146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campagne sonne faux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2894076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28940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 · Entreprise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28940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que la marque peut tenir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28940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test de livrabilité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28940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 promet ce qui ne sera pas livré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685800" y="63276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Commencer par le consommateur est le réflexe le plus répandu, et le plus coûteux : on trouve une jolie tension dans un espace déjà pris.</a:t>
            </a:r>
            <a:endParaRPr lang="en-US" sz="1000" dirty="0"/>
          </a:p>
        </p:txBody>
      </p:sp>
      <p:pic>
        <p:nvPicPr>
          <p:cNvPr id="70" name="Picture 69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MISE EN GARDE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Pourquoi on commence rarement au bon endroit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20095" cy="1133856"/>
          </a:xfrm>
          <a:prstGeom prst="roundRect">
            <a:avLst>
              <a:gd name="adj" fmla="val 3226"/>
            </a:avLst>
          </a:prstGeom>
          <a:solidFill>
            <a:srgbClr val="2A2A2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609344"/>
            <a:ext cx="384048" cy="38404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81912" y="15544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 consommateur est la couche la plus accessible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81912" y="193852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Quelques entretiens suffisent à produire une phrase présentable. La catégorie demande un panorama complet ; la culture demande de lire autre chose que des études.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670048"/>
            <a:ext cx="10820095" cy="1133856"/>
          </a:xfrm>
          <a:prstGeom prst="roundRect">
            <a:avLst>
              <a:gd name="adj" fmla="val 3226"/>
            </a:avLst>
          </a:prstGeom>
          <a:solidFill>
            <a:srgbClr val="2A2A2F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907792"/>
            <a:ext cx="384048" cy="38404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81912" y="28529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Les outils disponibles poussent vers le bas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81912" y="323697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Les études qu’on achète décrivent des comportements. Aucune ne vous dira ce que la catégorie tient pour acquis.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968496"/>
            <a:ext cx="10820095" cy="1133856"/>
          </a:xfrm>
          <a:prstGeom prst="roundRect">
            <a:avLst>
              <a:gd name="adj" fmla="val 3226"/>
            </a:avLst>
          </a:prstGeom>
          <a:solidFill>
            <a:srgbClr val="2A2A2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4206240"/>
            <a:ext cx="384048" cy="38404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81912" y="415137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 client juge plus vite un insight consommateur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81912" y="453542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Il s’y reconnaît immédiatement. Un insight de catégorie exige qu’il accepte de regarder ses concurrents en face.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5303520"/>
            <a:ext cx="10820095" cy="868680"/>
          </a:xfrm>
          <a:prstGeom prst="roundRect">
            <a:avLst>
              <a:gd name="adj" fmla="val 4211"/>
            </a:avLst>
          </a:prstGeom>
          <a:solidFill>
            <a:srgbClr val="B23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530352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Conséquence : la couche la plus facile à travailler commande le livrable le moins décisif. L’ordre proposé ici sert à résister à cette pente.</a:t>
            </a:r>
            <a:endParaRPr lang="en-US" sz="1300" dirty="0"/>
          </a:p>
        </p:txBody>
      </p:sp>
      <p:pic>
        <p:nvPicPr>
          <p:cNvPr id="21" name="Picture 20" descr="ic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PARTIE III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Trouver la matière, écrire l’insight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3200400"/>
            <a:ext cx="2011680" cy="10973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34747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Sans budget d’étude, sans panel, sans base de données. Ce qui reste est plus praticable qu’il n’y paraît.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Cinq sources sans budget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350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protocole de terrain minimal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9169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forme en trois temps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34838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L’exercice de réécriture</a:t>
            </a:r>
            <a:endParaRPr lang="en-US" sz="1350" dirty="0"/>
          </a:p>
        </p:txBody>
      </p:sp>
      <p:pic>
        <p:nvPicPr>
          <p:cNvPr id="10" name="Picture 9" descr="ic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MATIÈRE PREMIÈRE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Cinq sources sans budget d’étude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10820095" cy="960120"/>
          </a:xfrm>
          <a:prstGeom prst="roundRect">
            <a:avLst>
              <a:gd name="adj" fmla="val 3810"/>
            </a:avLst>
          </a:prstGeom>
          <a:solidFill>
            <a:srgbClr val="1A1A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2801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Aucune ne remplace une étude. Ensemble, elles suffisent à écrire un insight défendable — et c’est ce qu’on vous demandera.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423160"/>
            <a:ext cx="3410712" cy="1600200"/>
          </a:xfrm>
          <a:prstGeom prst="roundRect">
            <a:avLst>
              <a:gd name="adj" fmla="val 2286"/>
            </a:avLst>
          </a:prstGeom>
          <a:solidFill>
            <a:srgbClr val="F1EEEA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651760"/>
            <a:ext cx="347472" cy="347472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815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 terrain direct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48386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Dix conversations valent mieux qu’un panel de cent réponses fermées.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2423160"/>
            <a:ext cx="3410712" cy="1600200"/>
          </a:xfrm>
          <a:prstGeom prst="roundRect">
            <a:avLst>
              <a:gd name="adj" fmla="val 2286"/>
            </a:avLst>
          </a:prstGeom>
          <a:solidFill>
            <a:srgbClr val="F8F6F4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2651760"/>
            <a:ext cx="347472" cy="347472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0815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Les employés de première ligne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48386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Guichetiers, commerciaux, livreurs. Ils entendent les objections réelles toute la journée, et personne ne les interroge.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2423160"/>
            <a:ext cx="3410712" cy="1600200"/>
          </a:xfrm>
          <a:prstGeom prst="roundRect">
            <a:avLst>
              <a:gd name="adj" fmla="val 2286"/>
            </a:avLst>
          </a:prstGeom>
          <a:solidFill>
            <a:srgbClr val="F1EEEA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6760" y="2651760"/>
            <a:ext cx="347472" cy="347472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6676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0815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 mur de catégorie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48386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Toutes les communications de la catégorie, alignées au même endroit. La convention saute aux yeux.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4206240"/>
            <a:ext cx="3410712" cy="1600200"/>
          </a:xfrm>
          <a:prstGeom prst="roundRect">
            <a:avLst>
              <a:gd name="adj" fmla="val 2286"/>
            </a:avLst>
          </a:prstGeom>
          <a:solidFill>
            <a:srgbClr val="F8F6F4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" y="4434840"/>
            <a:ext cx="347472" cy="347472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0120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8646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 culture qui circule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526694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Musique, humour, séries, commentaires. Ce que les gens se racontent entre eux quand personne ne les observe.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89120" y="4206240"/>
            <a:ext cx="3410712" cy="1600200"/>
          </a:xfrm>
          <a:prstGeom prst="roundRect">
            <a:avLst>
              <a:gd name="adj" fmla="val 2286"/>
            </a:avLst>
          </a:prstGeom>
          <a:solidFill>
            <a:srgbClr val="F1EEEA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4434840"/>
            <a:ext cx="347472" cy="347472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63440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48646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 donnée déjà publique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526694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Rapports d’institutions, statistiques nationales, et les données du client qu’il n’a jamais relues.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4206240"/>
            <a:ext cx="3410712" cy="1600200"/>
          </a:xfrm>
          <a:prstGeom prst="roundRect">
            <a:avLst>
              <a:gd name="adj" fmla="val 2286"/>
            </a:avLst>
          </a:prstGeom>
          <a:solidFill>
            <a:srgbClr val="B23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66760" y="44348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règle : croiser au moins trois sources. Une seule produit une opinion ; trois produisent un insight.</a:t>
            </a:r>
            <a:endParaRPr lang="en-US" sz="1150" dirty="0"/>
          </a:p>
        </p:txBody>
      </p:sp>
      <p:pic>
        <p:nvPicPr>
          <p:cNvPr id="33" name="Picture 32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MÉTHODE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 protocole de terrain minimal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820095" cy="1298448"/>
          </a:xfrm>
          <a:prstGeom prst="roundRect">
            <a:avLst>
              <a:gd name="adj" fmla="val 2817"/>
            </a:avLst>
          </a:prstGeom>
          <a:solidFill>
            <a:srgbClr val="F1EEE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691640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81912" y="163677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Dix personnes, une heure chacune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581912" y="2039112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Pas de questionnaire. Une seule consigne : raconter la dernière fois qu’elles ont fait la chose dont on parle.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898648"/>
            <a:ext cx="10820095" cy="1298448"/>
          </a:xfrm>
          <a:prstGeom prst="roundRect">
            <a:avLst>
              <a:gd name="adj" fmla="val 2817"/>
            </a:avLst>
          </a:prstGeom>
          <a:solidFill>
            <a:srgbClr val="1A1A1C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3172968"/>
            <a:ext cx="384048" cy="38404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81912" y="311810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Écouter ce qui se répète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581912" y="352044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détail qui revient chez sept personnes sur dix est un fait. Chez deux, c’est une anecdote.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379976"/>
            <a:ext cx="10820095" cy="1298448"/>
          </a:xfrm>
          <a:prstGeom prst="roundRect">
            <a:avLst>
              <a:gd name="adj" fmla="val 2817"/>
            </a:avLst>
          </a:prstGeom>
          <a:solidFill>
            <a:srgbClr val="F1EEE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4654296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81912" y="459943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Chercher la phrase gênante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581912" y="500176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Celle qu’on dit en baissant la voix, ou juste après avoir affirmé le contraire. La tension est presque toujours là.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3276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Deux jours de travail, aucun budget. C’est le minimum en dessous duquel on n’écrit pas un insight — on en invente un.</a:t>
            </a:r>
            <a:endParaRPr lang="en-US" sz="1000" dirty="0"/>
          </a:p>
        </p:txBody>
      </p:sp>
      <p:pic>
        <p:nvPicPr>
          <p:cNvPr id="20" name="Picture 19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ÉCRITURE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 forme en trois temps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insight écrit dans cet ordre est presque toujours opérant. Le troisième temps est celui qu’on oublie.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410712" cy="3017520"/>
          </a:xfrm>
          <a:prstGeom prst="roundRect">
            <a:avLst>
              <a:gd name="adj" fmla="val 1212"/>
            </a:avLst>
          </a:prstGeom>
          <a:solidFill>
            <a:srgbClr val="F1EEEA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38528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7840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 situation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2907792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que la personne fait, dit ou vit. Factuel, à la première personne, sans jugement et sans vocabulaire d’agence.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410712" cy="3017520"/>
          </a:xfrm>
          <a:prstGeom prst="roundRect">
            <a:avLst>
              <a:gd name="adj" fmla="val 1212"/>
            </a:avLst>
          </a:prstGeom>
          <a:solidFill>
            <a:srgbClr val="1A1A1C"/>
          </a:solidFill>
          <a:ln/>
        </p:spPr>
      </p:sp>
      <p:sp>
        <p:nvSpPr>
          <p:cNvPr id="11" name="Shape 9"/>
          <p:cNvSpPr/>
          <p:nvPr/>
        </p:nvSpPr>
        <p:spPr>
          <a:xfrm>
            <a:off x="4681728" y="1938528"/>
            <a:ext cx="384048" cy="38404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172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 tension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2907792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qui, dans cette situation, est contradictoire. Deux choses vraies en même temps qui ne devraient pas l’être.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1691640"/>
            <a:ext cx="3410712" cy="3017520"/>
          </a:xfrm>
          <a:prstGeom prst="roundRect">
            <a:avLst>
              <a:gd name="adj" fmla="val 1212"/>
            </a:avLst>
          </a:prstGeom>
          <a:solidFill>
            <a:srgbClr val="F1EEEA"/>
          </a:solidFill>
          <a:ln/>
        </p:spPr>
      </p:sp>
      <p:sp>
        <p:nvSpPr>
          <p:cNvPr id="16" name="Shape 14"/>
          <p:cNvSpPr/>
          <p:nvPr/>
        </p:nvSpPr>
        <p:spPr>
          <a:xfrm>
            <a:off x="8385048" y="1938528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8504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85048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Ce que ça empêche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85048" y="2907792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conséquence concrète. C’est ce temps qui transforme une observation en porte d’entrée pour la création.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51376" y="2926080"/>
            <a:ext cx="457200" cy="548640"/>
          </a:xfrm>
          <a:prstGeom prst="chevron">
            <a:avLst/>
          </a:prstGeom>
          <a:solidFill>
            <a:srgbClr val="B23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854696" y="2926080"/>
            <a:ext cx="457200" cy="548640"/>
          </a:xfrm>
          <a:prstGeom prst="chevron">
            <a:avLst/>
          </a:prstGeom>
          <a:solidFill>
            <a:srgbClr val="B23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983480"/>
            <a:ext cx="10820095" cy="914400"/>
          </a:xfrm>
          <a:prstGeom prst="roundRect">
            <a:avLst>
              <a:gd name="adj" fmla="val 4000"/>
            </a:avLst>
          </a:prstGeom>
          <a:solidFill>
            <a:srgbClr val="2A2A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49834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Test rapide : si vous pouvez supprimer le troisième temps sans rien perdre, c’est que vous avez écrit un constat.</a:t>
            </a:r>
            <a:endParaRPr lang="en-US" sz="1350" dirty="0"/>
          </a:p>
        </p:txBody>
      </p:sp>
      <p:pic>
        <p:nvPicPr>
          <p:cNvPr id="24" name="Picture 23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EXERCICE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Écrire en trois passes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070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Sur un dossier réel. On écrit, on coupe, on teste. La troisième passe est la seule qui compte.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20095" cy="1188720"/>
          </a:xfrm>
          <a:prstGeom prst="roundRect">
            <a:avLst>
              <a:gd name="adj" fmla="val 3077"/>
            </a:avLst>
          </a:prstGeom>
          <a:solidFill>
            <a:srgbClr val="2A2A2F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039112"/>
            <a:ext cx="384048" cy="38404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81912" y="19842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 version longue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81912" y="236829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Tout ce qu’on a compris de la personne, sans contrainte. Le contexte, la donnée, la nuance.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17830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B04B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≈ 60 mots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10820095" cy="1188720"/>
          </a:xfrm>
          <a:prstGeom prst="roundRect">
            <a:avLst>
              <a:gd name="adj" fmla="val 3077"/>
            </a:avLst>
          </a:prstGeom>
          <a:solidFill>
            <a:srgbClr val="2A2A2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3410712"/>
            <a:ext cx="384048" cy="38404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81912" y="33558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 version en trois temps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81912" y="373989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Situation, tension, conséquence. On jette tout ce qui n’entre pas dans ces trois cases.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31546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B04B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3 phrases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3077"/>
            </a:avLst>
          </a:prstGeom>
          <a:solidFill>
            <a:srgbClr val="B23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478231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4782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581912" y="47274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 phrase unique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81912" y="511149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E9E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seul énoncé, dit à voix haute devant quelqu’un qui ne connaît pas le dossier. S’il ne réagit pas, on recommence.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4526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1 phrase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3276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Conserver les trois passes : le chemin se montre au client le jour où il trouve la phrase finale trop simple.</a:t>
            </a:r>
            <a:endParaRPr lang="en-US" sz="1000" dirty="0"/>
          </a:p>
        </p:txBody>
      </p:sp>
      <p:pic>
        <p:nvPicPr>
          <p:cNvPr id="24" name="Picture 23" descr="ic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DÉMONSTRATION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Trois énoncés réécrits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même dossier, avant et après. La différence tient rarement à l’information — elle tient au niveau de formulation.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5257800" cy="3108960"/>
          </a:xfrm>
          <a:prstGeom prst="roundRect">
            <a:avLst>
              <a:gd name="adj" fmla="val 1176"/>
            </a:avLst>
          </a:prstGeom>
          <a:solidFill>
            <a:srgbClr val="F1EE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19202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QU’ON ÉCRIT D’ABORD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286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Les parents s’endettent pour la rentrée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5786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Exact, vérifiable, et sans aucune conséquence pour la création.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30906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Les gens veulent plus de flexibilité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33832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que les gens demandent en étude. Jamais ce qui les fait agir.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38953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L’école est une priorité absolue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78408" y="41879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vérité si large qu’elle vaut pour tout un continent et pour aucune marque.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239512" cy="3108960"/>
          </a:xfrm>
          <a:prstGeom prst="roundRect">
            <a:avLst>
              <a:gd name="adj" fmla="val 1176"/>
            </a:avLst>
          </a:prstGeom>
          <a:solidFill>
            <a:srgbClr val="1A1A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6248" y="19202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QU’IL FAUT ÉCRIRE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56248" y="2286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Je paie l’école d’abord, puis je passe l’année à rattraper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56248" y="2578608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situation, la tension, et ce que ça empêche : tenir le reste de l’année.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556248" y="30906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Ce n’est pas le taux, c’est d’attendre devant mon enfant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56248" y="338328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besoin déclaré cède la place à ce qui se joue vraiment : la dignité, pas le taux.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56248" y="38953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On ne discute pas l’école, donc on ne la prépare pas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56248" y="4187952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vérité générale devient un mécanisme : l’évidence morale empêche l’anticipation.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4983480"/>
            <a:ext cx="10820095" cy="914400"/>
          </a:xfrm>
          <a:prstGeom prst="roundRect">
            <a:avLst>
              <a:gd name="adj" fmla="val 4000"/>
            </a:avLst>
          </a:prstGeom>
          <a:solidFill>
            <a:srgbClr val="B23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49834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Dans les trois cas, l’information de départ était identique. Seule la formulation a changé de niveau.</a:t>
            </a:r>
            <a:endParaRPr lang="en-US" sz="1300" dirty="0"/>
          </a:p>
        </p:txBody>
      </p:sp>
      <p:pic>
        <p:nvPicPr>
          <p:cNvPr id="23" name="Picture 22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PARTIE 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De l’insight à la création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3200400"/>
            <a:ext cx="2011680" cy="10973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34747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L’étape que personne n’enseigne : ce qui se passe entre une phrase juste et une première idée.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Insight, territoire, concept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350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insight, trois écoles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9169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qui ne se déduit pas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34838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L’inversion stratégique</a:t>
            </a:r>
            <a:endParaRPr lang="en-US" sz="1350" dirty="0"/>
          </a:p>
        </p:txBody>
      </p:sp>
      <p:pic>
        <p:nvPicPr>
          <p:cNvPr id="10" name="Picture 9" descr="ic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PASSAGE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Insight, territoire, concept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Trois objets différents, souvent confondus dans un même deck. Les nommer sépare le travail.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410712" cy="3017520"/>
          </a:xfrm>
          <a:prstGeom prst="roundRect">
            <a:avLst>
              <a:gd name="adj" fmla="val 1212"/>
            </a:avLst>
          </a:prstGeom>
          <a:solidFill>
            <a:srgbClr val="F1EEEA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38528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7840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L’insight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2907792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vérité sur les gens. Ne se présente pas comme une idée : c’est le sol sur lequel l’idée tiendra.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410712" cy="3017520"/>
          </a:xfrm>
          <a:prstGeom prst="roundRect">
            <a:avLst>
              <a:gd name="adj" fmla="val 1212"/>
            </a:avLst>
          </a:prstGeom>
          <a:solidFill>
            <a:srgbClr val="1A1A1C"/>
          </a:solidFill>
          <a:ln/>
        </p:spPr>
      </p:sp>
      <p:sp>
        <p:nvSpPr>
          <p:cNvPr id="11" name="Shape 9"/>
          <p:cNvSpPr/>
          <p:nvPr/>
        </p:nvSpPr>
        <p:spPr>
          <a:xfrm>
            <a:off x="4681728" y="1938528"/>
            <a:ext cx="384048" cy="38404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172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 territoire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2907792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L’espace d’expression que l’insight ouvre. Plusieurs concepts peuvent y vivre — c’est ce qui donne de la durée à une plateforme.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1691640"/>
            <a:ext cx="3410712" cy="3017520"/>
          </a:xfrm>
          <a:prstGeom prst="roundRect">
            <a:avLst>
              <a:gd name="adj" fmla="val 1212"/>
            </a:avLst>
          </a:prstGeom>
          <a:solidFill>
            <a:srgbClr val="F1EEEA"/>
          </a:solidFill>
          <a:ln/>
        </p:spPr>
      </p:sp>
      <p:sp>
        <p:nvSpPr>
          <p:cNvPr id="16" name="Shape 14"/>
          <p:cNvSpPr/>
          <p:nvPr/>
        </p:nvSpPr>
        <p:spPr>
          <a:xfrm>
            <a:off x="8385048" y="1938528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8504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85048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 concept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85048" y="2907792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L’idée en une phrase, avec sa signature et ses exécutions. Un territoire en produit plusieurs.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51376" y="2926080"/>
            <a:ext cx="457200" cy="548640"/>
          </a:xfrm>
          <a:prstGeom prst="chevron">
            <a:avLst/>
          </a:prstGeom>
          <a:solidFill>
            <a:srgbClr val="B23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854696" y="2926080"/>
            <a:ext cx="457200" cy="548640"/>
          </a:xfrm>
          <a:prstGeom prst="chevron">
            <a:avLst/>
          </a:prstGeom>
          <a:solidFill>
            <a:srgbClr val="B23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983480"/>
            <a:ext cx="10820095" cy="914400"/>
          </a:xfrm>
          <a:prstGeom prst="roundRect">
            <a:avLst>
              <a:gd name="adj" fmla="val 4000"/>
            </a:avLst>
          </a:prstGeom>
          <a:solidFill>
            <a:srgbClr val="2A2A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49834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insight qui ne donne qu’un seul concept possible n’est pas un insight : c’est déjà une idée, arrivée trop tôt.</a:t>
            </a:r>
            <a:endParaRPr lang="en-US" sz="1350" dirty="0"/>
          </a:p>
        </p:txBody>
      </p:sp>
      <p:pic>
        <p:nvPicPr>
          <p:cNvPr id="24" name="Picture 23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DÉMONSTRATION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Un insight, trois écoles, trois territoires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887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même énoncé sur le prêt scolaire, passé dans trois écoles du premier module.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410712" cy="3200400"/>
          </a:xfrm>
          <a:prstGeom prst="roundRect">
            <a:avLst>
              <a:gd name="adj" fmla="val 1143"/>
            </a:avLst>
          </a:prstGeom>
          <a:solidFill>
            <a:srgbClr val="F1EEEA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38528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7840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45059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En Disruption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32004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Convention : toutes les banques parlent de la rentrée. Territoire : la banque de l’année scolaire entière, pas du mois de septembre.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410712" cy="3200400"/>
          </a:xfrm>
          <a:prstGeom prst="roundRect">
            <a:avLst>
              <a:gd name="adj" fmla="val 1143"/>
            </a:avLst>
          </a:prstGeom>
          <a:solidFill>
            <a:srgbClr val="1A1A1C"/>
          </a:solidFill>
          <a:ln/>
        </p:spPr>
      </p:sp>
      <p:sp>
        <p:nvSpPr>
          <p:cNvPr id="11" name="Shape 9"/>
          <p:cNvSpPr/>
          <p:nvPr/>
        </p:nvSpPr>
        <p:spPr>
          <a:xfrm>
            <a:off x="4681728" y="1938528"/>
            <a:ext cx="384048" cy="38404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172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245059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En Truth Well Told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32004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Vérité : on paie l’école avant tout le reste. Territoire : ce que les parents ne disent jamais de ce qu’ils sacrifient.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2440" y="1691640"/>
            <a:ext cx="3410712" cy="3200400"/>
          </a:xfrm>
          <a:prstGeom prst="roundRect">
            <a:avLst>
              <a:gd name="adj" fmla="val 1143"/>
            </a:avLst>
          </a:prstGeom>
          <a:solidFill>
            <a:srgbClr val="F1EEEA"/>
          </a:solidFill>
          <a:ln/>
        </p:spPr>
      </p:sp>
      <p:sp>
        <p:nvSpPr>
          <p:cNvPr id="16" name="Shape 14"/>
          <p:cNvSpPr/>
          <p:nvPr/>
        </p:nvSpPr>
        <p:spPr>
          <a:xfrm>
            <a:off x="8385048" y="1938528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8504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85048" y="245059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En Brutal Simplicity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85048" y="32004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Réduction : payer l’école ne devrait pas coûter l’année. Territoire : une promesse unique, tenue en quatre mots.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5120640"/>
            <a:ext cx="10820095" cy="822960"/>
          </a:xfrm>
          <a:prstGeom prst="roundRect">
            <a:avLst>
              <a:gd name="adj" fmla="val 4444"/>
            </a:avLst>
          </a:prstGeom>
          <a:solidFill>
            <a:srgbClr val="2A2A2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512064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Trois campagnes irréconciliables, un seul insight. La preuve que l’insight ne produit pas l’idée : il en garantit seulement la justesse.</a:t>
            </a:r>
            <a:endParaRPr lang="en-US" sz="1350" dirty="0"/>
          </a:p>
        </p:txBody>
      </p:sp>
      <p:pic>
        <p:nvPicPr>
          <p:cNvPr id="22" name="Picture 21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HONNÊTETÉ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Ce qui ne se déduit pas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20095" cy="1097280"/>
          </a:xfrm>
          <a:prstGeom prst="roundRect">
            <a:avLst>
              <a:gd name="adj" fmla="val 3333"/>
            </a:avLst>
          </a:prstGeom>
          <a:solidFill>
            <a:srgbClr val="1A1A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32588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bon insight rend une bonne idée plus probable. Il ne la produit pas. Entre les deux subsiste un saut que la méthode ne couvre pas — et c’est précisément ce pour quoi un créatif est payé.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Deux choses à ne jamais promettre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3127248"/>
            <a:ext cx="5257800" cy="1600200"/>
          </a:xfrm>
          <a:prstGeom prst="roundRect">
            <a:avLst>
              <a:gd name="adj" fmla="val 2000"/>
            </a:avLst>
          </a:prstGeom>
          <a:solidFill>
            <a:srgbClr val="F1EE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32841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QUE L’IDÉE SORTIRA TOUTE SEULE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657600"/>
            <a:ext cx="47091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insight peut être juste et ne rien déclencher pendant une semaine. Le travail créatif reste un travail, pas une conséquence.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3127248"/>
            <a:ext cx="5239512" cy="1600200"/>
          </a:xfrm>
          <a:prstGeom prst="roundRect">
            <a:avLst>
              <a:gd name="adj" fmla="val 2000"/>
            </a:avLst>
          </a:prstGeom>
          <a:solidFill>
            <a:srgbClr val="F8F6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3328416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QUE LE MEILLEUR INSIGHT GAGNE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657600"/>
            <a:ext cx="46908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idée moyenne sur un insight solide perd contre une idée forte sur un insight médiocre. Le client achète l’idée, pas le raisonnement.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910328"/>
            <a:ext cx="10820095" cy="1005840"/>
          </a:xfrm>
          <a:prstGeom prst="roundRect">
            <a:avLst>
              <a:gd name="adj" fmla="val 3636"/>
            </a:avLst>
          </a:prstGeom>
          <a:solidFill>
            <a:srgbClr val="B23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4910328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Dire cela à des jeunes les protège de deux déceptions symétriques : croire que la méthode remplace le talent, et croire que le talent dispense de la méthode.</a:t>
            </a:r>
            <a:endParaRPr lang="en-US" sz="1300" dirty="0"/>
          </a:p>
        </p:txBody>
      </p:sp>
      <p:pic>
        <p:nvPicPr>
          <p:cNvPr id="15" name="Picture 14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MÉCANIQUE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L’inversion stratégique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820095" cy="1234440"/>
          </a:xfrm>
          <a:prstGeom prst="roundRect">
            <a:avLst>
              <a:gd name="adj" fmla="val 2963"/>
            </a:avLst>
          </a:prstGeom>
          <a:solidFill>
            <a:srgbClr val="2A2A2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691640"/>
            <a:ext cx="384048" cy="38404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81912" y="163677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Nommer ce que la catégorie tient pour sa valeur première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581912" y="203911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Dans la banque, l’argent. Dans le transport, la vitesse. Dans la santé, la guérison. C’est ce que tous les concurrents mettent au centre, sans jamais l’interroger.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834640"/>
            <a:ext cx="10820095" cy="1234440"/>
          </a:xfrm>
          <a:prstGeom prst="roundRect">
            <a:avLst>
              <a:gd name="adj" fmla="val 2963"/>
            </a:avLst>
          </a:prstGeom>
          <a:solidFill>
            <a:srgbClr val="2A2A2F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3108960"/>
            <a:ext cx="384048" cy="38404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81912" y="305409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 traiter comme la moins importante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581912" y="345643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Non pas la nier, mais la reléguer au dernier rang de ce que la marque apporte. L’exercice est inconfortable : c’est sa fonction.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251960"/>
            <a:ext cx="10820095" cy="1234440"/>
          </a:xfrm>
          <a:prstGeom prst="roundRect">
            <a:avLst>
              <a:gd name="adj" fmla="val 2963"/>
            </a:avLst>
          </a:prstGeom>
          <a:solidFill>
            <a:srgbClr val="B23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452628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81912" y="44714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Reconstruire l’échelle par le haut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581912" y="487375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9E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qui prend la première place devient le positionnement. Souvent quelque chose que la catégorie considérait comme accessoire.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3276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Précaution : quand la mécanique vient d’un cadre existant ou d’une figure publique, on la reformule avant de l’utiliser. On s’inspire d’une structure, on ne reprend pas un discours.</a:t>
            </a:r>
            <a:endParaRPr lang="en-US" sz="1000" dirty="0"/>
          </a:p>
        </p:txBody>
      </p:sp>
      <p:pic>
        <p:nvPicPr>
          <p:cNvPr id="20" name="Picture 19" descr="ic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PRATIQUE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Trois exercices pour s’entraîner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410712" cy="2395728"/>
          </a:xfrm>
          <a:prstGeom prst="roundRect">
            <a:avLst>
              <a:gd name="adj" fmla="val 1527"/>
            </a:avLst>
          </a:prstGeom>
          <a:solidFill>
            <a:srgbClr val="1A1A1C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1627632"/>
            <a:ext cx="384048" cy="38404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057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 remontée d’échelle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487168"/>
            <a:ext cx="2862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Prendre un insight consommateur existant et chercher ce qu’il donnerait aux trois autres couches. Le même dossier change de livrable trois fois.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410712" cy="2395728"/>
          </a:xfrm>
          <a:prstGeom prst="roundRect">
            <a:avLst>
              <a:gd name="adj" fmla="val 1527"/>
            </a:avLst>
          </a:prstGeom>
          <a:solidFill>
            <a:srgbClr val="F1EEEA"/>
          </a:solidFill>
          <a:ln/>
        </p:spPr>
      </p:sp>
      <p:sp>
        <p:nvSpPr>
          <p:cNvPr id="10" name="Shape 8"/>
          <p:cNvSpPr/>
          <p:nvPr/>
        </p:nvSpPr>
        <p:spPr>
          <a:xfrm>
            <a:off x="4681728" y="1627632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8172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2057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 mur de catégorie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2487168"/>
            <a:ext cx="2862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Aligner vingt communications d’une catégorie locale. Écrire la convention en une phrase, puis la prouver en trois visuels.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1371600"/>
            <a:ext cx="3410712" cy="2395728"/>
          </a:xfrm>
          <a:prstGeom prst="roundRect">
            <a:avLst>
              <a:gd name="adj" fmla="val 1527"/>
            </a:avLst>
          </a:prstGeom>
          <a:solidFill>
            <a:srgbClr val="F1EEEA"/>
          </a:solidFill>
          <a:ln/>
        </p:spPr>
      </p:sp>
      <p:sp>
        <p:nvSpPr>
          <p:cNvPr id="15" name="Shape 13"/>
          <p:cNvSpPr/>
          <p:nvPr/>
        </p:nvSpPr>
        <p:spPr>
          <a:xfrm>
            <a:off x="8385048" y="1627632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8504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85048" y="2057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 phrase gênante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85048" y="2487168"/>
            <a:ext cx="2862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Après un entretien, écrire la seule phrase que la personne n’a pas voulu dire. C’est l’exercice qui apprend le plus vite.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0416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Trois erreurs classiques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5800" y="4526280"/>
            <a:ext cx="10820095" cy="457200"/>
          </a:xfrm>
          <a:prstGeom prst="roundRect">
            <a:avLst>
              <a:gd name="adj" fmla="val 6000"/>
            </a:avLst>
          </a:prstGeom>
          <a:solidFill>
            <a:srgbClr val="F1EE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4526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Confondre l’insight et le brief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45262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L’insight explique pourquoi les gens font ce qu’ils font. Le brief dit ce qu’on doit produire.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5074920"/>
            <a:ext cx="10820095" cy="45720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" y="5074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Chercher l’insight après l’idée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5074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 trouve toujours une justification. Elle ne tient jamais à la deuxième question du client.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5623560"/>
            <a:ext cx="10820095" cy="457200"/>
          </a:xfrm>
          <a:prstGeom prst="roundRect">
            <a:avLst>
              <a:gd name="adj" fmla="val 6000"/>
            </a:avLst>
          </a:prstGeom>
          <a:solidFill>
            <a:srgbClr val="F1EEE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0120" y="5623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Écrire un insight incontestable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349240" y="5623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 aucun désaccord n’est possible, aucun choix ne l’est non plus.</a:t>
            </a:r>
            <a:endParaRPr lang="en-US" sz="1200" dirty="0"/>
          </a:p>
        </p:txBody>
      </p:sp>
      <p:pic>
        <p:nvPicPr>
          <p:cNvPr id="29" name="Picture 28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CONTEXTE LOCAL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Trois choses qui changent ici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820095" cy="1298448"/>
          </a:xfrm>
          <a:prstGeom prst="roundRect">
            <a:avLst>
              <a:gd name="adj" fmla="val 2817"/>
            </a:avLst>
          </a:prstGeom>
          <a:solidFill>
            <a:srgbClr val="F1EEE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691640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81912" y="163677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 matière est accessible, pas la donnée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581912" y="2039112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Peu de panels, peu de mesures, mais un terrain dense et proche. L’avantage est réel à condition d’accepter de sortir du bureau.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898648"/>
            <a:ext cx="10820095" cy="1298448"/>
          </a:xfrm>
          <a:prstGeom prst="roundRect">
            <a:avLst>
              <a:gd name="adj" fmla="val 2817"/>
            </a:avLst>
          </a:prstGeom>
          <a:solidFill>
            <a:srgbClr val="1A1A1C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3172968"/>
            <a:ext cx="384048" cy="38404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81912" y="311810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Les contradictions culturelles sont vives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581912" y="352044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Transformation rapide, écarts entre générations, entre ville et village, entre langues. Matière de première qualité, largement inexploitée.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379976"/>
            <a:ext cx="10820095" cy="1298448"/>
          </a:xfrm>
          <a:prstGeom prst="roundRect">
            <a:avLst>
              <a:gd name="adj" fmla="val 2817"/>
            </a:avLst>
          </a:prstGeom>
          <a:solidFill>
            <a:srgbClr val="F1EEE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4654296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81912" y="459943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 couche entreprise est souvent la vraie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581912" y="500176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Beaucoup de briefs de communication recouvrent un problème de service ou de distribution. Le savoir change ce qu’on propose.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3276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n’est pas un handicap méthodologique. C’est un terrain où les quatre couches restent lisibles à l’œil nu.</a:t>
            </a:r>
            <a:endParaRPr lang="en-US" sz="1000" dirty="0"/>
          </a:p>
        </p:txBody>
      </p:sp>
      <p:pic>
        <p:nvPicPr>
          <p:cNvPr id="20" name="Picture 19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POUR FINIR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3444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Un insight ne produit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pas une idée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3017520"/>
            <a:ext cx="2011680" cy="10973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3291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Il rend seulement plus difficile d’en produire une fausse. Sur des marchés où personne ne vérifie, c’est un avantage considérable.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416052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2A2A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78408" y="43891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04B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Ce qui est consacré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47731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Insight, territoire, concept, positionnement, big idea, brief-back — appellations réelles du métier.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4160520"/>
            <a:ext cx="5239512" cy="1691640"/>
          </a:xfrm>
          <a:prstGeom prst="roundRect">
            <a:avLst>
              <a:gd name="adj" fmla="val 2162"/>
            </a:avLst>
          </a:prstGeom>
          <a:solidFill>
            <a:srgbClr val="B23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6248" y="43891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Ce qui est un outil de lecture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4773168"/>
            <a:ext cx="4690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9E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L’échelle à quatre couches et son ordre de travail. Utiles pour enseigner et pour diagnostiquer, pas standard dans l’industrie.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3276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Panthéon — document de formation</a:t>
            </a:r>
            <a:endParaRPr lang="en-US" sz="1000" dirty="0"/>
          </a:p>
        </p:txBody>
      </p:sp>
      <p:pic>
        <p:nvPicPr>
          <p:cNvPr id="13" name="Picture 12" descr="ic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Annexe 1 — glossaire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Les mots du métier (1/2)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10820095" cy="384048"/>
          </a:xfrm>
          <a:prstGeom prst="roundRect">
            <a:avLst>
              <a:gd name="adj" fmla="val 7143"/>
            </a:avLst>
          </a:prstGeom>
          <a:solidFill>
            <a:srgbClr val="1A1A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298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Terme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29844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que ça désigne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755648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755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Insight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75564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Vérité sur le comportement des gens qui, énoncée, rend une action évidente.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135124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21351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Constat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13512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Description exacte de ce qui se passe. Vrai, vérifiable, et sans conséquence.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2514600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25146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Donnée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51460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chiffre. Sert à prouver un insight, jamais à en tenir lieu.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2894076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28940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Verbatim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289407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phrase entendue sur le terrain. Une preuve, pas un point de départ.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3273552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32735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Tension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327355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Deux choses vraies en même temps qui ne devraient pas l’être.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3653028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4400" y="36530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Couche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931920" y="36530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L’étage où vit le problème : consommateur, culture, catégorie, entreprise.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" y="4032504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14400" y="40325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Territoire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931920" y="403250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L’espace d’expression que l’insight ouvre. Plusieurs concepts y vivent.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5800" y="4411980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14400" y="44119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Concept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3931920" y="441198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L’idée en une phrase, avec sa signature et ses exécutions.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5800" y="4791456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14400" y="47914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Positionnement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3931920" y="479145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place qu’occupe la marque, et celle qu’elle laisse aux autres.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5800" y="5170932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14400" y="51709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Big idea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3931920" y="517093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L’idée issue d’une contradiction culturelle. Tient plusieurs années.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85800" y="5550408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14400" y="55504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Convention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3931920" y="555040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que toute la catégorie tient pour acquis. Se prouve en trois visuels.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85800" y="5929884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14400" y="59298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Brief-back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3931920" y="592988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reformulation écrite du problème, envoyée avant de commencer.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685800" y="63276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Les termes en anglais sont conservés : ce sont ceux que vous entendrez en réunion.</a:t>
            </a:r>
            <a:endParaRPr lang="en-US" sz="1000" dirty="0"/>
          </a:p>
        </p:txBody>
      </p:sp>
      <p:pic>
        <p:nvPicPr>
          <p:cNvPr id="70" name="Picture 69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Annexe 1 — glossaire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Les mots du métier (2/2)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10820095" cy="384048"/>
          </a:xfrm>
          <a:prstGeom prst="roundRect">
            <a:avLst>
              <a:gd name="adj" fmla="val 7143"/>
            </a:avLst>
          </a:prstGeom>
          <a:solidFill>
            <a:srgbClr val="1A1A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298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Terme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29844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que ça désigne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755648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755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Correction de marque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75564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Changement de service, de prix ou d’expérience, avant toute prise de parole.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135124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21351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Plateforme de marque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13512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cadre durable dont les campagnes successives découlent.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2514600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25146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Reason to believe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51460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qui rend la promesse crédible : preuve produit, fait d’entreprise, usage.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2894076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28940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Persona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289407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Portrait synthétique d’un type d’acheteur. Utile à partager, insuffisant à trouver.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3273552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32735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Segment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327355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Découpage statistique d’un marché. Un segment n’a pas de tension ; une personne, si.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3653028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4400" y="36530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Biais de désirabilité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931920" y="36530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Répondre ce qui valorise plutôt que ce qui est vrai. Raison de se méfier du déclaratif.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" y="4032504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14400" y="40325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Saturation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931920" y="403250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Moment où les entretiens n’apportent plus rien de neuf. Signal d’arrêt du terrain.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5800" y="4411980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14400" y="44119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Triangulation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3931920" y="441198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Croiser trois sources indépendantes avant de tenir un fait pour acquis.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5800" y="4791456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14400" y="47914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Mur de catégorie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3931920" y="479145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Toutes les communications d’une catégorie alignées, pour voir la convention.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5800" y="5170932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14400" y="51709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Inversion stratégique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3931920" y="517093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Traiter la valeur première d’une catégorie comme sa valeur la moins importante.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85800" y="5550408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14400" y="55504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Première ligne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3931920" y="555040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Les employés en contact direct. La source la moins chère et la plus fiable.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85800" y="5929884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14400" y="59298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Livrable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3931920" y="592988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que l’agence produit réellement. La couche du problème le détermine.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685800" y="63276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Deux termes à ne jamais confondre : le segment décrit un marché, la personne porte une tension.</a:t>
            </a:r>
            <a:endParaRPr lang="en-US" sz="1000" dirty="0"/>
          </a:p>
        </p:txBody>
      </p:sp>
      <p:pic>
        <p:nvPicPr>
          <p:cNvPr id="70" name="Picture 69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Annexe 2 — abréviations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Les sigles qu’on ne vous expliquera pas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10820095" cy="384048"/>
          </a:xfrm>
          <a:prstGeom prst="roundRect">
            <a:avLst>
              <a:gd name="adj" fmla="val 7143"/>
            </a:avLst>
          </a:prstGeom>
          <a:solidFill>
            <a:srgbClr val="1A1A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298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Sigle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29844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que ça veut dire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755648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755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RTB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75564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Reason to believe — ce qui rend la promesse crédible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135124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21351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USP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13512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Unique selling proposition — la proposition de vente unique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2514600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25146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PDM / PDV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51460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de marché, part de voix — le poids commercial, le poids publicitaire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2894076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28940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SOV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289407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Share of voice — la part de voix, dans sa version anglaise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3273552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32735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FGD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327355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Focus group discussion — l’entretien de groupe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3653028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4400" y="36530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IDI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931920" y="36530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In-depth interview — l’entretien individuel approfondi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" y="4032504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14400" y="40325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KII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931920" y="403250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Key informant interview — l’entretien d’informateur clé, courant chez les bailleurs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5800" y="4411980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14400" y="44119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NPS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3931920" y="441198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Net promoter score — l’indicateur de recommandation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5800" y="4791456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14400" y="47914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CRM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3931920" y="479145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Customer relationship management — la base client et sa gestion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5800" y="5170932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14400" y="51709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KPI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3931920" y="517093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Key performance indicator — l’indicateur de performance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85800" y="5550408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14400" y="55504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ROI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3931920" y="555040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Return on investment — le retour sur investissement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85800" y="5929884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14400" y="59298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TDR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3931920" y="592988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Termes de référence — le cahier des charges d’un bailleur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685800" y="63276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Deux avertissements : un NPS élevé ne dit jamais pourquoi, et un focus group produit des déclarations, pas des comportements.</a:t>
            </a:r>
            <a:endParaRPr lang="en-US" sz="1000" dirty="0"/>
          </a:p>
        </p:txBody>
      </p:sp>
      <p:pic>
        <p:nvPicPr>
          <p:cNvPr id="70" name="Picture 69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Annexe 3 — bibliographie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Les sources de ce document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10820095" cy="384048"/>
          </a:xfrm>
          <a:prstGeom prst="roundRect">
            <a:avLst>
              <a:gd name="adj" fmla="val 7143"/>
            </a:avLst>
          </a:prstGeom>
          <a:solidFill>
            <a:srgbClr val="1A1A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2984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Auteur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298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Ouvrage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298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Année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1298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qu’on y trouve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755648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7556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Jean-Marie Dru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17556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Disruption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755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1996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1755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convention de catégorie comme point de départ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135124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21351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Jon Steel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21351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Truth, Lies and Advertising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1351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1998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1351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L’account planning et l’insight en pratique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2514600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2514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Gerald Zaltman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0" y="25146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How Customers Think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2514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2003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25146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Pourquoi le déclaratif ne dit pas le comportement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2894076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28940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Douglas Holt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28940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How Brands Become Icons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28940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2004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28940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contradiction sociale comme matière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3273552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32735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Lannon et Baskin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200400" y="32735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Master Class in Brand Planning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0" y="32735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2007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503920" y="32735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Les travaux de Stephen King, réunis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3653028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4400" y="36530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Holt et Cameron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200400" y="36530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Cultural Strategy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035040" y="36530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2010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503920" y="36530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modèle culturel appliqué, cas par cas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" y="4032504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14400" y="40325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Byron Sharp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200400" y="40325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How Brands Grow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035040" y="40325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2010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503920" y="40325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contrepoint : pénétration et disponibilité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5800" y="4411980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14400" y="44119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Daniel Kahneman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3200400" y="44119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Thinking, Fast and Slow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035040" y="44119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2011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503920" y="44119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qui décide réellement, et ce qu’on en dit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5800" y="4791456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14400" y="479145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Christensen et al.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3200400" y="47914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Competing Against Luck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035040" y="47914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2016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8503920" y="47914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travail que le produit accomplit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5800" y="5170932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14400" y="51709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Rory Sutherland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3200400" y="51709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Alchemy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035040" y="51709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2019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8503920" y="51709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L’éloge de ce qui ne se déduit pas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685800" y="63276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Zaltman et Kahneman expliquent pourquoi le terrain prime sur le déclaratif. Ce sont les deux plus utiles et les deux moins lus.</a:t>
            </a:r>
            <a:endParaRPr lang="en-US" sz="1000" dirty="0"/>
          </a:p>
        </p:txBody>
      </p:sp>
      <p:pic>
        <p:nvPicPr>
          <p:cNvPr id="70" name="Picture 69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Annexe 3 — pour aller plus loin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C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En ligne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10820095" cy="384048"/>
          </a:xfrm>
          <a:prstGeom prst="roundRect">
            <a:avLst>
              <a:gd name="adj" fmla="val 7143"/>
            </a:avLst>
          </a:prstGeom>
          <a:solidFill>
            <a:srgbClr val="1A1A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2984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Ressource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2984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qu’on y trouve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12984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B04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Adresse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755648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755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Martin Weigel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7556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meilleur blog de planning en accès libre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755648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martinweigel.org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135124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21351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Cultural Strategy 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1351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site de Douglas Holt : articles et cas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13512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culturalstrategygroup.com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2514600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2514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Ehrenberg-Bass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25146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contrepoint scientifique aux insights consommateur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51460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marketingscience.info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2894076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28940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IPA — Binet &amp; Field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28940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que la mesure dit du travail de marque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289407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ipa.co.uk/knowledge/effectiveness-research-analysis/les-binet-peter-field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3273552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32735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TED — Rory Sutherland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474720" y="32735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« Perspective is everything » — le cadrage comme levier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327355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ted.com/talks/rory_sutherland_perspective_is_everything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3653028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8F6F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4400" y="36530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TED — Nancy Duarte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474720" y="36530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 structure commune aux grands discours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0" y="3653028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ted.com/talks/nancy_duarte_the_secret_structure_of_great_talks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" y="4032504"/>
            <a:ext cx="10820095" cy="329184"/>
          </a:xfrm>
          <a:prstGeom prst="roundRect">
            <a:avLst>
              <a:gd name="adj" fmla="val 5556"/>
            </a:avLst>
          </a:prstGeom>
          <a:solidFill>
            <a:srgbClr val="F1EEE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14400" y="40325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Uncensored CMO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474720" y="40325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Entretiens vidéo avec les praticiens cités ici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040880" y="403250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3A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uncensoredcmo.com/episode/43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685800" y="63276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9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Liens vérifiés à la production du document. Une adresse morte n’invalide pas la source : chercher le titre, pas l’URL.</a:t>
            </a:r>
            <a:endParaRPr lang="en-US" sz="1000" dirty="0"/>
          </a:p>
        </p:txBody>
      </p:sp>
      <p:pic>
        <p:nvPicPr>
          <p:cNvPr id="70" name="Picture 69" descr="icon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681" y="6272784"/>
            <a:ext cx="287694" cy="310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hnschrif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hnschrif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écoles de pensée publicitaires</dc:title>
  <dc:subject>PptxGenJS Presentation</dc:subject>
  <dc:creator>Panthéon</dc:creator>
  <cp:lastModifiedBy>Panthéon</cp:lastModifiedBy>
  <cp:revision>1</cp:revision>
  <dcterms:created xsi:type="dcterms:W3CDTF">2026-09-11T00:11:29Z</dcterms:created>
  <dcterms:modified xsi:type="dcterms:W3CDTF">2026-09-11T00:11:29Z</dcterms:modified>
</cp:coreProperties>
</file>