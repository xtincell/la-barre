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SORTIE DE CRÉATION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97776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plateforme créative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8131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KOMBA — réponse unique au brief qualifié KOM-2026-11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315968"/>
            <a:ext cx="1371600" cy="18288"/>
          </a:xfrm>
          <a:prstGeom prst="rect">
            <a:avLst/>
          </a:prstGeom>
          <a:solidFill>
            <a:srgbClr val="E8756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572000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8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Émetteur : Direction de la Création  ·  Contributeur : Direction Artistique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8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 : Direction Clientèle, pour montage et présentation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8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source d'autorité sur l'idée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Accusé de conformité au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Reformulation du problème, pour prouver qu'il a été compris — et pour que le désaccord, s'il existe, se règle ici et pas devant le client.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7839" cy="1463040"/>
          </a:xfrm>
          <a:prstGeom prst="roundRect">
            <a:avLst>
              <a:gd name="adj" fmla="val 3750"/>
            </a:avLst>
          </a:prstGeom>
          <a:solidFill>
            <a:srgbClr val="F3EEE9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48840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tel que je le lis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2468880"/>
            <a:ext cx="10417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KOMBA est la marque de tous les jours. La cuisine de fête, elle, est un examen social — et à l'examen, on ne prend pas le stylo de tous les jours.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3503066" cy="2011680"/>
          </a:xfrm>
          <a:prstGeom prst="roundRect">
            <a:avLst>
              <a:gd name="adj" fmla="val 2727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953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REPRISE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16966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renier le quotidien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645152"/>
            <a:ext cx="29910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légitimité festive doit se construire sur l'assiduité, jamais contre elle.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4314" y="3657600"/>
            <a:ext cx="3503066" cy="2011680"/>
          </a:xfrm>
          <a:prstGeom prst="roundRect">
            <a:avLst>
              <a:gd name="adj" fmla="val 2727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4600346" y="38953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REPRISE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00346" y="416966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seuil d'attribution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00346" y="4645152"/>
            <a:ext cx="29910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d'attribution correcte. C'est le critère qui a fait échouer la campagne précédente.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1701" y="3657600"/>
            <a:ext cx="3503066" cy="2011680"/>
          </a:xfrm>
          <a:prstGeom prst="roundRect">
            <a:avLst>
              <a:gd name="adj" fmla="val 2727"/>
            </a:avLst>
          </a:prstGeom>
          <a:solidFill>
            <a:srgbClr val="F3EEE9"/>
          </a:solidFill>
          <a:ln/>
        </p:spPr>
      </p:sp>
      <p:sp>
        <p:nvSpPr>
          <p:cNvPr id="17" name="Text 15"/>
          <p:cNvSpPr/>
          <p:nvPr/>
        </p:nvSpPr>
        <p:spPr>
          <a:xfrm>
            <a:off x="8377733" y="38953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DÉSACCORD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77733" y="416966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7733" y="4645152"/>
            <a:ext cx="29910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y en avait un, il serait formulé et arbitré ici — avant présentation, jamais après.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06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Celle qui cuisine tous les jours n'a rien à prouver le jour de la fête. »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4114800"/>
            <a:ext cx="11057839" cy="1234440"/>
          </a:xfrm>
          <a:prstGeom prst="roundRect">
            <a:avLst>
              <a:gd name="adj" fmla="val 4444"/>
            </a:avLst>
          </a:prstGeom>
          <a:solidFill>
            <a:srgbClr val="B02118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4279392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CAMPAGNE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4553712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 les jours, c'est l'entraînement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elle règle le problème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606040"/>
          </a:xfrm>
          <a:prstGeom prst="roundRect">
            <a:avLst>
              <a:gd name="adj" fmla="val 2105"/>
            </a:avLst>
          </a:prstGeom>
          <a:solidFill>
            <a:srgbClr val="F3EE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938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DU MARCHÉ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Devenir festif en décembre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299100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marques fabriquent une version exceptionnelle d'elles-mêmes le temps des fêtes. C'est ce que fait le leader — et c'est ce qui rend sa promesse fragile : il n'a aucune antériorité dans la cuisine ordinaire.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4314" y="1691640"/>
            <a:ext cx="3503066" cy="2606040"/>
          </a:xfrm>
          <a:prstGeom prst="roundRect">
            <a:avLst>
              <a:gd name="adj" fmla="val 2105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4600346" y="192938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L'INVERSION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00346" y="220370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devient la preuve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0346" y="2679192"/>
            <a:ext cx="299100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ne demande pas à KOMBA de devenir festif. Elle fait de sa présence quotidienne la raison même de sa légitimité le jour J : les 340 repas ordinaires de l'année deviennent l'entraînement qui explique la maîtrise du repas de fête.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1701" y="1691640"/>
            <a:ext cx="3503066" cy="2606040"/>
          </a:xfrm>
          <a:prstGeom prst="roundRect">
            <a:avLst>
              <a:gd name="adj" fmla="val 2105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8377733" y="192938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TENU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7733" y="220370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brief, point par point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7733" y="2679192"/>
            <a:ext cx="299100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tenu : tenir son rang. Reason to believe activée : trois générations, gamme 60 g. Ton respecté : l'idée valorise l'assiduité, jamais le produit miracle.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11057839" cy="1143000"/>
          </a:xfrm>
          <a:prstGeom prst="roundRect">
            <a:avLst>
              <a:gd name="adj" fmla="val 4800"/>
            </a:avLst>
          </a:prstGeom>
          <a:solidFill>
            <a:srgbClr val="1F1512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526280"/>
            <a:ext cx="103263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territoire du leader — fond saturé, famille souriante, vapeur ajoutée — est occupé entièrement. Le disputer avec un tiers de son budget est perdu d'avance.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mécanique de campagne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campagne se raconte en deux temps, et le second n'a de sens que si le premier a eu lieu.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346040" cy="2148840"/>
          </a:xfrm>
          <a:prstGeom prst="roundRect">
            <a:avLst>
              <a:gd name="adj" fmla="val 2553"/>
            </a:avLst>
          </a:prstGeom>
          <a:solidFill>
            <a:srgbClr val="F3EEE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21408"/>
            <a:ext cx="479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1  ·  15 nov. – 10 déc.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L'entraînement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852928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campagne montre l'ordinaire : les gestes répétés, les petites marmites, les jours sans occasion. Aucune fête à l'écran.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346040" cy="2148840"/>
          </a:xfrm>
          <a:prstGeom prst="roundRect">
            <a:avLst>
              <a:gd name="adj" fmla="val 2553"/>
            </a:avLst>
          </a:prstGeom>
          <a:solidFill>
            <a:srgbClr val="1F1512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2121408"/>
            <a:ext cx="479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2  ·  11 – 31 déc.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53048" y="2395728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jour J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53048" y="2852928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8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geste, la même main, la même marque — mais la grande marmite et la table pleine. Le rappel du Temps 1 fait la démonstration.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297680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F7E9E7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480560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geste signature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4773168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 qui écrase le cube entre le pouce et l'index au-dessus de la marmite. Répété à l'identique du 10 secondes au 12 m². C'est lui qui porte l'attribution, pas le logo.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et langage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1234440"/>
          </a:xfrm>
          <a:prstGeom prst="roundRect">
            <a:avLst>
              <a:gd name="adj" fmla="val 4444"/>
            </a:avLst>
          </a:prstGeom>
          <a:solidFill>
            <a:srgbClr val="1F1512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783080"/>
            <a:ext cx="552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 les jours, c'est l'entraînement.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2331720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de campagne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78728" y="1783080"/>
            <a:ext cx="498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Aujourd'hui, c'est le match.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78728" y="233172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Déclinaison jour J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1089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Accroches OOH — cinq mots maximum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429000"/>
            <a:ext cx="3503066" cy="1508760"/>
          </a:xfrm>
          <a:prstGeom prst="roundRect">
            <a:avLst>
              <a:gd name="adj" fmla="val 3636"/>
            </a:avLst>
          </a:prstGeom>
          <a:solidFill>
            <a:srgbClr val="F3EEE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667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94106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Mardi. Personne ne regarde.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416552"/>
            <a:ext cx="299100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mots. Le jour ordinaire posé sans emphase.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44314" y="3429000"/>
            <a:ext cx="3503066" cy="1508760"/>
          </a:xfrm>
          <a:prstGeom prst="roundRect">
            <a:avLst>
              <a:gd name="adj" fmla="val 3636"/>
            </a:avLst>
          </a:prstGeom>
          <a:solidFill>
            <a:srgbClr val="F3EEE9"/>
          </a:solidFill>
          <a:ln/>
        </p:spPr>
      </p:sp>
      <p:sp>
        <p:nvSpPr>
          <p:cNvPr id="15" name="Text 13"/>
          <p:cNvSpPr/>
          <p:nvPr/>
        </p:nvSpPr>
        <p:spPr>
          <a:xfrm>
            <a:off x="4600346" y="36667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00346" y="394106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341 marmites avant celle-là.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00346" y="4416552"/>
            <a:ext cx="299100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chiffre installe l'entraînement sans l'expliquer.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1701" y="3429000"/>
            <a:ext cx="3503066" cy="1508760"/>
          </a:xfrm>
          <a:prstGeom prst="roundRect">
            <a:avLst>
              <a:gd name="adj" fmla="val 3636"/>
            </a:avLst>
          </a:prstGeom>
          <a:solidFill>
            <a:srgbClr val="F3EEE9"/>
          </a:solidFill>
          <a:ln/>
        </p:spPr>
      </p:sp>
      <p:sp>
        <p:nvSpPr>
          <p:cNvPr id="19" name="Text 17"/>
          <p:cNvSpPr/>
          <p:nvPr/>
        </p:nvSpPr>
        <p:spPr>
          <a:xfrm>
            <a:off x="8377733" y="366674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77733" y="394106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Aujourd'hui, tout le monde regarde.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7733" y="4416552"/>
            <a:ext cx="299100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renversement, construit sur les deux précédentes.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1663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de la campagne : entraînement · geste · main · jour ordinaire · jour de match.        Jamais : secret · astuce · magie · recette miracle.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Déclinaison par point de contact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0954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de contact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Traduction de l'idée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1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45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plan-séquence sur onze mois de mardis, qui débouche sur la table de fête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film + versions 20 s et 10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OOH 12 m²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geste, plein cadre, une accroche de quatre mots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visuels, 2 vagues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Compteur de marmites : décompte public des jours ordinaires avant le jour J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 à valider en phase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Démonstration du geste sur les marchés, en pidgin, avec la gamme 60 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mécanique, 2 villes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geste, sans texte, en linéaire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visuels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892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de contact rejoue le même geste. C'est la répétition, pas le volume, qui produit l'attribution.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cette idée ne fera 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assumée, posée avant que le client ne la teste.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33231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parlera pas de prix ni d'économie.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33231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700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70048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mettra pas en scène une réussite sociale ostentatoire.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36976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33231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36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36976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se décline pas en contenu permanent au-delà du 31 décembre sans retravail.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77640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B02118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160520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 VALIDITÉ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" y="4453128"/>
            <a:ext cx="103263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le Temps 1, le jour J n'a plus de démonstration. Un arbitrage média qui supprimerait la première vague ne réduit pas la campagne : il l'annule.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 et risques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644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1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création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semaines, équipe de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jours à Douala, une comédienne principale et de la 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semaines film, 1 semaine déclinaisons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 critique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Casting de la main et de la comédienne — à lancer dès validation du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arbitrage média supprimant la première vague. Rédhibitoire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secondaire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5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client demandera une table de fête dès le Temps 1. À tenir en présentation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ctr">
                    <a:lnL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34840"/>
            <a:ext cx="11057839" cy="1234440"/>
          </a:xfrm>
          <a:prstGeom prst="roundRect">
            <a:avLst>
              <a:gd name="adj" fmla="val 4444"/>
            </a:avLst>
          </a:prstGeom>
          <a:solidFill>
            <a:srgbClr val="F3EEE9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" y="4617720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Création engage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86968" y="4937760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délais sont tenables avec l'équipe actuelle, sur le périmètre du brief. Tout livrable supplémentaire donne lieu à une réévaluation écrite — pas à un arrangement en réunion.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doit être validé aujourd'hui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2651760"/>
          </a:xfrm>
          <a:prstGeom prst="roundRect">
            <a:avLst>
              <a:gd name="adj" fmla="val 2069"/>
            </a:avLst>
          </a:prstGeom>
          <a:solidFill>
            <a:srgbClr val="1F1512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901952"/>
            <a:ext cx="480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séance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" y="2331720"/>
            <a:ext cx="4806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E8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et son nom de campagne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E8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mécanique en deux temps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E8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signature de campagne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E8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condition de validité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691640"/>
            <a:ext cx="5391760" cy="2651760"/>
          </a:xfrm>
          <a:prstGeom prst="roundRect">
            <a:avLst>
              <a:gd name="adj" fmla="val 2069"/>
            </a:avLst>
          </a:prstGeom>
          <a:solidFill>
            <a:srgbClr val="F3EEE9"/>
          </a:solidFill>
          <a:ln/>
        </p:spPr>
      </p:sp>
      <p:sp>
        <p:nvSpPr>
          <p:cNvPr id="8" name="Text 6"/>
          <p:cNvSpPr/>
          <p:nvPr/>
        </p:nvSpPr>
        <p:spPr>
          <a:xfrm>
            <a:off x="6525616" y="1901952"/>
            <a:ext cx="480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tard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25616" y="2331720"/>
            <a:ext cx="4806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pistes visuelles définitives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casting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digital détaillé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mécanique terrain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4572000"/>
            <a:ext cx="11057839" cy="1097280"/>
          </a:xfrm>
          <a:prstGeom prst="roundRect">
            <a:avLst>
              <a:gd name="adj" fmla="val 5000"/>
            </a:avLst>
          </a:prstGeom>
          <a:solidFill>
            <a:srgbClr val="F7E9E7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4572000"/>
            <a:ext cx="104177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validation partielle qui accepte l'exécution sans la mécanique en deux temps est un refus déguisé, et sera traitée comme tel.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DE FRONTIÈRE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limites de ce document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377440"/>
          </a:xfrm>
          <a:prstGeom prst="roundRect">
            <a:avLst>
              <a:gd name="adj" fmla="val 2308"/>
            </a:avLst>
          </a:prstGeom>
          <a:solidFill>
            <a:srgbClr val="F3EE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938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CONTIENT PAS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condition commerciale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299100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prix, ni calendrier commercial, ni recommandation média, ni engagement contractuel. Ces éléments relèvent de la Direction Clientèle.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4314" y="1691640"/>
            <a:ext cx="3503066" cy="2377440"/>
          </a:xfrm>
          <a:prstGeom prst="roundRect">
            <a:avLst>
              <a:gd name="adj" fmla="val 2308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4600346" y="192938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SE MODIFIE PAS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00346" y="220370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arbitrage de la Création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0346" y="2679192"/>
            <a:ext cx="299100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montage du dossier client peut reformater, raccourcir, mettre en récit. Il ne peut pas altérer le contenu.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1701" y="1691640"/>
            <a:ext cx="3503066" cy="2377440"/>
          </a:xfrm>
          <a:prstGeom prst="roundRect">
            <a:avLst>
              <a:gd name="adj" fmla="val 2308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8377733" y="1929384"/>
            <a:ext cx="2991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0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SE CONCÈDE PAS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7733" y="2203704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séance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7733" y="2679192"/>
            <a:ext cx="299100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client demande une modification de l'idée, la réponse est un délai de retour, jamais un accord immédiat.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97680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F3EEE9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4498848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Signataires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86968" y="4828032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E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de la Création (émetteur, décideur sur l'idée)  ·  Directeur Artistique (contributeur)  ·  Directeur Clientèle (accusé de réception, pour présentation).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6199632"/>
            <a:ext cx="256032" cy="256032"/>
          </a:xfrm>
          <a:prstGeom prst="ellipse">
            <a:avLst/>
          </a:prstGeom>
          <a:solidFill>
            <a:srgbClr val="B0211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6199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6181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la Création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52767" y="6181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KOM-2026-11 · Plateforme créative v1.0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2026-08-12T10:55:06Z</dcterms:created>
  <dcterms:modified xsi:type="dcterms:W3CDTF">2026-08-12T10:55:06Z</dcterms:modified>
</cp:coreProperties>
</file>