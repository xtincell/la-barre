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512"/>
        </a:solidFill>
      </p:bgPr>
    </p:bg>
    <p:spTree>
      <p:nvGrpSpPr>
        <p:cNvPr id="1" name=""/>
        <p:cNvGrpSpPr/>
        <p:nvPr/>
      </p:nvGrpSpPr>
      <p:grpSpPr>
        <a:xfrm>
          <a:off x="0" y="0"/>
          <a:ext cx="0" cy="0"/>
          <a:chOff x="0" y="0"/>
          <a:chExt cx="0" cy="0"/>
        </a:xfrm>
      </p:grpSpPr>
      <p:sp>
        <p:nvSpPr>
          <p:cNvPr id="2" name="Text 0"/>
          <p:cNvSpPr/>
          <p:nvPr/>
        </p:nvSpPr>
        <p:spPr>
          <a:xfrm>
            <a:off x="566928" y="1371600"/>
            <a:ext cx="11057839" cy="274320"/>
          </a:xfrm>
          <a:prstGeom prst="rect">
            <a:avLst/>
          </a:prstGeom>
          <a:noFill/>
          <a:ln/>
        </p:spPr>
        <p:txBody>
          <a:bodyPr wrap="square" lIns="0" tIns="0" rIns="0" bIns="0" rtlCol="0" anchor="ctr"/>
          <a:lstStyle/>
          <a:p>
            <a:pPr indent="0" marL="0">
              <a:buNone/>
            </a:pPr>
            <a:r>
              <a:rPr lang="en-US" sz="1100" b="1" spc="300" kern="0" dirty="0">
                <a:solidFill>
                  <a:srgbClr val="6FC4CE"/>
                </a:solidFill>
                <a:latin typeface="Calibri" pitchFamily="34" charset="0"/>
                <a:ea typeface="Calibri" pitchFamily="34" charset="-122"/>
                <a:cs typeface="Calibri" pitchFamily="34" charset="-120"/>
              </a:rPr>
              <a:t>DOCUMENT DE PRÉSENTATION</a:t>
            </a:r>
            <a:endParaRPr lang="en-US" sz="1100" dirty="0"/>
          </a:p>
        </p:txBody>
      </p:sp>
      <p:sp>
        <p:nvSpPr>
          <p:cNvPr id="3" name="Text 1"/>
          <p:cNvSpPr/>
          <p:nvPr/>
        </p:nvSpPr>
        <p:spPr>
          <a:xfrm>
            <a:off x="566928" y="1783080"/>
            <a:ext cx="9777679" cy="13716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Le dossier de recommandation</a:t>
            </a:r>
            <a:endParaRPr lang="en-US" sz="4600" dirty="0"/>
          </a:p>
        </p:txBody>
      </p:sp>
      <p:sp>
        <p:nvSpPr>
          <p:cNvPr id="4" name="Text 2"/>
          <p:cNvSpPr/>
          <p:nvPr/>
        </p:nvSpPr>
        <p:spPr>
          <a:xfrm>
            <a:off x="566928" y="3200400"/>
            <a:ext cx="8131759" cy="822960"/>
          </a:xfrm>
          <a:prstGeom prst="rect">
            <a:avLst/>
          </a:prstGeom>
          <a:noFill/>
          <a:ln/>
        </p:spPr>
        <p:txBody>
          <a:bodyPr wrap="square" lIns="0" tIns="0" rIns="0" bIns="0" rtlCol="0" anchor="ctr"/>
          <a:lstStyle/>
          <a:p>
            <a:pPr indent="0" marL="0">
              <a:lnSpc>
                <a:spcPts val="2400"/>
              </a:lnSpc>
              <a:buNone/>
            </a:pPr>
            <a:r>
              <a:rPr lang="en-US" sz="1600" dirty="0">
                <a:solidFill>
                  <a:srgbClr val="D8C9C0"/>
                </a:solidFill>
                <a:latin typeface="Calibri" pitchFamily="34" charset="0"/>
                <a:ea typeface="Calibri" pitchFamily="34" charset="-122"/>
                <a:cs typeface="Calibri" pitchFamily="34" charset="-120"/>
              </a:rPr>
              <a:t>KOMBA — assemblage des trois documents sources, pour présentation client</a:t>
            </a:r>
            <a:endParaRPr lang="en-US" sz="1600" dirty="0"/>
          </a:p>
        </p:txBody>
      </p:sp>
      <p:sp>
        <p:nvSpPr>
          <p:cNvPr id="5" name="Shape 3"/>
          <p:cNvSpPr/>
          <p:nvPr/>
        </p:nvSpPr>
        <p:spPr>
          <a:xfrm>
            <a:off x="566928" y="4315968"/>
            <a:ext cx="1371600" cy="18288"/>
          </a:xfrm>
          <a:prstGeom prst="rect">
            <a:avLst/>
          </a:prstGeom>
          <a:solidFill>
            <a:srgbClr val="6FC4CE"/>
          </a:solidFill>
          <a:ln/>
        </p:spPr>
      </p:sp>
      <p:sp>
        <p:nvSpPr>
          <p:cNvPr id="6" name="Text 4"/>
          <p:cNvSpPr/>
          <p:nvPr/>
        </p:nvSpPr>
        <p:spPr>
          <a:xfrm>
            <a:off x="566928" y="4572000"/>
            <a:ext cx="11057839" cy="1188720"/>
          </a:xfrm>
          <a:prstGeom prst="rect">
            <a:avLst/>
          </a:prstGeom>
          <a:noFill/>
          <a:ln/>
        </p:spPr>
        <p:txBody>
          <a:bodyPr wrap="square" lIns="0" tIns="0" rIns="0" bIns="0" rtlCol="0" anchor="ctr"/>
          <a:lstStyle/>
          <a:p>
            <a:pPr indent="0" marL="0">
              <a:lnSpc>
                <a:spcPts val="1900"/>
              </a:lnSpc>
              <a:buNone/>
            </a:pPr>
            <a:r>
              <a:rPr lang="en-US" sz="1200" dirty="0">
                <a:solidFill>
                  <a:srgbClr val="A8968D"/>
                </a:solidFill>
                <a:latin typeface="Calibri" pitchFamily="34" charset="0"/>
                <a:ea typeface="Calibri" pitchFamily="34" charset="-122"/>
                <a:cs typeface="Calibri" pitchFamily="34" charset="-120"/>
              </a:rPr>
              <a:t>Monté par : Direction Clientèle</a:t>
            </a:r>
            <a:endParaRPr lang="en-US" sz="1200" dirty="0"/>
          </a:p>
          <a:p>
            <a:pPr indent="0" marL="0">
              <a:lnSpc>
                <a:spcPts val="1900"/>
              </a:lnSpc>
              <a:buNone/>
            </a:pPr>
            <a:r>
              <a:rPr lang="en-US" sz="1200" dirty="0">
                <a:solidFill>
                  <a:srgbClr val="A8968D"/>
                </a:solidFill>
                <a:latin typeface="Calibri" pitchFamily="34" charset="0"/>
                <a:ea typeface="Calibri" pitchFamily="34" charset="-122"/>
                <a:cs typeface="Calibri" pitchFamily="34" charset="-120"/>
              </a:rPr>
              <a:t>Sources : brief qualifié v1.0 · plateforme créative v1.0 · recommandation artistique v1.0</a:t>
            </a:r>
            <a:endParaRPr lang="en-US" sz="1200" dirty="0"/>
          </a:p>
          <a:p>
            <a:pPr indent="0" marL="0">
              <a:lnSpc>
                <a:spcPts val="1900"/>
              </a:lnSpc>
              <a:buNone/>
            </a:pPr>
            <a:r>
              <a:rPr lang="en-US" sz="1200" dirty="0">
                <a:solidFill>
                  <a:srgbClr val="A8968D"/>
                </a:solidFill>
                <a:latin typeface="Calibri" pitchFamily="34" charset="0"/>
                <a:ea typeface="Calibri" pitchFamily="34" charset="-122"/>
                <a:cs typeface="Calibri" pitchFamily="34" charset="-120"/>
              </a:rPr>
              <a:t>Ce document n'a pas d'auteur : il a des propriétaires par section</a:t>
            </a:r>
            <a:endParaRPr lang="en-US" sz="1200" dirty="0"/>
          </a:p>
        </p:txBody>
      </p:sp>
      <p:sp>
        <p:nvSpPr>
          <p:cNvPr id="7" name="Shape 5"/>
          <p:cNvSpPr/>
          <p:nvPr/>
        </p:nvSpPr>
        <p:spPr>
          <a:xfrm>
            <a:off x="566928" y="6199632"/>
            <a:ext cx="256032" cy="256032"/>
          </a:xfrm>
          <a:prstGeom prst="ellipse">
            <a:avLst/>
          </a:prstGeom>
          <a:solidFill>
            <a:srgbClr val="10646E"/>
          </a:solidFill>
          <a:ln/>
        </p:spPr>
      </p:sp>
      <p:sp>
        <p:nvSpPr>
          <p:cNvPr id="8" name="Text 6"/>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9" name="Text 7"/>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BFAFA6"/>
                </a:solidFill>
                <a:latin typeface="Calibri" pitchFamily="34" charset="0"/>
                <a:ea typeface="Calibri" pitchFamily="34" charset="-122"/>
                <a:cs typeface="Calibri" pitchFamily="34" charset="-120"/>
              </a:rPr>
              <a:t>Direction Clientèle</a:t>
            </a:r>
            <a:endParaRPr lang="en-US" sz="950" dirty="0"/>
          </a:p>
        </p:txBody>
      </p:sp>
      <p:sp>
        <p:nvSpPr>
          <p:cNvPr id="10" name="Text 8"/>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A7770"/>
                </a:solidFill>
                <a:latin typeface="Calibri" pitchFamily="34" charset="0"/>
                <a:ea typeface="Calibri" pitchFamily="34" charset="-122"/>
                <a:cs typeface="Calibri" pitchFamily="34" charset="-120"/>
              </a:rPr>
              <a:t>KOM-2026-11 · Dossier client v1.0</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PRINCIPE</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Un document, quatre propriétaires</a:t>
            </a:r>
            <a:endParaRPr lang="en-US" sz="3000" dirty="0"/>
          </a:p>
        </p:txBody>
      </p:sp>
      <p:sp>
        <p:nvSpPr>
          <p:cNvPr id="4" name="Text 2"/>
          <p:cNvSpPr/>
          <p:nvPr/>
        </p:nvSpPr>
        <p:spPr>
          <a:xfrm>
            <a:off x="566928" y="1463040"/>
            <a:ext cx="11057839" cy="594360"/>
          </a:xfrm>
          <a:prstGeom prst="rect">
            <a:avLst/>
          </a:prstGeom>
          <a:noFill/>
          <a:ln/>
        </p:spPr>
        <p:txBody>
          <a:bodyPr wrap="square" lIns="0" tIns="0" rIns="0" bIns="0" rtlCol="0" anchor="ctr"/>
          <a:lstStyle/>
          <a:p>
            <a:pPr indent="0" marL="0">
              <a:lnSpc>
                <a:spcPts val="2100"/>
              </a:lnSpc>
              <a:buNone/>
            </a:pPr>
            <a:r>
              <a:rPr lang="en-US" sz="1350" dirty="0">
                <a:solidFill>
                  <a:srgbClr val="3E322C"/>
                </a:solidFill>
                <a:latin typeface="Calibri" pitchFamily="34" charset="0"/>
                <a:ea typeface="Calibri" pitchFamily="34" charset="-122"/>
                <a:cs typeface="Calibri" pitchFamily="34" charset="-120"/>
              </a:rPr>
              <a:t>Le montage assemble, ordonne et met en récit. Il ne crée aucun contenu et n'en altère aucun. Chaque section porte en pied la mention de son propriétaire — seul habilité à en modifier le contenu, avant comme après la séance.</a:t>
            </a:r>
            <a:endParaRPr lang="en-US" sz="1350" dirty="0"/>
          </a:p>
        </p:txBody>
      </p:sp>
      <p:sp>
        <p:nvSpPr>
          <p:cNvPr id="5" name="Shape 3"/>
          <p:cNvSpPr/>
          <p:nvPr/>
        </p:nvSpPr>
        <p:spPr>
          <a:xfrm>
            <a:off x="566928" y="2286000"/>
            <a:ext cx="2558720" cy="1371600"/>
          </a:xfrm>
          <a:prstGeom prst="roundRect">
            <a:avLst>
              <a:gd name="adj" fmla="val 4000"/>
            </a:avLst>
          </a:prstGeom>
          <a:solidFill>
            <a:srgbClr val="F3EEE9"/>
          </a:solidFill>
          <a:ln/>
        </p:spPr>
      </p:sp>
      <p:sp>
        <p:nvSpPr>
          <p:cNvPr id="6" name="Shape 4"/>
          <p:cNvSpPr/>
          <p:nvPr/>
        </p:nvSpPr>
        <p:spPr>
          <a:xfrm>
            <a:off x="822960" y="2514600"/>
            <a:ext cx="384048" cy="384048"/>
          </a:xfrm>
          <a:prstGeom prst="ellipse">
            <a:avLst/>
          </a:prstGeom>
          <a:solidFill>
            <a:srgbClr val="10646E"/>
          </a:solidFill>
          <a:ln/>
        </p:spPr>
      </p:sp>
      <p:sp>
        <p:nvSpPr>
          <p:cNvPr id="7" name="Text 5"/>
          <p:cNvSpPr/>
          <p:nvPr/>
        </p:nvSpPr>
        <p:spPr>
          <a:xfrm>
            <a:off x="822960" y="2514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 name="Text 6"/>
          <p:cNvSpPr/>
          <p:nvPr/>
        </p:nvSpPr>
        <p:spPr>
          <a:xfrm>
            <a:off x="822960" y="3017520"/>
            <a:ext cx="2046656" cy="502920"/>
          </a:xfrm>
          <a:prstGeom prst="rect">
            <a:avLst/>
          </a:prstGeom>
          <a:noFill/>
          <a:ln/>
        </p:spPr>
        <p:txBody>
          <a:bodyPr wrap="square" lIns="0" tIns="0" rIns="0" bIns="0" rtlCol="0" anchor="ctr"/>
          <a:lstStyle/>
          <a:p>
            <a:pPr indent="0" marL="0">
              <a:buNone/>
            </a:pPr>
            <a:r>
              <a:rPr lang="en-US" sz="1500" b="1" dirty="0">
                <a:solidFill>
                  <a:srgbClr val="1F1512"/>
                </a:solidFill>
                <a:latin typeface="Cambria" pitchFamily="34" charset="0"/>
                <a:ea typeface="Cambria" pitchFamily="34" charset="-122"/>
                <a:cs typeface="Cambria" pitchFamily="34" charset="-120"/>
              </a:rPr>
              <a:t>Direction Clientèle</a:t>
            </a:r>
            <a:endParaRPr lang="en-US" sz="1500" dirty="0"/>
          </a:p>
        </p:txBody>
      </p:sp>
      <p:sp>
        <p:nvSpPr>
          <p:cNvPr id="9" name="Shape 7"/>
          <p:cNvSpPr/>
          <p:nvPr/>
        </p:nvSpPr>
        <p:spPr>
          <a:xfrm>
            <a:off x="3399968" y="2286000"/>
            <a:ext cx="2558720" cy="1371600"/>
          </a:xfrm>
          <a:prstGeom prst="roundRect">
            <a:avLst>
              <a:gd name="adj" fmla="val 4000"/>
            </a:avLst>
          </a:prstGeom>
          <a:solidFill>
            <a:srgbClr val="F3EEE9"/>
          </a:solidFill>
          <a:ln/>
        </p:spPr>
      </p:sp>
      <p:sp>
        <p:nvSpPr>
          <p:cNvPr id="10" name="Shape 8"/>
          <p:cNvSpPr/>
          <p:nvPr/>
        </p:nvSpPr>
        <p:spPr>
          <a:xfrm>
            <a:off x="3656000" y="2514600"/>
            <a:ext cx="384048" cy="384048"/>
          </a:xfrm>
          <a:prstGeom prst="ellipse">
            <a:avLst/>
          </a:prstGeom>
          <a:solidFill>
            <a:srgbClr val="4A5A93"/>
          </a:solidFill>
          <a:ln/>
        </p:spPr>
      </p:sp>
      <p:sp>
        <p:nvSpPr>
          <p:cNvPr id="11" name="Text 9"/>
          <p:cNvSpPr/>
          <p:nvPr/>
        </p:nvSpPr>
        <p:spPr>
          <a:xfrm>
            <a:off x="3656000" y="2514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t>
            </a:r>
            <a:endParaRPr lang="en-US" sz="1300" dirty="0"/>
          </a:p>
        </p:txBody>
      </p:sp>
      <p:sp>
        <p:nvSpPr>
          <p:cNvPr id="12" name="Text 10"/>
          <p:cNvSpPr/>
          <p:nvPr/>
        </p:nvSpPr>
        <p:spPr>
          <a:xfrm>
            <a:off x="3656000" y="3017520"/>
            <a:ext cx="2046656" cy="502920"/>
          </a:xfrm>
          <a:prstGeom prst="rect">
            <a:avLst/>
          </a:prstGeom>
          <a:noFill/>
          <a:ln/>
        </p:spPr>
        <p:txBody>
          <a:bodyPr wrap="square" lIns="0" tIns="0" rIns="0" bIns="0" rtlCol="0" anchor="ctr"/>
          <a:lstStyle/>
          <a:p>
            <a:pPr indent="0" marL="0">
              <a:buNone/>
            </a:pPr>
            <a:r>
              <a:rPr lang="en-US" sz="1500" b="1" dirty="0">
                <a:solidFill>
                  <a:srgbClr val="1F1512"/>
                </a:solidFill>
                <a:latin typeface="Cambria" pitchFamily="34" charset="0"/>
                <a:ea typeface="Cambria" pitchFamily="34" charset="-122"/>
                <a:cs typeface="Cambria" pitchFamily="34" charset="-120"/>
              </a:rPr>
              <a:t>Planning stratégique</a:t>
            </a:r>
            <a:endParaRPr lang="en-US" sz="1500" dirty="0"/>
          </a:p>
        </p:txBody>
      </p:sp>
      <p:sp>
        <p:nvSpPr>
          <p:cNvPr id="13" name="Shape 11"/>
          <p:cNvSpPr/>
          <p:nvPr/>
        </p:nvSpPr>
        <p:spPr>
          <a:xfrm>
            <a:off x="6233008" y="2286000"/>
            <a:ext cx="2558720" cy="1371600"/>
          </a:xfrm>
          <a:prstGeom prst="roundRect">
            <a:avLst>
              <a:gd name="adj" fmla="val 4000"/>
            </a:avLst>
          </a:prstGeom>
          <a:solidFill>
            <a:srgbClr val="F3EEE9"/>
          </a:solidFill>
          <a:ln/>
        </p:spPr>
      </p:sp>
      <p:sp>
        <p:nvSpPr>
          <p:cNvPr id="14" name="Shape 12"/>
          <p:cNvSpPr/>
          <p:nvPr/>
        </p:nvSpPr>
        <p:spPr>
          <a:xfrm>
            <a:off x="6489040" y="2514600"/>
            <a:ext cx="384048" cy="384048"/>
          </a:xfrm>
          <a:prstGeom prst="ellipse">
            <a:avLst/>
          </a:prstGeom>
          <a:solidFill>
            <a:srgbClr val="B02118"/>
          </a:solidFill>
          <a:ln/>
        </p:spPr>
      </p:sp>
      <p:sp>
        <p:nvSpPr>
          <p:cNvPr id="15" name="Text 13"/>
          <p:cNvSpPr/>
          <p:nvPr/>
        </p:nvSpPr>
        <p:spPr>
          <a:xfrm>
            <a:off x="6489040" y="2514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t>
            </a:r>
            <a:endParaRPr lang="en-US" sz="1300" dirty="0"/>
          </a:p>
        </p:txBody>
      </p:sp>
      <p:sp>
        <p:nvSpPr>
          <p:cNvPr id="16" name="Text 14"/>
          <p:cNvSpPr/>
          <p:nvPr/>
        </p:nvSpPr>
        <p:spPr>
          <a:xfrm>
            <a:off x="6489040" y="3017520"/>
            <a:ext cx="2046656" cy="502920"/>
          </a:xfrm>
          <a:prstGeom prst="rect">
            <a:avLst/>
          </a:prstGeom>
          <a:noFill/>
          <a:ln/>
        </p:spPr>
        <p:txBody>
          <a:bodyPr wrap="square" lIns="0" tIns="0" rIns="0" bIns="0" rtlCol="0" anchor="ctr"/>
          <a:lstStyle/>
          <a:p>
            <a:pPr indent="0" marL="0">
              <a:buNone/>
            </a:pPr>
            <a:r>
              <a:rPr lang="en-US" sz="1500" b="1" dirty="0">
                <a:solidFill>
                  <a:srgbClr val="1F1512"/>
                </a:solidFill>
                <a:latin typeface="Cambria" pitchFamily="34" charset="0"/>
                <a:ea typeface="Cambria" pitchFamily="34" charset="-122"/>
                <a:cs typeface="Cambria" pitchFamily="34" charset="-120"/>
              </a:rPr>
              <a:t>Direction de la Création</a:t>
            </a:r>
            <a:endParaRPr lang="en-US" sz="1500" dirty="0"/>
          </a:p>
        </p:txBody>
      </p:sp>
      <p:sp>
        <p:nvSpPr>
          <p:cNvPr id="17" name="Shape 15"/>
          <p:cNvSpPr/>
          <p:nvPr/>
        </p:nvSpPr>
        <p:spPr>
          <a:xfrm>
            <a:off x="9066047" y="2286000"/>
            <a:ext cx="2558720" cy="1371600"/>
          </a:xfrm>
          <a:prstGeom prst="roundRect">
            <a:avLst>
              <a:gd name="adj" fmla="val 4000"/>
            </a:avLst>
          </a:prstGeom>
          <a:solidFill>
            <a:srgbClr val="F3EEE9"/>
          </a:solidFill>
          <a:ln/>
        </p:spPr>
      </p:sp>
      <p:sp>
        <p:nvSpPr>
          <p:cNvPr id="18" name="Shape 16"/>
          <p:cNvSpPr/>
          <p:nvPr/>
        </p:nvSpPr>
        <p:spPr>
          <a:xfrm>
            <a:off x="9322079" y="2514600"/>
            <a:ext cx="384048" cy="384048"/>
          </a:xfrm>
          <a:prstGeom prst="ellipse">
            <a:avLst/>
          </a:prstGeom>
          <a:solidFill>
            <a:srgbClr val="B07714"/>
          </a:solidFill>
          <a:ln/>
        </p:spPr>
      </p:sp>
      <p:sp>
        <p:nvSpPr>
          <p:cNvPr id="19" name="Text 17"/>
          <p:cNvSpPr/>
          <p:nvPr/>
        </p:nvSpPr>
        <p:spPr>
          <a:xfrm>
            <a:off x="9322079" y="2514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20" name="Text 18"/>
          <p:cNvSpPr/>
          <p:nvPr/>
        </p:nvSpPr>
        <p:spPr>
          <a:xfrm>
            <a:off x="9322079" y="3017520"/>
            <a:ext cx="2046656" cy="502920"/>
          </a:xfrm>
          <a:prstGeom prst="rect">
            <a:avLst/>
          </a:prstGeom>
          <a:noFill/>
          <a:ln/>
        </p:spPr>
        <p:txBody>
          <a:bodyPr wrap="square" lIns="0" tIns="0" rIns="0" bIns="0" rtlCol="0" anchor="ctr"/>
          <a:lstStyle/>
          <a:p>
            <a:pPr indent="0" marL="0">
              <a:buNone/>
            </a:pPr>
            <a:r>
              <a:rPr lang="en-US" sz="1500" b="1" dirty="0">
                <a:solidFill>
                  <a:srgbClr val="1F1512"/>
                </a:solidFill>
                <a:latin typeface="Cambria" pitchFamily="34" charset="0"/>
                <a:ea typeface="Cambria" pitchFamily="34" charset="-122"/>
                <a:cs typeface="Cambria" pitchFamily="34" charset="-120"/>
              </a:rPr>
              <a:t>Direction Artistique</a:t>
            </a:r>
            <a:endParaRPr lang="en-US" sz="1500" dirty="0"/>
          </a:p>
        </p:txBody>
      </p:sp>
      <p:sp>
        <p:nvSpPr>
          <p:cNvPr id="21" name="Shape 19"/>
          <p:cNvSpPr/>
          <p:nvPr/>
        </p:nvSpPr>
        <p:spPr>
          <a:xfrm>
            <a:off x="566928" y="3931920"/>
            <a:ext cx="11057839" cy="1737360"/>
          </a:xfrm>
          <a:prstGeom prst="roundRect">
            <a:avLst>
              <a:gd name="adj" fmla="val 3158"/>
            </a:avLst>
          </a:prstGeom>
          <a:solidFill>
            <a:srgbClr val="1F1512"/>
          </a:solidFill>
          <a:ln/>
        </p:spPr>
      </p:sp>
      <p:sp>
        <p:nvSpPr>
          <p:cNvPr id="22" name="Text 20"/>
          <p:cNvSpPr/>
          <p:nvPr/>
        </p:nvSpPr>
        <p:spPr>
          <a:xfrm>
            <a:off x="932688" y="4160520"/>
            <a:ext cx="10326319" cy="320040"/>
          </a:xfrm>
          <a:prstGeom prst="rect">
            <a:avLst/>
          </a:prstGeom>
          <a:noFill/>
          <a:ln/>
        </p:spPr>
        <p:txBody>
          <a:bodyPr wrap="square" lIns="0" tIns="0" rIns="0" bIns="0" rtlCol="0" anchor="ctr"/>
          <a:lstStyle/>
          <a:p>
            <a:pPr indent="0" marL="0">
              <a:buNone/>
            </a:pPr>
            <a:r>
              <a:rPr lang="en-US" sz="1700" b="1" dirty="0">
                <a:solidFill>
                  <a:srgbClr val="6FC4CE"/>
                </a:solidFill>
                <a:latin typeface="Cambria" pitchFamily="34" charset="0"/>
                <a:ea typeface="Cambria" pitchFamily="34" charset="-122"/>
                <a:cs typeface="Cambria" pitchFamily="34" charset="-120"/>
              </a:rPr>
              <a:t>Sections verrouillées</a:t>
            </a:r>
            <a:endParaRPr lang="en-US" sz="1700" dirty="0"/>
          </a:p>
        </p:txBody>
      </p:sp>
      <p:sp>
        <p:nvSpPr>
          <p:cNvPr id="23" name="Text 21"/>
          <p:cNvSpPr/>
          <p:nvPr/>
        </p:nvSpPr>
        <p:spPr>
          <a:xfrm>
            <a:off x="932688" y="4526280"/>
            <a:ext cx="10326319" cy="1005840"/>
          </a:xfrm>
          <a:prstGeom prst="rect">
            <a:avLst/>
          </a:prstGeom>
          <a:noFill/>
          <a:ln/>
        </p:spPr>
        <p:txBody>
          <a:bodyPr wrap="square" lIns="0" tIns="0" rIns="0" bIns="0" rtlCol="0" anchor="ctr"/>
          <a:lstStyle/>
          <a:p>
            <a:pPr indent="0" marL="0">
              <a:lnSpc>
                <a:spcPts val="2100"/>
              </a:lnSpc>
              <a:buNone/>
            </a:pPr>
            <a:r>
              <a:rPr lang="en-US" sz="1350" dirty="0">
                <a:solidFill>
                  <a:srgbClr val="E8DCD5"/>
                </a:solidFill>
                <a:latin typeface="Calibri" pitchFamily="34" charset="0"/>
                <a:ea typeface="Calibri" pitchFamily="34" charset="-122"/>
                <a:cs typeface="Calibri" pitchFamily="34" charset="-120"/>
              </a:rPr>
              <a:t>Les sections 5 à 10 — l'idée, sa démonstration, la mécanique, la signature, le territoire visuel et les déclinaisons — sont verrouillées. Le monteur peut les raccourcir, les répartir sur plusieurs pages, les mettre en forme. Il ne peut ni reformuler l'idée, ni modifier la signature, ni ajouter une piste, ni en retirer une.</a:t>
            </a:r>
            <a:endParaRPr lang="en-US" sz="1350" dirty="0"/>
          </a:p>
        </p:txBody>
      </p:sp>
      <p:sp>
        <p:nvSpPr>
          <p:cNvPr id="24" name="Shape 22"/>
          <p:cNvSpPr/>
          <p:nvPr/>
        </p:nvSpPr>
        <p:spPr>
          <a:xfrm>
            <a:off x="566928" y="6199632"/>
            <a:ext cx="256032" cy="256032"/>
          </a:xfrm>
          <a:prstGeom prst="ellipse">
            <a:avLst/>
          </a:prstGeom>
          <a:solidFill>
            <a:srgbClr val="10646E"/>
          </a:solidFill>
          <a:ln/>
        </p:spPr>
      </p:sp>
      <p:sp>
        <p:nvSpPr>
          <p:cNvPr id="25" name="Text 23"/>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6" name="Text 24"/>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BFAFA6"/>
                </a:solidFill>
                <a:latin typeface="Calibri" pitchFamily="34" charset="0"/>
                <a:ea typeface="Calibri" pitchFamily="34" charset="-122"/>
                <a:cs typeface="Calibri" pitchFamily="34" charset="-120"/>
              </a:rPr>
              <a:t>Direction Clientèle</a:t>
            </a:r>
            <a:endParaRPr lang="en-US" sz="950" dirty="0"/>
          </a:p>
        </p:txBody>
      </p:sp>
      <p:sp>
        <p:nvSpPr>
          <p:cNvPr id="27" name="Text 25"/>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A7770"/>
                </a:solidFill>
                <a:latin typeface="Calibri" pitchFamily="34" charset="0"/>
                <a:ea typeface="Calibri" pitchFamily="34" charset="-122"/>
                <a:cs typeface="Calibri" pitchFamily="34" charset="-120"/>
              </a:rPr>
              <a:t>KOM-2026-11 · Dossier client v1.0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TABLE DE PROPRIÉTÉ — 1 / 2</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Du contexte à la signature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914400"/>
        </p:xfrm>
        <a:graphic>
          <a:graphicData uri="http://schemas.openxmlformats.org/drawingml/2006/table">
            <a:tbl>
              <a:tblPr/>
              <a:tblGrid>
                <a:gridCol w="457200"/>
                <a:gridCol w="3017520"/>
                <a:gridCol w="3657600"/>
                <a:gridCol w="2286000"/>
                <a:gridCol w="1655064"/>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Section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Contenu</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Propriétaire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Contexte et enjeu</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Situation de marché, chiffres, période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b="1" dirty="0">
                          <a:solidFill>
                            <a:srgbClr val="10646E"/>
                          </a:solidFill>
                          <a:latin typeface="Calibri" pitchFamily="34" charset="0"/>
                          <a:ea typeface="Calibri" pitchFamily="34" charset="-122"/>
                          <a:cs typeface="Calibri" pitchFamily="34" charset="-120"/>
                        </a:rPr>
                        <a:t>Clientèle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Brief §2, §5</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Ce que nous avons compris</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Problème réel reformulé</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b="1" dirty="0">
                          <a:solidFill>
                            <a:srgbClr val="4A5A93"/>
                          </a:solidFill>
                          <a:latin typeface="Calibri" pitchFamily="34" charset="0"/>
                          <a:ea typeface="Calibri" pitchFamily="34" charset="-122"/>
                          <a:cs typeface="Calibri" pitchFamily="34" charset="-120"/>
                        </a:rPr>
                        <a:t>Planning</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Brief §2</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À qui nous parlons</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Cible, tension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b="1" dirty="0">
                          <a:solidFill>
                            <a:srgbClr val="4A5A93"/>
                          </a:solidFill>
                          <a:latin typeface="Calibri" pitchFamily="34" charset="0"/>
                          <a:ea typeface="Calibri" pitchFamily="34" charset="-122"/>
                          <a:cs typeface="Calibri" pitchFamily="34" charset="-120"/>
                        </a:rPr>
                        <a:t>Planning</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Brief §3</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Le territoire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Axe, bénéfice, reason to believe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b="1" dirty="0">
                          <a:solidFill>
                            <a:srgbClr val="4A5A93"/>
                          </a:solidFill>
                          <a:latin typeface="Calibri" pitchFamily="34" charset="0"/>
                          <a:ea typeface="Calibri" pitchFamily="34" charset="-122"/>
                          <a:cs typeface="Calibri" pitchFamily="34" charset="-120"/>
                        </a:rPr>
                        <a:t>Planning</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Brief §4</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L'idée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Concept, phrase-clé, nom de campagne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b="1" dirty="0">
                          <a:solidFill>
                            <a:srgbClr val="B02118"/>
                          </a:solidFill>
                          <a:latin typeface="Calibri" pitchFamily="34" charset="0"/>
                          <a:ea typeface="Calibri" pitchFamily="34" charset="-122"/>
                          <a:cs typeface="Calibri" pitchFamily="34" charset="-120"/>
                        </a:rPr>
                        <a:t>Création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Plateforme §2</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Pourquoi elle règle le problème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Démonstration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b="1" dirty="0">
                          <a:solidFill>
                            <a:srgbClr val="B02118"/>
                          </a:solidFill>
                          <a:latin typeface="Calibri" pitchFamily="34" charset="0"/>
                          <a:ea typeface="Calibri" pitchFamily="34" charset="-122"/>
                          <a:cs typeface="Calibri" pitchFamily="34" charset="-120"/>
                        </a:rPr>
                        <a:t>Création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Plateforme §3</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La mécanique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Les deux temps, le geste signature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b="1" dirty="0">
                          <a:solidFill>
                            <a:srgbClr val="B02118"/>
                          </a:solidFill>
                          <a:latin typeface="Calibri" pitchFamily="34" charset="0"/>
                          <a:ea typeface="Calibri" pitchFamily="34" charset="-122"/>
                          <a:cs typeface="Calibri" pitchFamily="34" charset="-120"/>
                        </a:rPr>
                        <a:t>Création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Plateforme §4</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La signature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Signature de campagne, accroches</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b="1" dirty="0">
                          <a:solidFill>
                            <a:srgbClr val="B02118"/>
                          </a:solidFill>
                          <a:latin typeface="Calibri" pitchFamily="34" charset="0"/>
                          <a:ea typeface="Calibri" pitchFamily="34" charset="-122"/>
                          <a:cs typeface="Calibri" pitchFamily="34" charset="-120"/>
                        </a:rPr>
                        <a:t>Création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Plateforme §5</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5120640"/>
            <a:ext cx="11057839" cy="320040"/>
          </a:xfrm>
          <a:prstGeom prst="rect">
            <a:avLst/>
          </a:prstGeom>
          <a:noFill/>
          <a:ln/>
        </p:spPr>
        <p:txBody>
          <a:bodyPr wrap="square" lIns="0" tIns="0" rIns="0" bIns="0" rtlCol="0" anchor="ctr"/>
          <a:lstStyle/>
          <a:p>
            <a:pPr indent="0" marL="0">
              <a:buNone/>
            </a:pPr>
            <a:r>
              <a:rPr lang="en-US" sz="1250" b="1" dirty="0">
                <a:solidFill>
                  <a:srgbClr val="B02118"/>
                </a:solidFill>
                <a:latin typeface="Calibri" pitchFamily="34" charset="0"/>
                <a:ea typeface="Calibri" pitchFamily="34" charset="-122"/>
                <a:cs typeface="Calibri" pitchFamily="34" charset="-120"/>
              </a:rPr>
              <a:t>Sections 5 à 8 : contenu verrouillé, propriété de la Création.</a:t>
            </a:r>
            <a:endParaRPr lang="en-US" sz="1250" dirty="0"/>
          </a:p>
        </p:txBody>
      </p:sp>
      <p:sp>
        <p:nvSpPr>
          <p:cNvPr id="6" name="Shape 3"/>
          <p:cNvSpPr/>
          <p:nvPr/>
        </p:nvSpPr>
        <p:spPr>
          <a:xfrm>
            <a:off x="566928" y="6199632"/>
            <a:ext cx="256032" cy="256032"/>
          </a:xfrm>
          <a:prstGeom prst="ellipse">
            <a:avLst/>
          </a:prstGeom>
          <a:solidFill>
            <a:srgbClr val="10646E"/>
          </a:solidFill>
          <a:ln/>
        </p:spPr>
      </p:sp>
      <p:sp>
        <p:nvSpPr>
          <p:cNvPr id="7" name="Text 4"/>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8" name="Text 5"/>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Clientèle</a:t>
            </a:r>
            <a:endParaRPr lang="en-US" sz="950" dirty="0"/>
          </a:p>
        </p:txBody>
      </p:sp>
      <p:sp>
        <p:nvSpPr>
          <p:cNvPr id="9" name="Text 6"/>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Dossier client v1.0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TABLE DE PROPRIÉTÉ — 2 / 2</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Du visuel à la décision</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914400"/>
        </p:xfrm>
        <a:graphic>
          <a:graphicData uri="http://schemas.openxmlformats.org/drawingml/2006/table">
            <a:tbl>
              <a:tblPr/>
              <a:tblGrid>
                <a:gridCol w="457200"/>
                <a:gridCol w="3017520"/>
                <a:gridCol w="3657600"/>
                <a:gridCol w="2286000"/>
                <a:gridCol w="1655064"/>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Section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Contenu</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Propriétaire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Le territoire visuel</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Parti pris, piste recommandée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b="1" dirty="0">
                          <a:solidFill>
                            <a:srgbClr val="B07714"/>
                          </a:solidFill>
                          <a:latin typeface="Calibri" pitchFamily="34" charset="0"/>
                          <a:ea typeface="Calibri" pitchFamily="34" charset="-122"/>
                          <a:cs typeface="Calibri" pitchFamily="34" charset="-120"/>
                        </a:rPr>
                        <a:t>Artistique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Reco §2, §3</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Les déclinaisons</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Formats, points de contact</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b="1" dirty="0">
                          <a:solidFill>
                            <a:srgbClr val="B07714"/>
                          </a:solidFill>
                          <a:latin typeface="Calibri" pitchFamily="34" charset="0"/>
                          <a:ea typeface="Calibri" pitchFamily="34" charset="-122"/>
                          <a:cs typeface="Calibri" pitchFamily="34" charset="-120"/>
                        </a:rPr>
                        <a:t>Artistique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Reco §5, §7</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Le dispositif</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Média, calendrier, terrain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b="1" dirty="0">
                          <a:solidFill>
                            <a:srgbClr val="10646E"/>
                          </a:solidFill>
                          <a:latin typeface="Calibri" pitchFamily="34" charset="0"/>
                          <a:ea typeface="Calibri" pitchFamily="34" charset="-122"/>
                          <a:cs typeface="Calibri" pitchFamily="34" charset="-120"/>
                        </a:rPr>
                        <a:t>Clientèle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Brief §6, §7</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Production et délais</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Charge, chemin critique, risques</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b="1" dirty="0">
                          <a:solidFill>
                            <a:srgbClr val="B02118"/>
                          </a:solidFill>
                          <a:latin typeface="Calibri" pitchFamily="34" charset="0"/>
                          <a:ea typeface="Calibri" pitchFamily="34" charset="-122"/>
                          <a:cs typeface="Calibri" pitchFamily="34" charset="-120"/>
                        </a:rPr>
                        <a:t>Création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Plateforme §9</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Conditions et budget</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Prix, conditions, périmètre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b="1" dirty="0">
                          <a:solidFill>
                            <a:srgbClr val="10646E"/>
                          </a:solidFill>
                          <a:latin typeface="Calibri" pitchFamily="34" charset="0"/>
                          <a:ea typeface="Calibri" pitchFamily="34" charset="-122"/>
                          <a:cs typeface="Calibri" pitchFamily="34" charset="-120"/>
                        </a:rPr>
                        <a:t>Clientèle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Annexe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47472">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Ce que nous demandons</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Décisions attendues aujourd'hui</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Clientèle + Création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Plateforme §10</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114800"/>
            <a:ext cx="11057839" cy="1554480"/>
          </a:xfrm>
          <a:prstGeom prst="roundRect">
            <a:avLst>
              <a:gd name="adj" fmla="val 3529"/>
            </a:avLst>
          </a:prstGeom>
          <a:solidFill>
            <a:srgbClr val="F3EEE9"/>
          </a:solidFill>
          <a:ln/>
        </p:spPr>
      </p:sp>
      <p:sp>
        <p:nvSpPr>
          <p:cNvPr id="6" name="Text 3"/>
          <p:cNvSpPr/>
          <p:nvPr/>
        </p:nvSpPr>
        <p:spPr>
          <a:xfrm>
            <a:off x="886968" y="4315968"/>
            <a:ext cx="10417759" cy="274320"/>
          </a:xfrm>
          <a:prstGeom prst="rect">
            <a:avLst/>
          </a:prstGeom>
          <a:noFill/>
          <a:ln/>
        </p:spPr>
        <p:txBody>
          <a:bodyPr wrap="square" lIns="0" tIns="0" rIns="0" bIns="0" rtlCol="0" anchor="ctr"/>
          <a:lstStyle/>
          <a:p>
            <a:pPr indent="0" marL="0">
              <a:buNone/>
            </a:pPr>
            <a:r>
              <a:rPr lang="en-US" sz="1500" b="1" dirty="0">
                <a:solidFill>
                  <a:srgbClr val="1F1512"/>
                </a:solidFill>
                <a:latin typeface="Cambria" pitchFamily="34" charset="0"/>
                <a:ea typeface="Cambria" pitchFamily="34" charset="-122"/>
                <a:cs typeface="Cambria" pitchFamily="34" charset="-120"/>
              </a:rPr>
              <a:t>Traçabilité</a:t>
            </a:r>
            <a:endParaRPr lang="en-US" sz="1500" dirty="0"/>
          </a:p>
        </p:txBody>
      </p:sp>
      <p:sp>
        <p:nvSpPr>
          <p:cNvPr id="7" name="Text 4"/>
          <p:cNvSpPr/>
          <p:nvPr/>
        </p:nvSpPr>
        <p:spPr>
          <a:xfrm>
            <a:off x="886968" y="4645152"/>
            <a:ext cx="10417759" cy="777240"/>
          </a:xfrm>
          <a:prstGeom prst="rect">
            <a:avLst/>
          </a:prstGeom>
          <a:noFill/>
          <a:ln/>
        </p:spPr>
        <p:txBody>
          <a:bodyPr wrap="square" lIns="0" tIns="0" rIns="0" bIns="0" rtlCol="0" anchor="ctr"/>
          <a:lstStyle/>
          <a:p>
            <a:pPr indent="0" marL="0">
              <a:lnSpc>
                <a:spcPts val="2100"/>
              </a:lnSpc>
              <a:buNone/>
            </a:pPr>
            <a:r>
              <a:rPr lang="en-US" sz="1350" dirty="0">
                <a:solidFill>
                  <a:srgbClr val="3E322C"/>
                </a:solidFill>
                <a:latin typeface="Calibri" pitchFamily="34" charset="0"/>
                <a:ea typeface="Calibri" pitchFamily="34" charset="-122"/>
                <a:cs typeface="Calibri" pitchFamily="34" charset="-120"/>
              </a:rPr>
              <a:t>Toute page qui n'est traçable à aucune des trois sources est irrecevable. Si une page manque, elle est demandée à son propriétaire — elle n'est pas écrite par le monteur.</a:t>
            </a:r>
            <a:endParaRPr lang="en-US" sz="1350" dirty="0"/>
          </a:p>
        </p:txBody>
      </p:sp>
      <p:sp>
        <p:nvSpPr>
          <p:cNvPr id="8" name="Shape 5"/>
          <p:cNvSpPr/>
          <p:nvPr/>
        </p:nvSpPr>
        <p:spPr>
          <a:xfrm>
            <a:off x="566928" y="6199632"/>
            <a:ext cx="256032" cy="256032"/>
          </a:xfrm>
          <a:prstGeom prst="ellipse">
            <a:avLst/>
          </a:prstGeom>
          <a:solidFill>
            <a:srgbClr val="10646E"/>
          </a:solidFill>
          <a:ln/>
        </p:spPr>
      </p:sp>
      <p:sp>
        <p:nvSpPr>
          <p:cNvPr id="9" name="Text 6"/>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0" name="Text 7"/>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Clientèle</a:t>
            </a:r>
            <a:endParaRPr lang="en-US" sz="950" dirty="0"/>
          </a:p>
        </p:txBody>
      </p:sp>
      <p:sp>
        <p:nvSpPr>
          <p:cNvPr id="11" name="Text 8"/>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Dossier client v1.0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RÈGLES DE MONTAGE</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Ce que l'ordre des pages produit</a:t>
            </a:r>
            <a:endParaRPr lang="en-US" sz="3000" dirty="0"/>
          </a:p>
        </p:txBody>
      </p:sp>
      <p:sp>
        <p:nvSpPr>
          <p:cNvPr id="4" name="Shape 2"/>
          <p:cNvSpPr/>
          <p:nvPr/>
        </p:nvSpPr>
        <p:spPr>
          <a:xfrm>
            <a:off x="566928" y="1645920"/>
            <a:ext cx="11057839" cy="896112"/>
          </a:xfrm>
          <a:prstGeom prst="roundRect">
            <a:avLst>
              <a:gd name="adj" fmla="val 5102"/>
            </a:avLst>
          </a:prstGeom>
          <a:solidFill>
            <a:srgbClr val="F3EEE9"/>
          </a:solidFill>
          <a:ln/>
        </p:spPr>
      </p:sp>
      <p:sp>
        <p:nvSpPr>
          <p:cNvPr id="5" name="Shape 3"/>
          <p:cNvSpPr/>
          <p:nvPr/>
        </p:nvSpPr>
        <p:spPr>
          <a:xfrm>
            <a:off x="841248" y="1911096"/>
            <a:ext cx="365760" cy="365760"/>
          </a:xfrm>
          <a:prstGeom prst="ellipse">
            <a:avLst/>
          </a:prstGeom>
          <a:solidFill>
            <a:srgbClr val="10646E"/>
          </a:solidFill>
          <a:ln/>
        </p:spPr>
      </p:sp>
      <p:sp>
        <p:nvSpPr>
          <p:cNvPr id="6" name="Text 4"/>
          <p:cNvSpPr/>
          <p:nvPr/>
        </p:nvSpPr>
        <p:spPr>
          <a:xfrm>
            <a:off x="841248" y="191109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89888" y="1773936"/>
            <a:ext cx="3291840" cy="365760"/>
          </a:xfrm>
          <a:prstGeom prst="rect">
            <a:avLst/>
          </a:prstGeom>
          <a:noFill/>
          <a:ln/>
        </p:spPr>
        <p:txBody>
          <a:bodyPr wrap="square" lIns="0" tIns="0" rIns="0" bIns="0" rtlCol="0" anchor="ctr"/>
          <a:lstStyle/>
          <a:p>
            <a:pPr indent="0" marL="0">
              <a:buNone/>
            </a:pPr>
            <a:r>
              <a:rPr lang="en-US" sz="1550" b="1" dirty="0">
                <a:solidFill>
                  <a:srgbClr val="1F1512"/>
                </a:solidFill>
                <a:latin typeface="Cambria" pitchFamily="34" charset="0"/>
                <a:ea typeface="Cambria" pitchFamily="34" charset="-122"/>
                <a:cs typeface="Cambria" pitchFamily="34" charset="-120"/>
              </a:rPr>
              <a:t>L'ordre est imposé</a:t>
            </a:r>
            <a:endParaRPr lang="en-US" sz="1550" dirty="0"/>
          </a:p>
        </p:txBody>
      </p:sp>
      <p:sp>
        <p:nvSpPr>
          <p:cNvPr id="8" name="Text 6"/>
          <p:cNvSpPr/>
          <p:nvPr/>
        </p:nvSpPr>
        <p:spPr>
          <a:xfrm>
            <a:off x="4773168" y="1737360"/>
            <a:ext cx="6485839" cy="713232"/>
          </a:xfrm>
          <a:prstGeom prst="rect">
            <a:avLst/>
          </a:prstGeom>
          <a:noFill/>
          <a:ln/>
        </p:spPr>
        <p:txBody>
          <a:bodyPr wrap="square" lIns="0" tIns="0" rIns="0" bIns="0" rtlCol="0" anchor="ctr"/>
          <a:lstStyle/>
          <a:p>
            <a:pPr indent="0" marL="0">
              <a:lnSpc>
                <a:spcPts val="1800"/>
              </a:lnSpc>
              <a:buNone/>
            </a:pPr>
            <a:r>
              <a:rPr lang="en-US" sz="1250" dirty="0">
                <a:solidFill>
                  <a:srgbClr val="3E322C"/>
                </a:solidFill>
                <a:latin typeface="Calibri" pitchFamily="34" charset="0"/>
                <a:ea typeface="Calibri" pitchFamily="34" charset="-122"/>
                <a:cs typeface="Calibri" pitchFamily="34" charset="-120"/>
              </a:rPr>
              <a:t>Le problème avant l'idée, l'idée avant l'exécution, le prix en dernier. Une exécution montrée avant l'idée transforme la séance en jugement esthétique.</a:t>
            </a:r>
            <a:endParaRPr lang="en-US" sz="1250" dirty="0"/>
          </a:p>
        </p:txBody>
      </p:sp>
      <p:sp>
        <p:nvSpPr>
          <p:cNvPr id="9" name="Shape 7"/>
          <p:cNvSpPr/>
          <p:nvPr/>
        </p:nvSpPr>
        <p:spPr>
          <a:xfrm>
            <a:off x="566928" y="2670048"/>
            <a:ext cx="11057839" cy="896112"/>
          </a:xfrm>
          <a:prstGeom prst="roundRect">
            <a:avLst>
              <a:gd name="adj" fmla="val 5102"/>
            </a:avLst>
          </a:prstGeom>
          <a:solidFill>
            <a:srgbClr val="FFFFFF"/>
          </a:solidFill>
          <a:ln/>
        </p:spPr>
      </p:sp>
      <p:sp>
        <p:nvSpPr>
          <p:cNvPr id="10" name="Shape 8"/>
          <p:cNvSpPr/>
          <p:nvPr/>
        </p:nvSpPr>
        <p:spPr>
          <a:xfrm>
            <a:off x="841248" y="2935224"/>
            <a:ext cx="365760" cy="365760"/>
          </a:xfrm>
          <a:prstGeom prst="ellipse">
            <a:avLst/>
          </a:prstGeom>
          <a:solidFill>
            <a:srgbClr val="10646E"/>
          </a:solidFill>
          <a:ln/>
        </p:spPr>
      </p:sp>
      <p:sp>
        <p:nvSpPr>
          <p:cNvPr id="11" name="Text 9"/>
          <p:cNvSpPr/>
          <p:nvPr/>
        </p:nvSpPr>
        <p:spPr>
          <a:xfrm>
            <a:off x="841248" y="29352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389888" y="2798064"/>
            <a:ext cx="3291840" cy="365760"/>
          </a:xfrm>
          <a:prstGeom prst="rect">
            <a:avLst/>
          </a:prstGeom>
          <a:noFill/>
          <a:ln/>
        </p:spPr>
        <p:txBody>
          <a:bodyPr wrap="square" lIns="0" tIns="0" rIns="0" bIns="0" rtlCol="0" anchor="ctr"/>
          <a:lstStyle/>
          <a:p>
            <a:pPr indent="0" marL="0">
              <a:buNone/>
            </a:pPr>
            <a:r>
              <a:rPr lang="en-US" sz="1550" b="1" dirty="0">
                <a:solidFill>
                  <a:srgbClr val="1F1512"/>
                </a:solidFill>
                <a:latin typeface="Cambria" pitchFamily="34" charset="0"/>
                <a:ea typeface="Cambria" pitchFamily="34" charset="-122"/>
                <a:cs typeface="Cambria" pitchFamily="34" charset="-120"/>
              </a:rPr>
              <a:t>Une seule recommandation</a:t>
            </a:r>
            <a:endParaRPr lang="en-US" sz="1550" dirty="0"/>
          </a:p>
        </p:txBody>
      </p:sp>
      <p:sp>
        <p:nvSpPr>
          <p:cNvPr id="13" name="Text 11"/>
          <p:cNvSpPr/>
          <p:nvPr/>
        </p:nvSpPr>
        <p:spPr>
          <a:xfrm>
            <a:off x="4773168" y="2761488"/>
            <a:ext cx="6485839" cy="713232"/>
          </a:xfrm>
          <a:prstGeom prst="rect">
            <a:avLst/>
          </a:prstGeom>
          <a:noFill/>
          <a:ln/>
        </p:spPr>
        <p:txBody>
          <a:bodyPr wrap="square" lIns="0" tIns="0" rIns="0" bIns="0" rtlCol="0" anchor="ctr"/>
          <a:lstStyle/>
          <a:p>
            <a:pPr indent="0" marL="0">
              <a:lnSpc>
                <a:spcPts val="1800"/>
              </a:lnSpc>
              <a:buNone/>
            </a:pPr>
            <a:r>
              <a:rPr lang="en-US" sz="1250" dirty="0">
                <a:solidFill>
                  <a:srgbClr val="3E322C"/>
                </a:solidFill>
                <a:latin typeface="Calibri" pitchFamily="34" charset="0"/>
                <a:ea typeface="Calibri" pitchFamily="34" charset="-122"/>
                <a:cs typeface="Calibri" pitchFamily="34" charset="-120"/>
              </a:rPr>
              <a:t>Le dossier ne présente pas un menu de pistes à égalité. Les routes écartées figurent avec leur motif d'écartement.</a:t>
            </a:r>
            <a:endParaRPr lang="en-US" sz="1250" dirty="0"/>
          </a:p>
        </p:txBody>
      </p:sp>
      <p:sp>
        <p:nvSpPr>
          <p:cNvPr id="14" name="Shape 12"/>
          <p:cNvSpPr/>
          <p:nvPr/>
        </p:nvSpPr>
        <p:spPr>
          <a:xfrm>
            <a:off x="566928" y="3694176"/>
            <a:ext cx="11057839" cy="896112"/>
          </a:xfrm>
          <a:prstGeom prst="roundRect">
            <a:avLst>
              <a:gd name="adj" fmla="val 5102"/>
            </a:avLst>
          </a:prstGeom>
          <a:solidFill>
            <a:srgbClr val="F3EEE9"/>
          </a:solidFill>
          <a:ln/>
        </p:spPr>
      </p:sp>
      <p:sp>
        <p:nvSpPr>
          <p:cNvPr id="15" name="Shape 13"/>
          <p:cNvSpPr/>
          <p:nvPr/>
        </p:nvSpPr>
        <p:spPr>
          <a:xfrm>
            <a:off x="841248" y="3959352"/>
            <a:ext cx="365760" cy="365760"/>
          </a:xfrm>
          <a:prstGeom prst="ellipse">
            <a:avLst/>
          </a:prstGeom>
          <a:solidFill>
            <a:srgbClr val="10646E"/>
          </a:solidFill>
          <a:ln/>
        </p:spPr>
      </p:sp>
      <p:sp>
        <p:nvSpPr>
          <p:cNvPr id="16" name="Text 14"/>
          <p:cNvSpPr/>
          <p:nvPr/>
        </p:nvSpPr>
        <p:spPr>
          <a:xfrm>
            <a:off x="841248" y="395935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389888" y="3822192"/>
            <a:ext cx="3291840" cy="365760"/>
          </a:xfrm>
          <a:prstGeom prst="rect">
            <a:avLst/>
          </a:prstGeom>
          <a:noFill/>
          <a:ln/>
        </p:spPr>
        <p:txBody>
          <a:bodyPr wrap="square" lIns="0" tIns="0" rIns="0" bIns="0" rtlCol="0" anchor="ctr"/>
          <a:lstStyle/>
          <a:p>
            <a:pPr indent="0" marL="0">
              <a:buNone/>
            </a:pPr>
            <a:r>
              <a:rPr lang="en-US" sz="1550" b="1" dirty="0">
                <a:solidFill>
                  <a:srgbClr val="1F1512"/>
                </a:solidFill>
                <a:latin typeface="Cambria" pitchFamily="34" charset="0"/>
                <a:ea typeface="Cambria" pitchFamily="34" charset="-122"/>
                <a:cs typeface="Cambria" pitchFamily="34" charset="-120"/>
              </a:rPr>
              <a:t>Pas de page « options »</a:t>
            </a:r>
            <a:endParaRPr lang="en-US" sz="1550" dirty="0"/>
          </a:p>
        </p:txBody>
      </p:sp>
      <p:sp>
        <p:nvSpPr>
          <p:cNvPr id="18" name="Text 16"/>
          <p:cNvSpPr/>
          <p:nvPr/>
        </p:nvSpPr>
        <p:spPr>
          <a:xfrm>
            <a:off x="4773168" y="3785616"/>
            <a:ext cx="6485839" cy="713232"/>
          </a:xfrm>
          <a:prstGeom prst="rect">
            <a:avLst/>
          </a:prstGeom>
          <a:noFill/>
          <a:ln/>
        </p:spPr>
        <p:txBody>
          <a:bodyPr wrap="square" lIns="0" tIns="0" rIns="0" bIns="0" rtlCol="0" anchor="ctr"/>
          <a:lstStyle/>
          <a:p>
            <a:pPr indent="0" marL="0">
              <a:lnSpc>
                <a:spcPts val="1800"/>
              </a:lnSpc>
              <a:buNone/>
            </a:pPr>
            <a:r>
              <a:rPr lang="en-US" sz="1250" dirty="0">
                <a:solidFill>
                  <a:srgbClr val="3E322C"/>
                </a:solidFill>
                <a:latin typeface="Calibri" pitchFamily="34" charset="0"/>
                <a:ea typeface="Calibri" pitchFamily="34" charset="-122"/>
                <a:cs typeface="Calibri" pitchFamily="34" charset="-120"/>
              </a:rPr>
              <a:t>Un client qui choisit à la carte compose une campagne que personne n'a conçue.</a:t>
            </a:r>
            <a:endParaRPr lang="en-US" sz="1250" dirty="0"/>
          </a:p>
        </p:txBody>
      </p:sp>
      <p:sp>
        <p:nvSpPr>
          <p:cNvPr id="19" name="Shape 17"/>
          <p:cNvSpPr/>
          <p:nvPr/>
        </p:nvSpPr>
        <p:spPr>
          <a:xfrm>
            <a:off x="566928" y="4718304"/>
            <a:ext cx="11057839" cy="896112"/>
          </a:xfrm>
          <a:prstGeom prst="roundRect">
            <a:avLst>
              <a:gd name="adj" fmla="val 5102"/>
            </a:avLst>
          </a:prstGeom>
          <a:solidFill>
            <a:srgbClr val="FFFFFF"/>
          </a:solidFill>
          <a:ln/>
        </p:spPr>
      </p:sp>
      <p:sp>
        <p:nvSpPr>
          <p:cNvPr id="20" name="Shape 18"/>
          <p:cNvSpPr/>
          <p:nvPr/>
        </p:nvSpPr>
        <p:spPr>
          <a:xfrm>
            <a:off x="841248" y="4983480"/>
            <a:ext cx="365760" cy="365760"/>
          </a:xfrm>
          <a:prstGeom prst="ellipse">
            <a:avLst/>
          </a:prstGeom>
          <a:solidFill>
            <a:srgbClr val="10646E"/>
          </a:solidFill>
          <a:ln/>
        </p:spPr>
      </p:sp>
      <p:sp>
        <p:nvSpPr>
          <p:cNvPr id="21" name="Text 19"/>
          <p:cNvSpPr/>
          <p:nvPr/>
        </p:nvSpPr>
        <p:spPr>
          <a:xfrm>
            <a:off x="841248" y="4983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389888" y="4846320"/>
            <a:ext cx="3291840" cy="365760"/>
          </a:xfrm>
          <a:prstGeom prst="rect">
            <a:avLst/>
          </a:prstGeom>
          <a:noFill/>
          <a:ln/>
        </p:spPr>
        <p:txBody>
          <a:bodyPr wrap="square" lIns="0" tIns="0" rIns="0" bIns="0" rtlCol="0" anchor="ctr"/>
          <a:lstStyle/>
          <a:p>
            <a:pPr indent="0" marL="0">
              <a:buNone/>
            </a:pPr>
            <a:r>
              <a:rPr lang="en-US" sz="1550" b="1" dirty="0">
                <a:solidFill>
                  <a:srgbClr val="1F1512"/>
                </a:solidFill>
                <a:latin typeface="Cambria" pitchFamily="34" charset="0"/>
                <a:ea typeface="Cambria" pitchFamily="34" charset="-122"/>
                <a:cs typeface="Cambria" pitchFamily="34" charset="-120"/>
              </a:rPr>
              <a:t>Le budget ne précède jamais l'idée</a:t>
            </a:r>
            <a:endParaRPr lang="en-US" sz="1550" dirty="0"/>
          </a:p>
        </p:txBody>
      </p:sp>
      <p:sp>
        <p:nvSpPr>
          <p:cNvPr id="23" name="Text 21"/>
          <p:cNvSpPr/>
          <p:nvPr/>
        </p:nvSpPr>
        <p:spPr>
          <a:xfrm>
            <a:off x="4773168" y="4809744"/>
            <a:ext cx="6485839" cy="713232"/>
          </a:xfrm>
          <a:prstGeom prst="rect">
            <a:avLst/>
          </a:prstGeom>
          <a:noFill/>
          <a:ln/>
        </p:spPr>
        <p:txBody>
          <a:bodyPr wrap="square" lIns="0" tIns="0" rIns="0" bIns="0" rtlCol="0" anchor="ctr"/>
          <a:lstStyle/>
          <a:p>
            <a:pPr indent="0" marL="0">
              <a:lnSpc>
                <a:spcPts val="1800"/>
              </a:lnSpc>
              <a:buNone/>
            </a:pPr>
            <a:r>
              <a:rPr lang="en-US" sz="1250" dirty="0">
                <a:solidFill>
                  <a:srgbClr val="3E322C"/>
                </a:solidFill>
                <a:latin typeface="Calibri" pitchFamily="34" charset="0"/>
                <a:ea typeface="Calibri" pitchFamily="34" charset="-122"/>
                <a:cs typeface="Calibri" pitchFamily="34" charset="-120"/>
              </a:rPr>
              <a:t>Une idée lue après un chiffre est lue comme une dépense.</a:t>
            </a:r>
            <a:endParaRPr lang="en-US" sz="1250" dirty="0"/>
          </a:p>
        </p:txBody>
      </p:sp>
      <p:sp>
        <p:nvSpPr>
          <p:cNvPr id="24" name="Text 22"/>
          <p:cNvSpPr/>
          <p:nvPr/>
        </p:nvSpPr>
        <p:spPr>
          <a:xfrm>
            <a:off x="566928" y="5806440"/>
            <a:ext cx="11057839" cy="320040"/>
          </a:xfrm>
          <a:prstGeom prst="rect">
            <a:avLst/>
          </a:prstGeom>
          <a:noFill/>
          <a:ln/>
        </p:spPr>
        <p:txBody>
          <a:bodyPr wrap="square" lIns="0" tIns="0" rIns="0" bIns="0" rtlCol="0" anchor="ctr"/>
          <a:lstStyle/>
          <a:p>
            <a:pPr indent="0" marL="0">
              <a:buNone/>
            </a:pPr>
            <a:r>
              <a:rPr lang="en-US" sz="1200" i="1" dirty="0">
                <a:solidFill>
                  <a:srgbClr val="8C7B72"/>
                </a:solidFill>
                <a:latin typeface="Calibri" pitchFamily="34" charset="0"/>
                <a:ea typeface="Calibri" pitchFamily="34" charset="-122"/>
                <a:cs typeface="Calibri" pitchFamily="34" charset="-120"/>
              </a:rPr>
              <a:t>Toute coupe dans une section verrouillée est signalée à son propriétaire avant impression — jamais découverte en séance.</a:t>
            </a:r>
            <a:endParaRPr lang="en-US" sz="1200" dirty="0"/>
          </a:p>
        </p:txBody>
      </p:sp>
      <p:sp>
        <p:nvSpPr>
          <p:cNvPr id="25" name="Shape 23"/>
          <p:cNvSpPr/>
          <p:nvPr/>
        </p:nvSpPr>
        <p:spPr>
          <a:xfrm>
            <a:off x="566928" y="6199632"/>
            <a:ext cx="256032" cy="256032"/>
          </a:xfrm>
          <a:prstGeom prst="ellipse">
            <a:avLst/>
          </a:prstGeom>
          <a:solidFill>
            <a:srgbClr val="10646E"/>
          </a:solidFill>
          <a:ln/>
        </p:spPr>
      </p:sp>
      <p:sp>
        <p:nvSpPr>
          <p:cNvPr id="26" name="Text 24"/>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Clientèle</a:t>
            </a:r>
            <a:endParaRPr lang="en-US" sz="950" dirty="0"/>
          </a:p>
        </p:txBody>
      </p:sp>
      <p:sp>
        <p:nvSpPr>
          <p:cNvPr id="28" name="Text 26"/>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Dossier client v1.0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RÈGLES DE PRÉSENTATION</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Qui parle sur quelle page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914400"/>
        </p:xfrm>
        <a:graphic>
          <a:graphicData uri="http://schemas.openxmlformats.org/drawingml/2006/table">
            <a:tbl>
              <a:tblPr/>
              <a:tblGrid>
                <a:gridCol w="2926080"/>
                <a:gridCol w="4023360"/>
                <a:gridCol w="4123944"/>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Sections</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Qui présente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Qui n'intervient pas</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r>
              <a:tr h="384048">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1 · 11 · 13</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b="1" dirty="0">
                          <a:solidFill>
                            <a:srgbClr val="10646E"/>
                          </a:solidFill>
                          <a:latin typeface="Calibri" pitchFamily="34" charset="0"/>
                          <a:ea typeface="Calibri" pitchFamily="34" charset="-122"/>
                          <a:cs typeface="Calibri" pitchFamily="34" charset="-120"/>
                        </a:rPr>
                        <a:t>Clientèle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84048">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2 · 3 · 4</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b="1" dirty="0">
                          <a:solidFill>
                            <a:srgbClr val="4A5A93"/>
                          </a:solidFill>
                          <a:latin typeface="Calibri" pitchFamily="34" charset="0"/>
                          <a:ea typeface="Calibri" pitchFamily="34" charset="-122"/>
                          <a:cs typeface="Calibri" pitchFamily="34" charset="-120"/>
                        </a:rPr>
                        <a:t>Planning</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5 à 8 — l'idée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b="1" dirty="0">
                          <a:solidFill>
                            <a:srgbClr val="B02118"/>
                          </a:solidFill>
                          <a:latin typeface="Calibri" pitchFamily="34" charset="0"/>
                          <a:ea typeface="Calibri" pitchFamily="34" charset="-122"/>
                          <a:cs typeface="Calibri" pitchFamily="34" charset="-120"/>
                        </a:rPr>
                        <a:t>Création</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La Clientèle ne présente pas l'idée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84048">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9 · 10 — le visuel</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b="1" dirty="0">
                          <a:solidFill>
                            <a:srgbClr val="B07714"/>
                          </a:solidFill>
                          <a:latin typeface="Calibri" pitchFamily="34" charset="0"/>
                          <a:ea typeface="Calibri" pitchFamily="34" charset="-122"/>
                          <a:cs typeface="Calibri" pitchFamily="34" charset="-120"/>
                        </a:rPr>
                        <a:t>Artistique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12 — production</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b="1" dirty="0">
                          <a:solidFill>
                            <a:srgbClr val="B02118"/>
                          </a:solidFill>
                          <a:latin typeface="Calibri" pitchFamily="34" charset="0"/>
                          <a:ea typeface="Calibri" pitchFamily="34" charset="-122"/>
                          <a:cs typeface="Calibri" pitchFamily="34" charset="-120"/>
                        </a:rPr>
                        <a:t>Création</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La Clientèle ne s'engage pas sur les délais</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84048">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14 — la décision</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Clientèle et Création, ensemble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434840"/>
            <a:ext cx="11057839" cy="1234440"/>
          </a:xfrm>
          <a:prstGeom prst="roundRect">
            <a:avLst>
              <a:gd name="adj" fmla="val 4444"/>
            </a:avLst>
          </a:prstGeom>
          <a:solidFill>
            <a:srgbClr val="1F1512"/>
          </a:solidFill>
          <a:ln/>
        </p:spPr>
      </p:sp>
      <p:sp>
        <p:nvSpPr>
          <p:cNvPr id="6" name="Text 3"/>
          <p:cNvSpPr/>
          <p:nvPr/>
        </p:nvSpPr>
        <p:spPr>
          <a:xfrm>
            <a:off x="932688" y="4434840"/>
            <a:ext cx="10326319" cy="1234440"/>
          </a:xfrm>
          <a:prstGeom prst="rect">
            <a:avLst/>
          </a:prstGeom>
          <a:noFill/>
          <a:ln/>
        </p:spPr>
        <p:txBody>
          <a:bodyPr wrap="square" lIns="0" tIns="0" rIns="0" bIns="0" rtlCol="0" anchor="ctr"/>
          <a:lstStyle/>
          <a:p>
            <a:pPr indent="0" marL="0">
              <a:lnSpc>
                <a:spcPts val="2300"/>
              </a:lnSpc>
              <a:buNone/>
            </a:pPr>
            <a:r>
              <a:rPr lang="en-US" sz="1500" b="1" dirty="0">
                <a:solidFill>
                  <a:srgbClr val="FFFFFF"/>
                </a:solidFill>
                <a:latin typeface="Cambria" pitchFamily="34" charset="0"/>
                <a:ea typeface="Cambria" pitchFamily="34" charset="-122"/>
                <a:cs typeface="Cambria" pitchFamily="34" charset="-120"/>
              </a:rPr>
              <a:t>Règle absolue : personne ne présente une page dont il n'est pas propriétaire. Une idée défendue par quelqu'un qui ne l'a pas conçue ne survit pas à la première objection sérieuse.</a:t>
            </a:r>
            <a:endParaRPr lang="en-US" sz="1500" dirty="0"/>
          </a:p>
        </p:txBody>
      </p:sp>
      <p:sp>
        <p:nvSpPr>
          <p:cNvPr id="7" name="Shape 4"/>
          <p:cNvSpPr/>
          <p:nvPr/>
        </p:nvSpPr>
        <p:spPr>
          <a:xfrm>
            <a:off x="566928" y="6199632"/>
            <a:ext cx="256032" cy="256032"/>
          </a:xfrm>
          <a:prstGeom prst="ellipse">
            <a:avLst/>
          </a:prstGeom>
          <a:solidFill>
            <a:srgbClr val="10646E"/>
          </a:solidFill>
          <a:ln/>
        </p:spPr>
      </p:sp>
      <p:sp>
        <p:nvSpPr>
          <p:cNvPr id="8" name="Text 5"/>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9" name="Text 6"/>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BFAFA6"/>
                </a:solidFill>
                <a:latin typeface="Calibri" pitchFamily="34" charset="0"/>
                <a:ea typeface="Calibri" pitchFamily="34" charset="-122"/>
                <a:cs typeface="Calibri" pitchFamily="34" charset="-120"/>
              </a:rPr>
              <a:t>Direction Clientèle</a:t>
            </a:r>
            <a:endParaRPr lang="en-US" sz="950" dirty="0"/>
          </a:p>
        </p:txBody>
      </p:sp>
      <p:sp>
        <p:nvSpPr>
          <p:cNvPr id="10" name="Text 7"/>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A7770"/>
                </a:solidFill>
                <a:latin typeface="Calibri" pitchFamily="34" charset="0"/>
                <a:ea typeface="Calibri" pitchFamily="34" charset="-122"/>
                <a:cs typeface="Calibri" pitchFamily="34" charset="-120"/>
              </a:rPr>
              <a:t>KOM-2026-11 · Dossier client v1.0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CONDUITE DE SÉANCE</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Qui répond à quelle objection</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914400"/>
        </p:xfrm>
        <a:graphic>
          <a:graphicData uri="http://schemas.openxmlformats.org/drawingml/2006/table">
            <a:tbl>
              <a:tblPr/>
              <a:tblGrid>
                <a:gridCol w="4937760"/>
                <a:gridCol w="3840480"/>
                <a:gridCol w="2295144"/>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Objection du client</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Répond</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Ne répond pas</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r>
              <a:tr h="384048">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 C'est trop austère, je ne me reconnais pas »</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b="1" dirty="0">
                          <a:solidFill>
                            <a:srgbClr val="B02118"/>
                          </a:solidFill>
                          <a:latin typeface="Calibri" pitchFamily="34" charset="0"/>
                          <a:ea typeface="Calibri" pitchFamily="34" charset="-122"/>
                          <a:cs typeface="Calibri" pitchFamily="34" charset="-120"/>
                        </a:rPr>
                        <a:t>Création</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Clientèle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84048">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 Le concurrent fait déjà ça »</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b="1" dirty="0">
                          <a:solidFill>
                            <a:srgbClr val="B02118"/>
                          </a:solidFill>
                          <a:latin typeface="Calibri" pitchFamily="34" charset="0"/>
                          <a:ea typeface="Calibri" pitchFamily="34" charset="-122"/>
                          <a:cs typeface="Calibri" pitchFamily="34" charset="-120"/>
                        </a:rPr>
                        <a:t>Création</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 C'est trop cher »</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b="1" dirty="0">
                          <a:solidFill>
                            <a:srgbClr val="10646E"/>
                          </a:solidFill>
                          <a:latin typeface="Calibri" pitchFamily="34" charset="0"/>
                          <a:ea typeface="Calibri" pitchFamily="34" charset="-122"/>
                          <a:cs typeface="Calibri" pitchFamily="34" charset="-120"/>
                        </a:rPr>
                        <a:t>Clientèle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Création</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84048">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 On peut l'avoir pour le 20 ? »</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b="1" dirty="0">
                          <a:solidFill>
                            <a:srgbClr val="B02118"/>
                          </a:solidFill>
                          <a:latin typeface="Calibri" pitchFamily="34" charset="0"/>
                          <a:ea typeface="Calibri" pitchFamily="34" charset="-122"/>
                          <a:cs typeface="Calibri" pitchFamily="34" charset="-120"/>
                        </a:rPr>
                        <a:t>Création puis Clientèle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 On peut enlever la première vague ? »</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b="1" dirty="0">
                          <a:solidFill>
                            <a:srgbClr val="B02118"/>
                          </a:solidFill>
                          <a:latin typeface="Calibri" pitchFamily="34" charset="0"/>
                          <a:ea typeface="Calibri" pitchFamily="34" charset="-122"/>
                          <a:cs typeface="Calibri" pitchFamily="34" charset="-120"/>
                        </a:rPr>
                        <a:t>Création — c'est un refus, pas un arbitrage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Clientèle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84048">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 Vous avez d'autres pistes ? »</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b="1" dirty="0">
                          <a:solidFill>
                            <a:srgbClr val="B02118"/>
                          </a:solidFill>
                          <a:latin typeface="Calibri" pitchFamily="34" charset="0"/>
                          <a:ea typeface="Calibri" pitchFamily="34" charset="-122"/>
                          <a:cs typeface="Calibri" pitchFamily="34" charset="-120"/>
                        </a:rPr>
                        <a:t>Création</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Clientèle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4480560"/>
            <a:ext cx="11057839" cy="365760"/>
          </a:xfrm>
          <a:prstGeom prst="rect">
            <a:avLst/>
          </a:prstGeom>
          <a:noFill/>
          <a:ln/>
        </p:spPr>
        <p:txBody>
          <a:bodyPr wrap="square" lIns="0" tIns="0" rIns="0" bIns="0" rtlCol="0" anchor="ctr"/>
          <a:lstStyle/>
          <a:p>
            <a:pPr indent="0" marL="0">
              <a:buNone/>
            </a:pPr>
            <a:r>
              <a:rPr lang="en-US" sz="1300" i="1" dirty="0">
                <a:solidFill>
                  <a:srgbClr val="3E322C"/>
                </a:solidFill>
                <a:latin typeface="Calibri" pitchFamily="34" charset="0"/>
                <a:ea typeface="Calibri" pitchFamily="34" charset="-122"/>
                <a:cs typeface="Calibri" pitchFamily="34" charset="-120"/>
              </a:rPr>
              <a:t>Un désaccord interne rendu devant le client détruit la position des deux. Il se traite en amont, ou après la séance.</a:t>
            </a:r>
            <a:endParaRPr lang="en-US" sz="1300" dirty="0"/>
          </a:p>
        </p:txBody>
      </p:sp>
      <p:sp>
        <p:nvSpPr>
          <p:cNvPr id="6" name="Shape 3"/>
          <p:cNvSpPr/>
          <p:nvPr/>
        </p:nvSpPr>
        <p:spPr>
          <a:xfrm>
            <a:off x="566928" y="6199632"/>
            <a:ext cx="256032" cy="256032"/>
          </a:xfrm>
          <a:prstGeom prst="ellipse">
            <a:avLst/>
          </a:prstGeom>
          <a:solidFill>
            <a:srgbClr val="10646E"/>
          </a:solidFill>
          <a:ln/>
        </p:spPr>
      </p:sp>
      <p:sp>
        <p:nvSpPr>
          <p:cNvPr id="7" name="Text 4"/>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8" name="Text 5"/>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Clientèle</a:t>
            </a:r>
            <a:endParaRPr lang="en-US" sz="950" dirty="0"/>
          </a:p>
        </p:txBody>
      </p:sp>
      <p:sp>
        <p:nvSpPr>
          <p:cNvPr id="9" name="Text 6"/>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Dossier client v1.0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1512"/>
        </a:solidFill>
      </p:bgPr>
    </p:bg>
    <p:spTree>
      <p:nvGrpSpPr>
        <p:cNvPr id="1" name=""/>
        <p:cNvGrpSpPr/>
        <p:nvPr/>
      </p:nvGrpSpPr>
      <p:grpSpPr>
        <a:xfrm>
          <a:off x="0" y="0"/>
          <a:ext cx="0" cy="0"/>
          <a:chOff x="0" y="0"/>
          <a:chExt cx="0" cy="0"/>
        </a:xfrm>
      </p:grpSpPr>
      <p:sp>
        <p:nvSpPr>
          <p:cNvPr id="2" name="Text 0"/>
          <p:cNvSpPr/>
          <p:nvPr/>
        </p:nvSpPr>
        <p:spPr>
          <a:xfrm>
            <a:off x="566928" y="548640"/>
            <a:ext cx="11057839" cy="256032"/>
          </a:xfrm>
          <a:prstGeom prst="rect">
            <a:avLst/>
          </a:prstGeom>
          <a:noFill/>
          <a:ln/>
        </p:spPr>
        <p:txBody>
          <a:bodyPr wrap="square" lIns="0" tIns="0" rIns="0" bIns="0" rtlCol="0" anchor="ctr"/>
          <a:lstStyle/>
          <a:p>
            <a:pPr indent="0" marL="0">
              <a:buNone/>
            </a:pPr>
            <a:r>
              <a:rPr lang="en-US" sz="1050" b="1" spc="200" kern="0" dirty="0">
                <a:solidFill>
                  <a:srgbClr val="6FC4CE"/>
                </a:solidFill>
                <a:latin typeface="Calibri" pitchFamily="34" charset="0"/>
                <a:ea typeface="Calibri" pitchFamily="34" charset="-122"/>
                <a:cs typeface="Calibri" pitchFamily="34" charset="-120"/>
              </a:rPr>
              <a:t>CONDUITE DE SÉANCE</a:t>
            </a:r>
            <a:endParaRPr lang="en-US" sz="1050" dirty="0"/>
          </a:p>
        </p:txBody>
      </p:sp>
      <p:sp>
        <p:nvSpPr>
          <p:cNvPr id="3" name="Text 1"/>
          <p:cNvSpPr/>
          <p:nvPr/>
        </p:nvSpPr>
        <p:spPr>
          <a:xfrm>
            <a:off x="566928" y="841248"/>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Engagements interdits</a:t>
            </a:r>
            <a:endParaRPr lang="en-US" sz="3000" dirty="0"/>
          </a:p>
        </p:txBody>
      </p:sp>
      <p:sp>
        <p:nvSpPr>
          <p:cNvPr id="4" name="Shape 2"/>
          <p:cNvSpPr/>
          <p:nvPr/>
        </p:nvSpPr>
        <p:spPr>
          <a:xfrm>
            <a:off x="566928" y="1965960"/>
            <a:ext cx="11057839" cy="548640"/>
          </a:xfrm>
          <a:prstGeom prst="roundRect">
            <a:avLst>
              <a:gd name="adj" fmla="val 8333"/>
            </a:avLst>
          </a:prstGeom>
          <a:solidFill>
            <a:srgbClr val="33231D"/>
          </a:solidFill>
          <a:ln/>
        </p:spPr>
      </p:sp>
      <p:sp>
        <p:nvSpPr>
          <p:cNvPr id="5" name="Text 3"/>
          <p:cNvSpPr/>
          <p:nvPr/>
        </p:nvSpPr>
        <p:spPr>
          <a:xfrm>
            <a:off x="749808" y="1965960"/>
            <a:ext cx="365760" cy="548640"/>
          </a:xfrm>
          <a:prstGeom prst="rect">
            <a:avLst/>
          </a:prstGeom>
          <a:noFill/>
          <a:ln/>
        </p:spPr>
        <p:txBody>
          <a:bodyPr wrap="square" lIns="0" tIns="0" rIns="0" bIns="0" rtlCol="0" anchor="ctr"/>
          <a:lstStyle/>
          <a:p>
            <a:pPr algn="ctr" indent="0" marL="0">
              <a:buNone/>
            </a:pPr>
            <a:r>
              <a:rPr lang="en-US" sz="1400" b="1" dirty="0">
                <a:solidFill>
                  <a:srgbClr val="E06A5E"/>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1161288" y="1965960"/>
            <a:ext cx="10234879" cy="548640"/>
          </a:xfrm>
          <a:prstGeom prst="rect">
            <a:avLst/>
          </a:prstGeom>
          <a:noFill/>
          <a:ln/>
        </p:spPr>
        <p:txBody>
          <a:bodyPr wrap="square" lIns="0" tIns="0" rIns="0" bIns="0" rtlCol="0" anchor="ctr"/>
          <a:lstStyle/>
          <a:p>
            <a:pPr indent="0" marL="0">
              <a:buNone/>
            </a:pPr>
            <a:r>
              <a:rPr lang="en-US" sz="1350" dirty="0">
                <a:solidFill>
                  <a:srgbClr val="F0E6E0"/>
                </a:solidFill>
                <a:latin typeface="Calibri" pitchFamily="34" charset="0"/>
                <a:ea typeface="Calibri" pitchFamily="34" charset="-122"/>
                <a:cs typeface="Calibri" pitchFamily="34" charset="-120"/>
              </a:rPr>
              <a:t>La Clientèle ne s'engage sur aucun délai de production sans validation de la Création.</a:t>
            </a:r>
            <a:endParaRPr lang="en-US" sz="1350" dirty="0"/>
          </a:p>
        </p:txBody>
      </p:sp>
      <p:sp>
        <p:nvSpPr>
          <p:cNvPr id="7" name="Shape 5"/>
          <p:cNvSpPr/>
          <p:nvPr/>
        </p:nvSpPr>
        <p:spPr>
          <a:xfrm>
            <a:off x="566928" y="2624328"/>
            <a:ext cx="11057839" cy="548640"/>
          </a:xfrm>
          <a:prstGeom prst="roundRect">
            <a:avLst>
              <a:gd name="adj" fmla="val 8333"/>
            </a:avLst>
          </a:prstGeom>
          <a:solidFill>
            <a:srgbClr val="33231D"/>
          </a:solidFill>
          <a:ln/>
        </p:spPr>
      </p:sp>
      <p:sp>
        <p:nvSpPr>
          <p:cNvPr id="8" name="Text 6"/>
          <p:cNvSpPr/>
          <p:nvPr/>
        </p:nvSpPr>
        <p:spPr>
          <a:xfrm>
            <a:off x="749808" y="2624328"/>
            <a:ext cx="365760" cy="548640"/>
          </a:xfrm>
          <a:prstGeom prst="rect">
            <a:avLst/>
          </a:prstGeom>
          <a:noFill/>
          <a:ln/>
        </p:spPr>
        <p:txBody>
          <a:bodyPr wrap="square" lIns="0" tIns="0" rIns="0" bIns="0" rtlCol="0" anchor="ctr"/>
          <a:lstStyle/>
          <a:p>
            <a:pPr algn="ctr" indent="0" marL="0">
              <a:buNone/>
            </a:pPr>
            <a:r>
              <a:rPr lang="en-US" sz="1400" b="1" dirty="0">
                <a:solidFill>
                  <a:srgbClr val="E06A5E"/>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1161288" y="2624328"/>
            <a:ext cx="10234879" cy="548640"/>
          </a:xfrm>
          <a:prstGeom prst="rect">
            <a:avLst/>
          </a:prstGeom>
          <a:noFill/>
          <a:ln/>
        </p:spPr>
        <p:txBody>
          <a:bodyPr wrap="square" lIns="0" tIns="0" rIns="0" bIns="0" rtlCol="0" anchor="ctr"/>
          <a:lstStyle/>
          <a:p>
            <a:pPr indent="0" marL="0">
              <a:buNone/>
            </a:pPr>
            <a:r>
              <a:rPr lang="en-US" sz="1350" dirty="0">
                <a:solidFill>
                  <a:srgbClr val="F0E6E0"/>
                </a:solidFill>
                <a:latin typeface="Calibri" pitchFamily="34" charset="0"/>
                <a:ea typeface="Calibri" pitchFamily="34" charset="-122"/>
                <a:cs typeface="Calibri" pitchFamily="34" charset="-120"/>
              </a:rPr>
              <a:t>La Création ne s'engage sur aucun prix, aucune remise, aucun périmètre supplémentaire.</a:t>
            </a:r>
            <a:endParaRPr lang="en-US" sz="1350" dirty="0"/>
          </a:p>
        </p:txBody>
      </p:sp>
      <p:sp>
        <p:nvSpPr>
          <p:cNvPr id="10" name="Shape 8"/>
          <p:cNvSpPr/>
          <p:nvPr/>
        </p:nvSpPr>
        <p:spPr>
          <a:xfrm>
            <a:off x="566928" y="3282696"/>
            <a:ext cx="11057839" cy="548640"/>
          </a:xfrm>
          <a:prstGeom prst="roundRect">
            <a:avLst>
              <a:gd name="adj" fmla="val 8333"/>
            </a:avLst>
          </a:prstGeom>
          <a:solidFill>
            <a:srgbClr val="33231D"/>
          </a:solidFill>
          <a:ln/>
        </p:spPr>
      </p:sp>
      <p:sp>
        <p:nvSpPr>
          <p:cNvPr id="11" name="Text 9"/>
          <p:cNvSpPr/>
          <p:nvPr/>
        </p:nvSpPr>
        <p:spPr>
          <a:xfrm>
            <a:off x="749808" y="3282696"/>
            <a:ext cx="365760" cy="548640"/>
          </a:xfrm>
          <a:prstGeom prst="rect">
            <a:avLst/>
          </a:prstGeom>
          <a:noFill/>
          <a:ln/>
        </p:spPr>
        <p:txBody>
          <a:bodyPr wrap="square" lIns="0" tIns="0" rIns="0" bIns="0" rtlCol="0" anchor="ctr"/>
          <a:lstStyle/>
          <a:p>
            <a:pPr algn="ctr" indent="0" marL="0">
              <a:buNone/>
            </a:pPr>
            <a:r>
              <a:rPr lang="en-US" sz="1400" b="1" dirty="0">
                <a:solidFill>
                  <a:srgbClr val="E06A5E"/>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61288" y="3282696"/>
            <a:ext cx="10234879" cy="548640"/>
          </a:xfrm>
          <a:prstGeom prst="rect">
            <a:avLst/>
          </a:prstGeom>
          <a:noFill/>
          <a:ln/>
        </p:spPr>
        <p:txBody>
          <a:bodyPr wrap="square" lIns="0" tIns="0" rIns="0" bIns="0" rtlCol="0" anchor="ctr"/>
          <a:lstStyle/>
          <a:p>
            <a:pPr indent="0" marL="0">
              <a:buNone/>
            </a:pPr>
            <a:r>
              <a:rPr lang="en-US" sz="1350" dirty="0">
                <a:solidFill>
                  <a:srgbClr val="F0E6E0"/>
                </a:solidFill>
                <a:latin typeface="Calibri" pitchFamily="34" charset="0"/>
                <a:ea typeface="Calibri" pitchFamily="34" charset="-122"/>
                <a:cs typeface="Calibri" pitchFamily="34" charset="-120"/>
              </a:rPr>
              <a:t>Aucune des deux ne concède une modification de l'idée sur-le-champ.</a:t>
            </a:r>
            <a:endParaRPr lang="en-US" sz="1350" dirty="0"/>
          </a:p>
        </p:txBody>
      </p:sp>
      <p:sp>
        <p:nvSpPr>
          <p:cNvPr id="13" name="Shape 11"/>
          <p:cNvSpPr/>
          <p:nvPr/>
        </p:nvSpPr>
        <p:spPr>
          <a:xfrm>
            <a:off x="566928" y="4206240"/>
            <a:ext cx="11057839" cy="1143000"/>
          </a:xfrm>
          <a:prstGeom prst="roundRect">
            <a:avLst>
              <a:gd name="adj" fmla="val 4800"/>
            </a:avLst>
          </a:prstGeom>
          <a:solidFill>
            <a:srgbClr val="6FC4CE"/>
          </a:solidFill>
          <a:ln/>
        </p:spPr>
      </p:sp>
      <p:sp>
        <p:nvSpPr>
          <p:cNvPr id="14" name="Text 12"/>
          <p:cNvSpPr/>
          <p:nvPr/>
        </p:nvSpPr>
        <p:spPr>
          <a:xfrm>
            <a:off x="932688" y="4206240"/>
            <a:ext cx="10326319" cy="1143000"/>
          </a:xfrm>
          <a:prstGeom prst="rect">
            <a:avLst/>
          </a:prstGeom>
          <a:noFill/>
          <a:ln/>
        </p:spPr>
        <p:txBody>
          <a:bodyPr wrap="square" lIns="0" tIns="0" rIns="0" bIns="0" rtlCol="0" anchor="ctr"/>
          <a:lstStyle/>
          <a:p>
            <a:pPr indent="0" marL="0">
              <a:buNone/>
            </a:pPr>
            <a:r>
              <a:rPr lang="en-US" sz="1600" b="1" dirty="0">
                <a:solidFill>
                  <a:srgbClr val="0B3D43"/>
                </a:solidFill>
                <a:latin typeface="Cambria" pitchFamily="34" charset="0"/>
                <a:ea typeface="Cambria" pitchFamily="34" charset="-122"/>
                <a:cs typeface="Cambria" pitchFamily="34" charset="-120"/>
              </a:rPr>
              <a:t>Face à une demande de modification, la réponse est un délai de retour — jamais un accord immédiat.</a:t>
            </a:r>
            <a:endParaRPr lang="en-US" sz="1600" dirty="0"/>
          </a:p>
        </p:txBody>
      </p:sp>
      <p:sp>
        <p:nvSpPr>
          <p:cNvPr id="15" name="Shape 13"/>
          <p:cNvSpPr/>
          <p:nvPr/>
        </p:nvSpPr>
        <p:spPr>
          <a:xfrm>
            <a:off x="566928" y="6199632"/>
            <a:ext cx="256032" cy="256032"/>
          </a:xfrm>
          <a:prstGeom prst="ellipse">
            <a:avLst/>
          </a:prstGeom>
          <a:solidFill>
            <a:srgbClr val="10646E"/>
          </a:solidFill>
          <a:ln/>
        </p:spPr>
      </p:sp>
      <p:sp>
        <p:nvSpPr>
          <p:cNvPr id="16" name="Text 14"/>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7" name="Text 15"/>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BFAFA6"/>
                </a:solidFill>
                <a:latin typeface="Calibri" pitchFamily="34" charset="0"/>
                <a:ea typeface="Calibri" pitchFamily="34" charset="-122"/>
                <a:cs typeface="Calibri" pitchFamily="34" charset="-120"/>
              </a:rPr>
              <a:t>Direction Clientèle</a:t>
            </a:r>
            <a:endParaRPr lang="en-US" sz="950" dirty="0"/>
          </a:p>
        </p:txBody>
      </p:sp>
      <p:sp>
        <p:nvSpPr>
          <p:cNvPr id="18" name="Text 16"/>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A7770"/>
                </a:solidFill>
                <a:latin typeface="Calibri" pitchFamily="34" charset="0"/>
                <a:ea typeface="Calibri" pitchFamily="34" charset="-122"/>
                <a:cs typeface="Calibri" pitchFamily="34" charset="-120"/>
              </a:rPr>
              <a:t>KOM-2026-11 · Dossier client v1.0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APRÈS LA SÉANCE</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Ce qui déclenche une reprise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914400"/>
        </p:xfrm>
        <a:graphic>
          <a:graphicData uri="http://schemas.openxmlformats.org/drawingml/2006/table">
            <a:tbl>
              <a:tblPr/>
              <a:tblGrid>
                <a:gridCol w="5120640"/>
                <a:gridCol w="2651760"/>
                <a:gridCol w="3300984"/>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Livrable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Délai</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Responsable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r>
              <a:tr h="411480">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Compte rendu de séance et décisions actées</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48 h</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b="1" dirty="0">
                          <a:solidFill>
                            <a:srgbClr val="10646E"/>
                          </a:solidFill>
                          <a:latin typeface="Calibri" pitchFamily="34" charset="0"/>
                          <a:ea typeface="Calibri" pitchFamily="34" charset="-122"/>
                          <a:cs typeface="Calibri" pitchFamily="34" charset="-120"/>
                        </a:rPr>
                        <a:t>Clientèle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411480">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Relecture du compte rendu sur les points touchant l'idée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24 h après réception</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b="1" dirty="0">
                          <a:solidFill>
                            <a:srgbClr val="B02118"/>
                          </a:solidFill>
                          <a:latin typeface="Calibri" pitchFamily="34" charset="0"/>
                          <a:ea typeface="Calibri" pitchFamily="34" charset="-122"/>
                          <a:cs typeface="Calibri" pitchFamily="34" charset="-120"/>
                        </a:rPr>
                        <a:t>Création</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Version 2.0 du dossier si l'idée est modifiée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Selon ampleur</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Propriétaire de la section</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411480">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Nouvelle version du brief si le besoin client a changé</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Avant toute reprise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b="1" dirty="0">
                          <a:solidFill>
                            <a:srgbClr val="10646E"/>
                          </a:solidFill>
                          <a:latin typeface="Calibri" pitchFamily="34" charset="0"/>
                          <a:ea typeface="Calibri" pitchFamily="34" charset="-122"/>
                          <a:cs typeface="Calibri" pitchFamily="34" charset="-120"/>
                        </a:rPr>
                        <a:t>Clientèle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3931920"/>
            <a:ext cx="11057839" cy="1188720"/>
          </a:xfrm>
          <a:prstGeom prst="roundRect">
            <a:avLst>
              <a:gd name="adj" fmla="val 4615"/>
            </a:avLst>
          </a:prstGeom>
          <a:solidFill>
            <a:srgbClr val="F7E9E7"/>
          </a:solidFill>
          <a:ln/>
        </p:spPr>
      </p:sp>
      <p:sp>
        <p:nvSpPr>
          <p:cNvPr id="6" name="Text 3"/>
          <p:cNvSpPr/>
          <p:nvPr/>
        </p:nvSpPr>
        <p:spPr>
          <a:xfrm>
            <a:off x="886968" y="3931920"/>
            <a:ext cx="10417759" cy="1188720"/>
          </a:xfrm>
          <a:prstGeom prst="rect">
            <a:avLst/>
          </a:prstGeom>
          <a:noFill/>
          <a:ln/>
        </p:spPr>
        <p:txBody>
          <a:bodyPr wrap="square" lIns="0" tIns="0" rIns="0" bIns="0" rtlCol="0" anchor="ctr"/>
          <a:lstStyle/>
          <a:p>
            <a:pPr indent="0" marL="0">
              <a:buNone/>
            </a:pPr>
            <a:r>
              <a:rPr lang="en-US" sz="1500" b="1" dirty="0">
                <a:solidFill>
                  <a:srgbClr val="B02118"/>
                </a:solidFill>
                <a:latin typeface="Cambria" pitchFamily="34" charset="0"/>
                <a:ea typeface="Cambria" pitchFamily="34" charset="-122"/>
                <a:cs typeface="Cambria" pitchFamily="34" charset="-120"/>
              </a:rPr>
              <a:t>Aucune reprise créative n'est engagée sur la base d'un échange verbal ou d'un message informel. Le compte rendu validé est le seul déclencheur.</a:t>
            </a:r>
            <a:endParaRPr lang="en-US" sz="1500" dirty="0"/>
          </a:p>
        </p:txBody>
      </p:sp>
      <p:sp>
        <p:nvSpPr>
          <p:cNvPr id="7" name="Text 4"/>
          <p:cNvSpPr/>
          <p:nvPr/>
        </p:nvSpPr>
        <p:spPr>
          <a:xfrm>
            <a:off x="566928" y="5303520"/>
            <a:ext cx="11057839" cy="365760"/>
          </a:xfrm>
          <a:prstGeom prst="rect">
            <a:avLst/>
          </a:prstGeom>
          <a:noFill/>
          <a:ln/>
        </p:spPr>
        <p:txBody>
          <a:bodyPr wrap="square" lIns="0" tIns="0" rIns="0" bIns="0" rtlCol="0" anchor="ctr"/>
          <a:lstStyle/>
          <a:p>
            <a:pPr indent="0" marL="0">
              <a:buNone/>
            </a:pPr>
            <a:r>
              <a:rPr lang="en-US" sz="1200" dirty="0">
                <a:solidFill>
                  <a:srgbClr val="8C7B72"/>
                </a:solidFill>
                <a:latin typeface="Calibri" pitchFamily="34" charset="0"/>
                <a:ea typeface="Calibri" pitchFamily="34" charset="-122"/>
                <a:cs typeface="Calibri" pitchFamily="34" charset="-120"/>
              </a:rPr>
              <a:t>Signataires : Directeur Clientèle (monteur) · Directeur de la Création (sections 5 à 10 et 12) · Planner stratégique (sections 2 à 4).</a:t>
            </a:r>
            <a:endParaRPr lang="en-US" sz="1200" dirty="0"/>
          </a:p>
        </p:txBody>
      </p:sp>
      <p:sp>
        <p:nvSpPr>
          <p:cNvPr id="8" name="Shape 5"/>
          <p:cNvSpPr/>
          <p:nvPr/>
        </p:nvSpPr>
        <p:spPr>
          <a:xfrm>
            <a:off x="566928" y="6199632"/>
            <a:ext cx="256032" cy="256032"/>
          </a:xfrm>
          <a:prstGeom prst="ellipse">
            <a:avLst/>
          </a:prstGeom>
          <a:solidFill>
            <a:srgbClr val="10646E"/>
          </a:solidFill>
          <a:ln/>
        </p:spPr>
      </p:sp>
      <p:sp>
        <p:nvSpPr>
          <p:cNvPr id="9" name="Text 6"/>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0" name="Text 7"/>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Clientèle</a:t>
            </a:r>
            <a:endParaRPr lang="en-US" sz="950" dirty="0"/>
          </a:p>
        </p:txBody>
      </p:sp>
      <p:sp>
        <p:nvSpPr>
          <p:cNvPr id="11" name="Text 8"/>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Dossier client v1.0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2026-08-12T10:55:06Z</dcterms:created>
  <dcterms:modified xsi:type="dcterms:W3CDTF">2026-08-12T10:55:06Z</dcterms:modified>
</cp:coreProperties>
</file>