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512"/>
        </a:solidFill>
      </p:bgPr>
    </p:bg>
    <p:spTree>
      <p:nvGrpSpPr>
        <p:cNvPr id="1" name=""/>
        <p:cNvGrpSpPr/>
        <p:nvPr/>
      </p:nvGrpSpPr>
      <p:grpSpPr>
        <a:xfrm>
          <a:off x="0" y="0"/>
          <a:ext cx="0" cy="0"/>
          <a:chOff x="0" y="0"/>
          <a:chExt cx="0" cy="0"/>
        </a:xfrm>
      </p:grpSpPr>
      <p:sp>
        <p:nvSpPr>
          <p:cNvPr id="2" name="Text 0"/>
          <p:cNvSpPr/>
          <p:nvPr/>
        </p:nvSpPr>
        <p:spPr>
          <a:xfrm>
            <a:off x="566928" y="1371600"/>
            <a:ext cx="11057839" cy="274320"/>
          </a:xfrm>
          <a:prstGeom prst="rect">
            <a:avLst/>
          </a:prstGeom>
          <a:noFill/>
          <a:ln/>
        </p:spPr>
        <p:txBody>
          <a:bodyPr wrap="square" lIns="0" tIns="0" rIns="0" bIns="0" rtlCol="0" anchor="ctr"/>
          <a:lstStyle/>
          <a:p>
            <a:pPr indent="0" marL="0">
              <a:buNone/>
            </a:pPr>
            <a:r>
              <a:rPr lang="en-US" sz="1100" b="1" spc="300" kern="0" dirty="0">
                <a:solidFill>
                  <a:srgbClr val="E0A83F"/>
                </a:solidFill>
                <a:latin typeface="Calibri" pitchFamily="34" charset="0"/>
                <a:ea typeface="Calibri" pitchFamily="34" charset="-122"/>
                <a:cs typeface="Calibri" pitchFamily="34" charset="-120"/>
              </a:rPr>
              <a:t>DOCUMENT DE TRADUCTION VISUELLE</a:t>
            </a:r>
            <a:endParaRPr lang="en-US" sz="1100" dirty="0"/>
          </a:p>
        </p:txBody>
      </p:sp>
      <p:sp>
        <p:nvSpPr>
          <p:cNvPr id="3" name="Text 1"/>
          <p:cNvSpPr/>
          <p:nvPr/>
        </p:nvSpPr>
        <p:spPr>
          <a:xfrm>
            <a:off x="566928" y="1783080"/>
            <a:ext cx="9777679" cy="13716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La recommandation artistique</a:t>
            </a:r>
            <a:endParaRPr lang="en-US" sz="4600" dirty="0"/>
          </a:p>
        </p:txBody>
      </p:sp>
      <p:sp>
        <p:nvSpPr>
          <p:cNvPr id="4" name="Text 2"/>
          <p:cNvSpPr/>
          <p:nvPr/>
        </p:nvSpPr>
        <p:spPr>
          <a:xfrm>
            <a:off x="566928" y="3200400"/>
            <a:ext cx="8131759" cy="822960"/>
          </a:xfrm>
          <a:prstGeom prst="rect">
            <a:avLst/>
          </a:prstGeom>
          <a:noFill/>
          <a:ln/>
        </p:spPr>
        <p:txBody>
          <a:bodyPr wrap="square" lIns="0" tIns="0" rIns="0" bIns="0" rtlCol="0" anchor="ctr"/>
          <a:lstStyle/>
          <a:p>
            <a:pPr indent="0" marL="0">
              <a:lnSpc>
                <a:spcPts val="2400"/>
              </a:lnSpc>
              <a:buNone/>
            </a:pPr>
            <a:r>
              <a:rPr lang="en-US" sz="1600" dirty="0">
                <a:solidFill>
                  <a:srgbClr val="D8C9C0"/>
                </a:solidFill>
                <a:latin typeface="Calibri" pitchFamily="34" charset="0"/>
                <a:ea typeface="Calibri" pitchFamily="34" charset="-122"/>
                <a:cs typeface="Calibri" pitchFamily="34" charset="-120"/>
              </a:rPr>
              <a:t>KOMBA — traduction visuelle de la plateforme créative v1.0</a:t>
            </a:r>
            <a:endParaRPr lang="en-US" sz="1600" dirty="0"/>
          </a:p>
        </p:txBody>
      </p:sp>
      <p:sp>
        <p:nvSpPr>
          <p:cNvPr id="5" name="Shape 3"/>
          <p:cNvSpPr/>
          <p:nvPr/>
        </p:nvSpPr>
        <p:spPr>
          <a:xfrm>
            <a:off x="566928" y="4315968"/>
            <a:ext cx="1371600" cy="18288"/>
          </a:xfrm>
          <a:prstGeom prst="rect">
            <a:avLst/>
          </a:prstGeom>
          <a:solidFill>
            <a:srgbClr val="E0A83F"/>
          </a:solidFill>
          <a:ln/>
        </p:spPr>
      </p:sp>
      <p:sp>
        <p:nvSpPr>
          <p:cNvPr id="6" name="Text 4"/>
          <p:cNvSpPr/>
          <p:nvPr/>
        </p:nvSpPr>
        <p:spPr>
          <a:xfrm>
            <a:off x="566928" y="4572000"/>
            <a:ext cx="11057839" cy="1188720"/>
          </a:xfrm>
          <a:prstGeom prst="rect">
            <a:avLst/>
          </a:prstGeom>
          <a:noFill/>
          <a:ln/>
        </p:spPr>
        <p:txBody>
          <a:bodyPr wrap="square" lIns="0" tIns="0" rIns="0" bIns="0" rtlCol="0" anchor="ctr"/>
          <a:lstStyle/>
          <a:p>
            <a:pPr indent="0" marL="0">
              <a:lnSpc>
                <a:spcPts val="1900"/>
              </a:lnSpc>
              <a:buNone/>
            </a:pPr>
            <a:r>
              <a:rPr lang="en-US" sz="1200" dirty="0">
                <a:solidFill>
                  <a:srgbClr val="A8968D"/>
                </a:solidFill>
                <a:latin typeface="Calibri" pitchFamily="34" charset="0"/>
                <a:ea typeface="Calibri" pitchFamily="34" charset="-122"/>
                <a:cs typeface="Calibri" pitchFamily="34" charset="-120"/>
              </a:rPr>
              <a:t>Émetteur : Direction Artistique  ·  Contributeurs : Graphic Designer, Motion Designer</a:t>
            </a:r>
            <a:endParaRPr lang="en-US" sz="1200" dirty="0"/>
          </a:p>
          <a:p>
            <a:pPr indent="0" marL="0">
              <a:lnSpc>
                <a:spcPts val="1900"/>
              </a:lnSpc>
              <a:buNone/>
            </a:pPr>
            <a:r>
              <a:rPr lang="en-US" sz="1200" dirty="0">
                <a:solidFill>
                  <a:srgbClr val="A8968D"/>
                </a:solidFill>
                <a:latin typeface="Calibri" pitchFamily="34" charset="0"/>
                <a:ea typeface="Calibri" pitchFamily="34" charset="-122"/>
                <a:cs typeface="Calibri" pitchFamily="34" charset="-120"/>
              </a:rPr>
              <a:t>Validée par : Direction de la Création</a:t>
            </a:r>
            <a:endParaRPr lang="en-US" sz="1200" dirty="0"/>
          </a:p>
          <a:p>
            <a:pPr indent="0" marL="0">
              <a:lnSpc>
                <a:spcPts val="1900"/>
              </a:lnSpc>
              <a:buNone/>
            </a:pPr>
            <a:r>
              <a:rPr lang="en-US" sz="1200" dirty="0">
                <a:solidFill>
                  <a:srgbClr val="A8968D"/>
                </a:solidFill>
                <a:latin typeface="Calibri" pitchFamily="34" charset="0"/>
                <a:ea typeface="Calibri" pitchFamily="34" charset="-122"/>
                <a:cs typeface="Calibri" pitchFamily="34" charset="-120"/>
              </a:rPr>
              <a:t>Traduit l'idée en système visuel. Ne rediscute pas l'idée.</a:t>
            </a:r>
            <a:endParaRPr lang="en-US" sz="1200" dirty="0"/>
          </a:p>
        </p:txBody>
      </p:sp>
      <p:sp>
        <p:nvSpPr>
          <p:cNvPr id="7" name="Shape 5"/>
          <p:cNvSpPr/>
          <p:nvPr/>
        </p:nvSpPr>
        <p:spPr>
          <a:xfrm>
            <a:off x="566928" y="6199632"/>
            <a:ext cx="256032" cy="256032"/>
          </a:xfrm>
          <a:prstGeom prst="ellipse">
            <a:avLst/>
          </a:prstGeom>
          <a:solidFill>
            <a:srgbClr val="B07714"/>
          </a:solidFill>
          <a:ln/>
        </p:spPr>
      </p:sp>
      <p:sp>
        <p:nvSpPr>
          <p:cNvPr id="8" name="Text 6"/>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9" name="Text 7"/>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BFAFA6"/>
                </a:solidFill>
                <a:latin typeface="Calibri" pitchFamily="34" charset="0"/>
                <a:ea typeface="Calibri" pitchFamily="34" charset="-122"/>
                <a:cs typeface="Calibri" pitchFamily="34" charset="-120"/>
              </a:rPr>
              <a:t>Direction Artistique</a:t>
            </a:r>
            <a:endParaRPr lang="en-US" sz="950" dirty="0"/>
          </a:p>
        </p:txBody>
      </p:sp>
      <p:sp>
        <p:nvSpPr>
          <p:cNvPr id="10" name="Text 8"/>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A7770"/>
                </a:solidFill>
                <a:latin typeface="Calibri" pitchFamily="34" charset="0"/>
                <a:ea typeface="Calibri" pitchFamily="34" charset="-122"/>
                <a:cs typeface="Calibri" pitchFamily="34" charset="-120"/>
              </a:rPr>
              <a:t>KOM-2026-11 · Recommandation artistique v1.0</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B07714"/>
                </a:solidFill>
                <a:latin typeface="Calibri" pitchFamily="34" charset="0"/>
                <a:ea typeface="Calibri" pitchFamily="34" charset="-122"/>
                <a:cs typeface="Calibri" pitchFamily="34" charset="-120"/>
              </a:rPr>
              <a:t>SECTION 1</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Ce que je dois traduire</a:t>
            </a:r>
            <a:endParaRPr lang="en-US" sz="3000" dirty="0"/>
          </a:p>
        </p:txBody>
      </p:sp>
      <p:sp>
        <p:nvSpPr>
          <p:cNvPr id="4" name="Shape 2"/>
          <p:cNvSpPr/>
          <p:nvPr/>
        </p:nvSpPr>
        <p:spPr>
          <a:xfrm>
            <a:off x="566928" y="1645920"/>
            <a:ext cx="11057839" cy="1280160"/>
          </a:xfrm>
          <a:prstGeom prst="roundRect">
            <a:avLst>
              <a:gd name="adj" fmla="val 4286"/>
            </a:avLst>
          </a:prstGeom>
          <a:solidFill>
            <a:srgbClr val="F3EEE9"/>
          </a:solidFill>
          <a:ln/>
        </p:spPr>
      </p:sp>
      <p:sp>
        <p:nvSpPr>
          <p:cNvPr id="5" name="Text 3"/>
          <p:cNvSpPr/>
          <p:nvPr/>
        </p:nvSpPr>
        <p:spPr>
          <a:xfrm>
            <a:off x="886968" y="1645920"/>
            <a:ext cx="10417759" cy="1280160"/>
          </a:xfrm>
          <a:prstGeom prst="rect">
            <a:avLst/>
          </a:prstGeom>
          <a:noFill/>
          <a:ln/>
        </p:spPr>
        <p:txBody>
          <a:bodyPr wrap="square" lIns="0" tIns="0" rIns="0" bIns="0" rtlCol="0" anchor="ctr"/>
          <a:lstStyle/>
          <a:p>
            <a:pPr indent="0" marL="0">
              <a:lnSpc>
                <a:spcPts val="3000"/>
              </a:lnSpc>
              <a:buNone/>
            </a:pPr>
            <a:r>
              <a:rPr lang="en-US" sz="2000" dirty="0">
                <a:solidFill>
                  <a:srgbClr val="1F1512"/>
                </a:solidFill>
                <a:latin typeface="Cambria" pitchFamily="34" charset="0"/>
                <a:ea typeface="Cambria" pitchFamily="34" charset="-122"/>
                <a:cs typeface="Cambria" pitchFamily="34" charset="-120"/>
              </a:rPr>
              <a:t>La démonstration que le geste ordinaire et le geste du jour de fête sont le même geste.</a:t>
            </a:r>
            <a:endParaRPr lang="en-US" sz="2000" dirty="0"/>
          </a:p>
        </p:txBody>
      </p:sp>
      <p:sp>
        <p:nvSpPr>
          <p:cNvPr id="6" name="Shape 4"/>
          <p:cNvSpPr/>
          <p:nvPr/>
        </p:nvSpPr>
        <p:spPr>
          <a:xfrm>
            <a:off x="566928" y="3200400"/>
            <a:ext cx="3503066" cy="2468880"/>
          </a:xfrm>
          <a:prstGeom prst="roundRect">
            <a:avLst>
              <a:gd name="adj" fmla="val 2222"/>
            </a:avLst>
          </a:prstGeom>
          <a:solidFill>
            <a:srgbClr val="F3EEE9"/>
          </a:solidFill>
          <a:ln/>
        </p:spPr>
      </p:sp>
      <p:sp>
        <p:nvSpPr>
          <p:cNvPr id="7" name="Text 5"/>
          <p:cNvSpPr/>
          <p:nvPr/>
        </p:nvSpPr>
        <p:spPr>
          <a:xfrm>
            <a:off x="822960" y="3438144"/>
            <a:ext cx="2991002" cy="237744"/>
          </a:xfrm>
          <a:prstGeom prst="rect">
            <a:avLst/>
          </a:prstGeom>
          <a:noFill/>
          <a:ln/>
        </p:spPr>
        <p:txBody>
          <a:bodyPr wrap="square" lIns="0" tIns="0" rIns="0" bIns="0" rtlCol="0" anchor="ctr"/>
          <a:lstStyle/>
          <a:p>
            <a:pPr indent="0" marL="0">
              <a:buNone/>
            </a:pPr>
            <a:r>
              <a:rPr lang="en-US" sz="950" b="1" spc="150" kern="0" dirty="0">
                <a:solidFill>
                  <a:srgbClr val="B07714"/>
                </a:solidFill>
                <a:latin typeface="Calibri" pitchFamily="34" charset="0"/>
                <a:ea typeface="Calibri" pitchFamily="34" charset="-122"/>
                <a:cs typeface="Calibri" pitchFamily="34" charset="-120"/>
              </a:rPr>
              <a:t>CE QUI DOIT RESTER IDENTIQUE</a:t>
            </a:r>
            <a:endParaRPr lang="en-US" sz="950" dirty="0"/>
          </a:p>
        </p:txBody>
      </p:sp>
      <p:sp>
        <p:nvSpPr>
          <p:cNvPr id="8" name="Text 6"/>
          <p:cNvSpPr/>
          <p:nvPr/>
        </p:nvSpPr>
        <p:spPr>
          <a:xfrm>
            <a:off x="822960" y="3712464"/>
            <a:ext cx="2991002" cy="45720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La grammaire</a:t>
            </a:r>
            <a:endParaRPr lang="en-US" sz="1700" dirty="0"/>
          </a:p>
        </p:txBody>
      </p:sp>
      <p:sp>
        <p:nvSpPr>
          <p:cNvPr id="9" name="Text 7"/>
          <p:cNvSpPr/>
          <p:nvPr/>
        </p:nvSpPr>
        <p:spPr>
          <a:xfrm>
            <a:off x="822960" y="4187952"/>
            <a:ext cx="2991002" cy="1225296"/>
          </a:xfrm>
          <a:prstGeom prst="rect">
            <a:avLst/>
          </a:prstGeom>
          <a:noFill/>
          <a:ln/>
        </p:spPr>
        <p:txBody>
          <a:bodyPr wrap="square" lIns="0" tIns="0" rIns="0" bIns="0" rtlCol="0" anchor="ctr"/>
          <a:lstStyle/>
          <a:p>
            <a:pPr indent="0" marL="0">
              <a:lnSpc>
                <a:spcPts val="1700"/>
              </a:lnSpc>
              <a:buNone/>
            </a:pPr>
            <a:r>
              <a:rPr lang="en-US" sz="1250" dirty="0">
                <a:solidFill>
                  <a:srgbClr val="4A3B34"/>
                </a:solidFill>
                <a:latin typeface="Calibri" pitchFamily="34" charset="0"/>
                <a:ea typeface="Calibri" pitchFamily="34" charset="-122"/>
                <a:cs typeface="Calibri" pitchFamily="34" charset="-120"/>
              </a:rPr>
              <a:t>Même objectif, même lumière, même hauteur de caméra, même traitement du pack, entre les deux temps.</a:t>
            </a:r>
            <a:endParaRPr lang="en-US" sz="1250" dirty="0"/>
          </a:p>
        </p:txBody>
      </p:sp>
      <p:sp>
        <p:nvSpPr>
          <p:cNvPr id="10" name="Shape 8"/>
          <p:cNvSpPr/>
          <p:nvPr/>
        </p:nvSpPr>
        <p:spPr>
          <a:xfrm>
            <a:off x="4344314" y="3200400"/>
            <a:ext cx="3503066" cy="2468880"/>
          </a:xfrm>
          <a:prstGeom prst="roundRect">
            <a:avLst>
              <a:gd name="adj" fmla="val 2222"/>
            </a:avLst>
          </a:prstGeom>
          <a:solidFill>
            <a:srgbClr val="F3EEE9"/>
          </a:solidFill>
          <a:ln/>
        </p:spPr>
      </p:sp>
      <p:sp>
        <p:nvSpPr>
          <p:cNvPr id="11" name="Text 9"/>
          <p:cNvSpPr/>
          <p:nvPr/>
        </p:nvSpPr>
        <p:spPr>
          <a:xfrm>
            <a:off x="4600346" y="3438144"/>
            <a:ext cx="2991002" cy="237744"/>
          </a:xfrm>
          <a:prstGeom prst="rect">
            <a:avLst/>
          </a:prstGeom>
          <a:noFill/>
          <a:ln/>
        </p:spPr>
        <p:txBody>
          <a:bodyPr wrap="square" lIns="0" tIns="0" rIns="0" bIns="0" rtlCol="0" anchor="ctr"/>
          <a:lstStyle/>
          <a:p>
            <a:pPr indent="0" marL="0">
              <a:buNone/>
            </a:pPr>
            <a:r>
              <a:rPr lang="en-US" sz="950" b="1" spc="150" kern="0" dirty="0">
                <a:solidFill>
                  <a:srgbClr val="B07714"/>
                </a:solidFill>
                <a:latin typeface="Calibri" pitchFamily="34" charset="0"/>
                <a:ea typeface="Calibri" pitchFamily="34" charset="-122"/>
                <a:cs typeface="Calibri" pitchFamily="34" charset="-120"/>
              </a:rPr>
              <a:t>CE QUI CHANGE</a:t>
            </a:r>
            <a:endParaRPr lang="en-US" sz="950" dirty="0"/>
          </a:p>
        </p:txBody>
      </p:sp>
      <p:sp>
        <p:nvSpPr>
          <p:cNvPr id="12" name="Text 10"/>
          <p:cNvSpPr/>
          <p:nvPr/>
        </p:nvSpPr>
        <p:spPr>
          <a:xfrm>
            <a:off x="4600346" y="3712464"/>
            <a:ext cx="2991002" cy="45720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L'échelle, rien d'autre</a:t>
            </a:r>
            <a:endParaRPr lang="en-US" sz="1700" dirty="0"/>
          </a:p>
        </p:txBody>
      </p:sp>
      <p:sp>
        <p:nvSpPr>
          <p:cNvPr id="13" name="Text 11"/>
          <p:cNvSpPr/>
          <p:nvPr/>
        </p:nvSpPr>
        <p:spPr>
          <a:xfrm>
            <a:off x="4600346" y="4187952"/>
            <a:ext cx="2991002" cy="1225296"/>
          </a:xfrm>
          <a:prstGeom prst="rect">
            <a:avLst/>
          </a:prstGeom>
          <a:noFill/>
          <a:ln/>
        </p:spPr>
        <p:txBody>
          <a:bodyPr wrap="square" lIns="0" tIns="0" rIns="0" bIns="0" rtlCol="0" anchor="ctr"/>
          <a:lstStyle/>
          <a:p>
            <a:pPr indent="0" marL="0">
              <a:lnSpc>
                <a:spcPts val="1700"/>
              </a:lnSpc>
              <a:buNone/>
            </a:pPr>
            <a:r>
              <a:rPr lang="en-US" sz="1250" dirty="0">
                <a:solidFill>
                  <a:srgbClr val="4A3B34"/>
                </a:solidFill>
                <a:latin typeface="Calibri" pitchFamily="34" charset="0"/>
                <a:ea typeface="Calibri" pitchFamily="34" charset="-122"/>
                <a:cs typeface="Calibri" pitchFamily="34" charset="-120"/>
              </a:rPr>
              <a:t>Seuls l'échelle du plan et le nombre de personnes dans le champ varient. Toute autre variation détruit la démonstration.</a:t>
            </a:r>
            <a:endParaRPr lang="en-US" sz="1250" dirty="0"/>
          </a:p>
        </p:txBody>
      </p:sp>
      <p:sp>
        <p:nvSpPr>
          <p:cNvPr id="14" name="Shape 12"/>
          <p:cNvSpPr/>
          <p:nvPr/>
        </p:nvSpPr>
        <p:spPr>
          <a:xfrm>
            <a:off x="8121701" y="3200400"/>
            <a:ext cx="3503066" cy="2468880"/>
          </a:xfrm>
          <a:prstGeom prst="roundRect">
            <a:avLst>
              <a:gd name="adj" fmla="val 2222"/>
            </a:avLst>
          </a:prstGeom>
          <a:solidFill>
            <a:srgbClr val="F3EEE9"/>
          </a:solidFill>
          <a:ln/>
        </p:spPr>
      </p:sp>
      <p:sp>
        <p:nvSpPr>
          <p:cNvPr id="15" name="Text 13"/>
          <p:cNvSpPr/>
          <p:nvPr/>
        </p:nvSpPr>
        <p:spPr>
          <a:xfrm>
            <a:off x="8377733" y="3438144"/>
            <a:ext cx="2991002" cy="237744"/>
          </a:xfrm>
          <a:prstGeom prst="rect">
            <a:avLst/>
          </a:prstGeom>
          <a:noFill/>
          <a:ln/>
        </p:spPr>
        <p:txBody>
          <a:bodyPr wrap="square" lIns="0" tIns="0" rIns="0" bIns="0" rtlCol="0" anchor="ctr"/>
          <a:lstStyle/>
          <a:p>
            <a:pPr indent="0" marL="0">
              <a:buNone/>
            </a:pPr>
            <a:r>
              <a:rPr lang="en-US" sz="950" b="1" spc="150" kern="0" dirty="0">
                <a:solidFill>
                  <a:srgbClr val="B07714"/>
                </a:solidFill>
                <a:latin typeface="Calibri" pitchFamily="34" charset="0"/>
                <a:ea typeface="Calibri" pitchFamily="34" charset="-122"/>
                <a:cs typeface="Calibri" pitchFamily="34" charset="-120"/>
              </a:rPr>
              <a:t>ACTIF IMPOSÉ</a:t>
            </a:r>
            <a:endParaRPr lang="en-US" sz="950" dirty="0"/>
          </a:p>
        </p:txBody>
      </p:sp>
      <p:sp>
        <p:nvSpPr>
          <p:cNvPr id="16" name="Text 14"/>
          <p:cNvSpPr/>
          <p:nvPr/>
        </p:nvSpPr>
        <p:spPr>
          <a:xfrm>
            <a:off x="8377733" y="3712464"/>
            <a:ext cx="2991002" cy="45720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Le geste</a:t>
            </a:r>
            <a:endParaRPr lang="en-US" sz="1700" dirty="0"/>
          </a:p>
        </p:txBody>
      </p:sp>
      <p:sp>
        <p:nvSpPr>
          <p:cNvPr id="17" name="Text 15"/>
          <p:cNvSpPr/>
          <p:nvPr/>
        </p:nvSpPr>
        <p:spPr>
          <a:xfrm>
            <a:off x="8377733" y="4187952"/>
            <a:ext cx="2991002" cy="1225296"/>
          </a:xfrm>
          <a:prstGeom prst="rect">
            <a:avLst/>
          </a:prstGeom>
          <a:noFill/>
          <a:ln/>
        </p:spPr>
        <p:txBody>
          <a:bodyPr wrap="square" lIns="0" tIns="0" rIns="0" bIns="0" rtlCol="0" anchor="ctr"/>
          <a:lstStyle/>
          <a:p>
            <a:pPr indent="0" marL="0">
              <a:lnSpc>
                <a:spcPts val="1700"/>
              </a:lnSpc>
              <a:buNone/>
            </a:pPr>
            <a:r>
              <a:rPr lang="en-US" sz="1250" dirty="0">
                <a:solidFill>
                  <a:srgbClr val="4A3B34"/>
                </a:solidFill>
                <a:latin typeface="Calibri" pitchFamily="34" charset="0"/>
                <a:ea typeface="Calibri" pitchFamily="34" charset="-122"/>
                <a:cs typeface="Calibri" pitchFamily="34" charset="-120"/>
              </a:rPr>
              <a:t>La main qui écrase le cube au-dessus de la marmite est traitée comme un actif de marque, pas comme un visuel.</a:t>
            </a:r>
            <a:endParaRPr lang="en-US" sz="1250" dirty="0"/>
          </a:p>
        </p:txBody>
      </p:sp>
      <p:sp>
        <p:nvSpPr>
          <p:cNvPr id="18" name="Shape 16"/>
          <p:cNvSpPr/>
          <p:nvPr/>
        </p:nvSpPr>
        <p:spPr>
          <a:xfrm>
            <a:off x="566928" y="6199632"/>
            <a:ext cx="256032" cy="256032"/>
          </a:xfrm>
          <a:prstGeom prst="ellipse">
            <a:avLst/>
          </a:prstGeom>
          <a:solidFill>
            <a:srgbClr val="B07714"/>
          </a:solidFill>
          <a:ln/>
        </p:spPr>
      </p:sp>
      <p:sp>
        <p:nvSpPr>
          <p:cNvPr id="19" name="Text 17"/>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0" name="Text 18"/>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8C7B72"/>
                </a:solidFill>
                <a:latin typeface="Calibri" pitchFamily="34" charset="0"/>
                <a:ea typeface="Calibri" pitchFamily="34" charset="-122"/>
                <a:cs typeface="Calibri" pitchFamily="34" charset="-120"/>
              </a:rPr>
              <a:t>Direction Artistique</a:t>
            </a:r>
            <a:endParaRPr lang="en-US" sz="950" dirty="0"/>
          </a:p>
        </p:txBody>
      </p:sp>
      <p:sp>
        <p:nvSpPr>
          <p:cNvPr id="21" name="Text 19"/>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C7B72"/>
                </a:solidFill>
                <a:latin typeface="Calibri" pitchFamily="34" charset="0"/>
                <a:ea typeface="Calibri" pitchFamily="34" charset="-122"/>
                <a:cs typeface="Calibri" pitchFamily="34" charset="-120"/>
              </a:rPr>
              <a:t>KOM-2026-11 · Recommandation artistique v1.0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1512"/>
        </a:solidFill>
      </p:bgPr>
    </p:bg>
    <p:spTree>
      <p:nvGrpSpPr>
        <p:cNvPr id="1" name=""/>
        <p:cNvGrpSpPr/>
        <p:nvPr/>
      </p:nvGrpSpPr>
      <p:grpSpPr>
        <a:xfrm>
          <a:off x="0" y="0"/>
          <a:ext cx="0" cy="0"/>
          <a:chOff x="0" y="0"/>
          <a:chExt cx="0" cy="0"/>
        </a:xfrm>
      </p:grpSpPr>
      <p:sp>
        <p:nvSpPr>
          <p:cNvPr id="2" name="Text 0"/>
          <p:cNvSpPr/>
          <p:nvPr/>
        </p:nvSpPr>
        <p:spPr>
          <a:xfrm>
            <a:off x="566928" y="548640"/>
            <a:ext cx="11057839" cy="256032"/>
          </a:xfrm>
          <a:prstGeom prst="rect">
            <a:avLst/>
          </a:prstGeom>
          <a:noFill/>
          <a:ln/>
        </p:spPr>
        <p:txBody>
          <a:bodyPr wrap="square" lIns="0" tIns="0" rIns="0" bIns="0" rtlCol="0" anchor="ctr"/>
          <a:lstStyle/>
          <a:p>
            <a:pPr indent="0" marL="0">
              <a:buNone/>
            </a:pPr>
            <a:r>
              <a:rPr lang="en-US" sz="1050" b="1" spc="200" kern="0" dirty="0">
                <a:solidFill>
                  <a:srgbClr val="E0A83F"/>
                </a:solidFill>
                <a:latin typeface="Calibri" pitchFamily="34" charset="0"/>
                <a:ea typeface="Calibri" pitchFamily="34" charset="-122"/>
                <a:cs typeface="Calibri" pitchFamily="34" charset="-120"/>
              </a:rPr>
              <a:t>SECTION 2</a:t>
            </a:r>
            <a:endParaRPr lang="en-US" sz="1050" dirty="0"/>
          </a:p>
        </p:txBody>
      </p:sp>
      <p:sp>
        <p:nvSpPr>
          <p:cNvPr id="3" name="Text 1"/>
          <p:cNvSpPr/>
          <p:nvPr/>
        </p:nvSpPr>
        <p:spPr>
          <a:xfrm>
            <a:off x="566928" y="841248"/>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 parti pris</a:t>
            </a:r>
            <a:endParaRPr lang="en-US" sz="3000" dirty="0"/>
          </a:p>
        </p:txBody>
      </p:sp>
      <p:sp>
        <p:nvSpPr>
          <p:cNvPr id="4" name="Text 2"/>
          <p:cNvSpPr/>
          <p:nvPr/>
        </p:nvSpPr>
        <p:spPr>
          <a:xfrm>
            <a:off x="566928" y="1920240"/>
            <a:ext cx="10600639" cy="1371600"/>
          </a:xfrm>
          <a:prstGeom prst="rect">
            <a:avLst/>
          </a:prstGeom>
          <a:noFill/>
          <a:ln/>
        </p:spPr>
        <p:txBody>
          <a:bodyPr wrap="square" lIns="0" tIns="0" rIns="0" bIns="0" rtlCol="0" anchor="ctr"/>
          <a:lstStyle/>
          <a:p>
            <a:pPr indent="0" marL="0">
              <a:lnSpc>
                <a:spcPts val="4600"/>
              </a:lnSpc>
              <a:buNone/>
            </a:pPr>
            <a:r>
              <a:rPr lang="en-US" sz="3400" b="1" dirty="0">
                <a:solidFill>
                  <a:srgbClr val="FFFFFF"/>
                </a:solidFill>
                <a:latin typeface="Cambria" pitchFamily="34" charset="0"/>
                <a:ea typeface="Cambria" pitchFamily="34" charset="-122"/>
                <a:cs typeface="Cambria" pitchFamily="34" charset="-120"/>
              </a:rPr>
              <a:t>Photographier la cuisine comme on photographie un athlète : de près, sur le geste, sans décor.</a:t>
            </a:r>
            <a:endParaRPr lang="en-US" sz="3400" dirty="0"/>
          </a:p>
        </p:txBody>
      </p:sp>
      <p:sp>
        <p:nvSpPr>
          <p:cNvPr id="5" name="Text 3"/>
          <p:cNvSpPr/>
          <p:nvPr/>
        </p:nvSpPr>
        <p:spPr>
          <a:xfrm>
            <a:off x="566928" y="3520440"/>
            <a:ext cx="9046159" cy="731520"/>
          </a:xfrm>
          <a:prstGeom prst="rect">
            <a:avLst/>
          </a:prstGeom>
          <a:noFill/>
          <a:ln/>
        </p:spPr>
        <p:txBody>
          <a:bodyPr wrap="square" lIns="0" tIns="0" rIns="0" bIns="0" rtlCol="0" anchor="ctr"/>
          <a:lstStyle/>
          <a:p>
            <a:pPr indent="0" marL="0">
              <a:lnSpc>
                <a:spcPts val="2200"/>
              </a:lnSpc>
              <a:buNone/>
            </a:pPr>
            <a:r>
              <a:rPr lang="en-US" sz="1450" dirty="0">
                <a:solidFill>
                  <a:srgbClr val="C9B8AF"/>
                </a:solidFill>
                <a:latin typeface="Calibri" pitchFamily="34" charset="0"/>
                <a:ea typeface="Calibri" pitchFamily="34" charset="-122"/>
                <a:cs typeface="Calibri" pitchFamily="34" charset="-120"/>
              </a:rPr>
              <a:t>Le registre de référence n'est pas la publicité alimentaire. C'est le reportage sportif — ce qui donne au mot « entraînement » une existence visuelle plutôt qu'une existence de signature.</a:t>
            </a:r>
            <a:endParaRPr lang="en-US" sz="1450" dirty="0"/>
          </a:p>
        </p:txBody>
      </p:sp>
      <p:sp>
        <p:nvSpPr>
          <p:cNvPr id="6" name="Shape 4"/>
          <p:cNvSpPr/>
          <p:nvPr/>
        </p:nvSpPr>
        <p:spPr>
          <a:xfrm>
            <a:off x="566928" y="4434840"/>
            <a:ext cx="11057839" cy="914400"/>
          </a:xfrm>
          <a:prstGeom prst="roundRect">
            <a:avLst>
              <a:gd name="adj" fmla="val 6000"/>
            </a:avLst>
          </a:prstGeom>
          <a:solidFill>
            <a:srgbClr val="33231D"/>
          </a:solidFill>
          <a:ln/>
        </p:spPr>
      </p:sp>
      <p:sp>
        <p:nvSpPr>
          <p:cNvPr id="7" name="Text 5"/>
          <p:cNvSpPr/>
          <p:nvPr/>
        </p:nvSpPr>
        <p:spPr>
          <a:xfrm>
            <a:off x="886968" y="4434840"/>
            <a:ext cx="10417759" cy="914400"/>
          </a:xfrm>
          <a:prstGeom prst="rect">
            <a:avLst/>
          </a:prstGeom>
          <a:noFill/>
          <a:ln/>
        </p:spPr>
        <p:txBody>
          <a:bodyPr wrap="square" lIns="0" tIns="0" rIns="0" bIns="0" rtlCol="0" anchor="ctr"/>
          <a:lstStyle/>
          <a:p>
            <a:pPr indent="0" marL="0">
              <a:lnSpc>
                <a:spcPts val="1900"/>
              </a:lnSpc>
              <a:buNone/>
            </a:pPr>
            <a:r>
              <a:rPr lang="en-US" sz="1300" dirty="0">
                <a:solidFill>
                  <a:srgbClr val="E8DCD5"/>
                </a:solidFill>
                <a:latin typeface="Calibri" pitchFamily="34" charset="0"/>
                <a:ea typeface="Calibri" pitchFamily="34" charset="-122"/>
                <a:cs typeface="Calibri" pitchFamily="34" charset="-120"/>
              </a:rPr>
              <a:t>Écarté volontairement :  table dressée dans le Temps 1  ·  plan large de convives souriants  ·  vapeur léchée en macro.  Le vocabulaire habituel de la catégorie est là où se perd l'attribution.</a:t>
            </a:r>
            <a:endParaRPr lang="en-US" sz="1300" dirty="0"/>
          </a:p>
        </p:txBody>
      </p:sp>
      <p:sp>
        <p:nvSpPr>
          <p:cNvPr id="8" name="Shape 6"/>
          <p:cNvSpPr/>
          <p:nvPr/>
        </p:nvSpPr>
        <p:spPr>
          <a:xfrm>
            <a:off x="566928" y="6199632"/>
            <a:ext cx="256032" cy="256032"/>
          </a:xfrm>
          <a:prstGeom prst="ellipse">
            <a:avLst/>
          </a:prstGeom>
          <a:solidFill>
            <a:srgbClr val="B07714"/>
          </a:solidFill>
          <a:ln/>
        </p:spPr>
      </p:sp>
      <p:sp>
        <p:nvSpPr>
          <p:cNvPr id="9" name="Text 7"/>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0" name="Text 8"/>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BFAFA6"/>
                </a:solidFill>
                <a:latin typeface="Calibri" pitchFamily="34" charset="0"/>
                <a:ea typeface="Calibri" pitchFamily="34" charset="-122"/>
                <a:cs typeface="Calibri" pitchFamily="34" charset="-120"/>
              </a:rPr>
              <a:t>Direction Artistique</a:t>
            </a:r>
            <a:endParaRPr lang="en-US" sz="950" dirty="0"/>
          </a:p>
        </p:txBody>
      </p:sp>
      <p:sp>
        <p:nvSpPr>
          <p:cNvPr id="11" name="Text 9"/>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A7770"/>
                </a:solidFill>
                <a:latin typeface="Calibri" pitchFamily="34" charset="0"/>
                <a:ea typeface="Calibri" pitchFamily="34" charset="-122"/>
                <a:cs typeface="Calibri" pitchFamily="34" charset="-120"/>
              </a:rPr>
              <a:t>KOM-2026-11 · Recommandation artistique v1.0</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B07714"/>
                </a:solidFill>
                <a:latin typeface="Calibri" pitchFamily="34" charset="0"/>
                <a:ea typeface="Calibri" pitchFamily="34" charset="-122"/>
                <a:cs typeface="Calibri" pitchFamily="34" charset="-120"/>
              </a:rPr>
              <a:t>SECTION 3</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Les trois pistes</a:t>
            </a:r>
            <a:endParaRPr lang="en-US" sz="3000" dirty="0"/>
          </a:p>
        </p:txBody>
      </p:sp>
      <p:sp>
        <p:nvSpPr>
          <p:cNvPr id="4" name="Text 2"/>
          <p:cNvSpPr/>
          <p:nvPr/>
        </p:nvSpPr>
        <p:spPr>
          <a:xfrm>
            <a:off x="566928" y="1481328"/>
            <a:ext cx="11057839" cy="274320"/>
          </a:xfrm>
          <a:prstGeom prst="rect">
            <a:avLst/>
          </a:prstGeom>
          <a:noFill/>
          <a:ln/>
        </p:spPr>
        <p:txBody>
          <a:bodyPr wrap="square" lIns="0" tIns="0" rIns="0" bIns="0" rtlCol="0" anchor="ctr"/>
          <a:lstStyle/>
          <a:p>
            <a:pPr indent="0" marL="0">
              <a:buNone/>
            </a:pPr>
            <a:r>
              <a:rPr lang="en-US" sz="1200" i="1" dirty="0">
                <a:solidFill>
                  <a:srgbClr val="8C7B72"/>
                </a:solidFill>
                <a:latin typeface="Calibri" pitchFamily="34" charset="0"/>
                <a:ea typeface="Calibri" pitchFamily="34" charset="-122"/>
                <a:cs typeface="Calibri" pitchFamily="34" charset="-120"/>
              </a:rPr>
              <a:t>Chaque piste est un système complet, pas une variation de mise en page. Une seule est recommandée.</a:t>
            </a:r>
            <a:endParaRPr lang="en-US" sz="1200" dirty="0"/>
          </a:p>
        </p:txBody>
      </p:sp>
      <p:sp>
        <p:nvSpPr>
          <p:cNvPr id="5" name="Shape 3"/>
          <p:cNvSpPr/>
          <p:nvPr/>
        </p:nvSpPr>
        <p:spPr>
          <a:xfrm>
            <a:off x="566928" y="1920240"/>
            <a:ext cx="3503066" cy="3657600"/>
          </a:xfrm>
          <a:prstGeom prst="roundRect">
            <a:avLst>
              <a:gd name="adj" fmla="val 1566"/>
            </a:avLst>
          </a:prstGeom>
          <a:solidFill>
            <a:srgbClr val="1F1512"/>
          </a:solidFill>
          <a:ln/>
        </p:spPr>
      </p:sp>
      <p:sp>
        <p:nvSpPr>
          <p:cNvPr id="6" name="Text 4"/>
          <p:cNvSpPr/>
          <p:nvPr/>
        </p:nvSpPr>
        <p:spPr>
          <a:xfrm>
            <a:off x="822960" y="2121408"/>
            <a:ext cx="2991002" cy="256032"/>
          </a:xfrm>
          <a:prstGeom prst="rect">
            <a:avLst/>
          </a:prstGeom>
          <a:noFill/>
          <a:ln/>
        </p:spPr>
        <p:txBody>
          <a:bodyPr wrap="square" lIns="0" tIns="0" rIns="0" bIns="0" rtlCol="0" anchor="ctr"/>
          <a:lstStyle/>
          <a:p>
            <a:pPr indent="0" marL="0">
              <a:buNone/>
            </a:pPr>
            <a:r>
              <a:rPr lang="en-US" sz="950" b="1" spc="120" kern="0" dirty="0">
                <a:solidFill>
                  <a:srgbClr val="E0A83F"/>
                </a:solidFill>
                <a:latin typeface="Calibri" pitchFamily="34" charset="0"/>
                <a:ea typeface="Calibri" pitchFamily="34" charset="-122"/>
                <a:cs typeface="Calibri" pitchFamily="34" charset="-120"/>
              </a:rPr>
              <a:t>PISTE A — RECOMMANDÉE</a:t>
            </a:r>
            <a:endParaRPr lang="en-US" sz="950" dirty="0"/>
          </a:p>
        </p:txBody>
      </p:sp>
      <p:sp>
        <p:nvSpPr>
          <p:cNvPr id="7" name="Text 5"/>
          <p:cNvSpPr/>
          <p:nvPr/>
        </p:nvSpPr>
        <p:spPr>
          <a:xfrm>
            <a:off x="822960" y="2395728"/>
            <a:ext cx="2991002"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Le geste</a:t>
            </a:r>
            <a:endParaRPr lang="en-US" sz="2200" dirty="0"/>
          </a:p>
        </p:txBody>
      </p:sp>
      <p:sp>
        <p:nvSpPr>
          <p:cNvPr id="8" name="Text 6"/>
          <p:cNvSpPr/>
          <p:nvPr/>
        </p:nvSpPr>
        <p:spPr>
          <a:xfrm>
            <a:off x="822960" y="2880360"/>
            <a:ext cx="2991002" cy="1143000"/>
          </a:xfrm>
          <a:prstGeom prst="rect">
            <a:avLst/>
          </a:prstGeom>
          <a:noFill/>
          <a:ln/>
        </p:spPr>
        <p:txBody>
          <a:bodyPr wrap="square" lIns="0" tIns="0" rIns="0" bIns="0" rtlCol="0" anchor="ctr"/>
          <a:lstStyle/>
          <a:p>
            <a:pPr indent="0" marL="0">
              <a:lnSpc>
                <a:spcPts val="1700"/>
              </a:lnSpc>
              <a:buNone/>
            </a:pPr>
            <a:r>
              <a:rPr lang="en-US" sz="1200" dirty="0">
                <a:solidFill>
                  <a:srgbClr val="E8DCD5"/>
                </a:solidFill>
                <a:latin typeface="Calibri" pitchFamily="34" charset="0"/>
                <a:ea typeface="Calibri" pitchFamily="34" charset="-122"/>
                <a:cs typeface="Calibri" pitchFamily="34" charset="-120"/>
              </a:rPr>
              <a:t>Privilégie : l'attribution. Un cadrage aussi typé devient reconnaissable en deux expositions, y compris en 10 s et en 4 m².</a:t>
            </a:r>
            <a:endParaRPr lang="en-US" sz="1200" dirty="0"/>
          </a:p>
        </p:txBody>
      </p:sp>
      <p:sp>
        <p:nvSpPr>
          <p:cNvPr id="9" name="Text 7"/>
          <p:cNvSpPr/>
          <p:nvPr/>
        </p:nvSpPr>
        <p:spPr>
          <a:xfrm>
            <a:off x="822960" y="4069080"/>
            <a:ext cx="2991002" cy="1188720"/>
          </a:xfrm>
          <a:prstGeom prst="rect">
            <a:avLst/>
          </a:prstGeom>
          <a:noFill/>
          <a:ln/>
        </p:spPr>
        <p:txBody>
          <a:bodyPr wrap="square" lIns="0" tIns="0" rIns="0" bIns="0" rtlCol="0" anchor="ctr"/>
          <a:lstStyle/>
          <a:p>
            <a:pPr indent="0" marL="0">
              <a:lnSpc>
                <a:spcPts val="1700"/>
              </a:lnSpc>
              <a:buNone/>
            </a:pPr>
            <a:r>
              <a:rPr lang="en-US" sz="1200" dirty="0">
                <a:solidFill>
                  <a:srgbClr val="B79A8E"/>
                </a:solidFill>
                <a:latin typeface="Calibri" pitchFamily="34" charset="0"/>
                <a:ea typeface="Calibri" pitchFamily="34" charset="-122"/>
                <a:cs typeface="Calibri" pitchFamily="34" charset="-120"/>
              </a:rPr>
              <a:t>Sacrifie : la chaleur familiale immédiate. Le client la trouvera austère à la première lecture.</a:t>
            </a:r>
            <a:endParaRPr lang="en-US" sz="1200" dirty="0"/>
          </a:p>
        </p:txBody>
      </p:sp>
      <p:sp>
        <p:nvSpPr>
          <p:cNvPr id="10" name="Shape 8"/>
          <p:cNvSpPr/>
          <p:nvPr/>
        </p:nvSpPr>
        <p:spPr>
          <a:xfrm>
            <a:off x="4344314" y="1920240"/>
            <a:ext cx="3503066" cy="3657600"/>
          </a:xfrm>
          <a:prstGeom prst="roundRect">
            <a:avLst>
              <a:gd name="adj" fmla="val 1566"/>
            </a:avLst>
          </a:prstGeom>
          <a:solidFill>
            <a:srgbClr val="F3EEE9"/>
          </a:solidFill>
          <a:ln/>
        </p:spPr>
      </p:sp>
      <p:sp>
        <p:nvSpPr>
          <p:cNvPr id="11" name="Text 9"/>
          <p:cNvSpPr/>
          <p:nvPr/>
        </p:nvSpPr>
        <p:spPr>
          <a:xfrm>
            <a:off x="4600346" y="2121408"/>
            <a:ext cx="2991002" cy="256032"/>
          </a:xfrm>
          <a:prstGeom prst="rect">
            <a:avLst/>
          </a:prstGeom>
          <a:noFill/>
          <a:ln/>
        </p:spPr>
        <p:txBody>
          <a:bodyPr wrap="square" lIns="0" tIns="0" rIns="0" bIns="0" rtlCol="0" anchor="ctr"/>
          <a:lstStyle/>
          <a:p>
            <a:pPr indent="0" marL="0">
              <a:buNone/>
            </a:pPr>
            <a:r>
              <a:rPr lang="en-US" sz="950" b="1" spc="120" kern="0" dirty="0">
                <a:solidFill>
                  <a:srgbClr val="B07714"/>
                </a:solidFill>
                <a:latin typeface="Calibri" pitchFamily="34" charset="0"/>
                <a:ea typeface="Calibri" pitchFamily="34" charset="-122"/>
                <a:cs typeface="Calibri" pitchFamily="34" charset="-120"/>
              </a:rPr>
              <a:t>PISTE B</a:t>
            </a:r>
            <a:endParaRPr lang="en-US" sz="950" dirty="0"/>
          </a:p>
        </p:txBody>
      </p:sp>
      <p:sp>
        <p:nvSpPr>
          <p:cNvPr id="12" name="Text 10"/>
          <p:cNvSpPr/>
          <p:nvPr/>
        </p:nvSpPr>
        <p:spPr>
          <a:xfrm>
            <a:off x="4600346" y="2395728"/>
            <a:ext cx="2991002" cy="411480"/>
          </a:xfrm>
          <a:prstGeom prst="rect">
            <a:avLst/>
          </a:prstGeom>
          <a:noFill/>
          <a:ln/>
        </p:spPr>
        <p:txBody>
          <a:bodyPr wrap="square" lIns="0" tIns="0" rIns="0" bIns="0" rtlCol="0" anchor="ctr"/>
          <a:lstStyle/>
          <a:p>
            <a:pPr indent="0" marL="0">
              <a:buNone/>
            </a:pPr>
            <a:r>
              <a:rPr lang="en-US" sz="2200" b="1" dirty="0">
                <a:solidFill>
                  <a:srgbClr val="1F1512"/>
                </a:solidFill>
                <a:latin typeface="Cambria" pitchFamily="34" charset="0"/>
                <a:ea typeface="Cambria" pitchFamily="34" charset="-122"/>
                <a:cs typeface="Cambria" pitchFamily="34" charset="-120"/>
              </a:rPr>
              <a:t>Le compteur</a:t>
            </a:r>
            <a:endParaRPr lang="en-US" sz="2200" dirty="0"/>
          </a:p>
        </p:txBody>
      </p:sp>
      <p:sp>
        <p:nvSpPr>
          <p:cNvPr id="13" name="Text 11"/>
          <p:cNvSpPr/>
          <p:nvPr/>
        </p:nvSpPr>
        <p:spPr>
          <a:xfrm>
            <a:off x="4600346" y="2880360"/>
            <a:ext cx="2991002" cy="1143000"/>
          </a:xfrm>
          <a:prstGeom prst="rect">
            <a:avLst/>
          </a:prstGeom>
          <a:noFill/>
          <a:ln/>
        </p:spPr>
        <p:txBody>
          <a:bodyPr wrap="square" lIns="0" tIns="0" rIns="0" bIns="0" rtlCol="0" anchor="ctr"/>
          <a:lstStyle/>
          <a:p>
            <a:pPr indent="0" marL="0">
              <a:lnSpc>
                <a:spcPts val="1700"/>
              </a:lnSpc>
              <a:buNone/>
            </a:pPr>
            <a:r>
              <a:rPr lang="en-US" sz="1200" dirty="0">
                <a:solidFill>
                  <a:srgbClr val="3E322C"/>
                </a:solidFill>
                <a:latin typeface="Calibri" pitchFamily="34" charset="0"/>
                <a:ea typeface="Calibri" pitchFamily="34" charset="-122"/>
                <a:cs typeface="Calibri" pitchFamily="34" charset="-120"/>
              </a:rPr>
              <a:t>Privilégie : la lisibilité de la mécanique en deux temps ; le dispositif digital s'y branche sans effort.</a:t>
            </a:r>
            <a:endParaRPr lang="en-US" sz="1200" dirty="0"/>
          </a:p>
        </p:txBody>
      </p:sp>
      <p:sp>
        <p:nvSpPr>
          <p:cNvPr id="14" name="Text 12"/>
          <p:cNvSpPr/>
          <p:nvPr/>
        </p:nvSpPr>
        <p:spPr>
          <a:xfrm>
            <a:off x="4600346" y="4069080"/>
            <a:ext cx="2991002" cy="1188720"/>
          </a:xfrm>
          <a:prstGeom prst="rect">
            <a:avLst/>
          </a:prstGeom>
          <a:noFill/>
          <a:ln/>
        </p:spPr>
        <p:txBody>
          <a:bodyPr wrap="square" lIns="0" tIns="0" rIns="0" bIns="0" rtlCol="0" anchor="ctr"/>
          <a:lstStyle/>
          <a:p>
            <a:pPr indent="0" marL="0">
              <a:lnSpc>
                <a:spcPts val="1700"/>
              </a:lnSpc>
              <a:buNone/>
            </a:pPr>
            <a:r>
              <a:rPr lang="en-US" sz="1200" dirty="0">
                <a:solidFill>
                  <a:srgbClr val="8C7B72"/>
                </a:solidFill>
                <a:latin typeface="Calibri" pitchFamily="34" charset="0"/>
                <a:ea typeface="Calibri" pitchFamily="34" charset="-122"/>
                <a:cs typeface="Calibri" pitchFamily="34" charset="-120"/>
              </a:rPr>
              <a:t>Sacrifie : la force du geste, écrasée par le chiffre. Repose sur du texte, donc s'affaiblit à distance.</a:t>
            </a:r>
            <a:endParaRPr lang="en-US" sz="1200" dirty="0"/>
          </a:p>
        </p:txBody>
      </p:sp>
      <p:sp>
        <p:nvSpPr>
          <p:cNvPr id="15" name="Shape 13"/>
          <p:cNvSpPr/>
          <p:nvPr/>
        </p:nvSpPr>
        <p:spPr>
          <a:xfrm>
            <a:off x="8121701" y="1920240"/>
            <a:ext cx="3503066" cy="3657600"/>
          </a:xfrm>
          <a:prstGeom prst="roundRect">
            <a:avLst>
              <a:gd name="adj" fmla="val 1566"/>
            </a:avLst>
          </a:prstGeom>
          <a:solidFill>
            <a:srgbClr val="F3EEE9"/>
          </a:solidFill>
          <a:ln/>
        </p:spPr>
      </p:sp>
      <p:sp>
        <p:nvSpPr>
          <p:cNvPr id="16" name="Text 14"/>
          <p:cNvSpPr/>
          <p:nvPr/>
        </p:nvSpPr>
        <p:spPr>
          <a:xfrm>
            <a:off x="8377733" y="2121408"/>
            <a:ext cx="2991002" cy="256032"/>
          </a:xfrm>
          <a:prstGeom prst="rect">
            <a:avLst/>
          </a:prstGeom>
          <a:noFill/>
          <a:ln/>
        </p:spPr>
        <p:txBody>
          <a:bodyPr wrap="square" lIns="0" tIns="0" rIns="0" bIns="0" rtlCol="0" anchor="ctr"/>
          <a:lstStyle/>
          <a:p>
            <a:pPr indent="0" marL="0">
              <a:buNone/>
            </a:pPr>
            <a:r>
              <a:rPr lang="en-US" sz="950" b="1" spc="120" kern="0" dirty="0">
                <a:solidFill>
                  <a:srgbClr val="B07714"/>
                </a:solidFill>
                <a:latin typeface="Calibri" pitchFamily="34" charset="0"/>
                <a:ea typeface="Calibri" pitchFamily="34" charset="-122"/>
                <a:cs typeface="Calibri" pitchFamily="34" charset="-120"/>
              </a:rPr>
              <a:t>PISTE C</a:t>
            </a:r>
            <a:endParaRPr lang="en-US" sz="950" dirty="0"/>
          </a:p>
        </p:txBody>
      </p:sp>
      <p:sp>
        <p:nvSpPr>
          <p:cNvPr id="17" name="Text 15"/>
          <p:cNvSpPr/>
          <p:nvPr/>
        </p:nvSpPr>
        <p:spPr>
          <a:xfrm>
            <a:off x="8377733" y="2395728"/>
            <a:ext cx="2991002" cy="411480"/>
          </a:xfrm>
          <a:prstGeom prst="rect">
            <a:avLst/>
          </a:prstGeom>
          <a:noFill/>
          <a:ln/>
        </p:spPr>
        <p:txBody>
          <a:bodyPr wrap="square" lIns="0" tIns="0" rIns="0" bIns="0" rtlCol="0" anchor="ctr"/>
          <a:lstStyle/>
          <a:p>
            <a:pPr indent="0" marL="0">
              <a:buNone/>
            </a:pPr>
            <a:r>
              <a:rPr lang="en-US" sz="2200" b="1" dirty="0">
                <a:solidFill>
                  <a:srgbClr val="1F1512"/>
                </a:solidFill>
                <a:latin typeface="Cambria" pitchFamily="34" charset="0"/>
                <a:ea typeface="Cambria" pitchFamily="34" charset="-122"/>
                <a:cs typeface="Cambria" pitchFamily="34" charset="-120"/>
              </a:rPr>
              <a:t>Les deux mains</a:t>
            </a:r>
            <a:endParaRPr lang="en-US" sz="2200" dirty="0"/>
          </a:p>
        </p:txBody>
      </p:sp>
      <p:sp>
        <p:nvSpPr>
          <p:cNvPr id="18" name="Text 16"/>
          <p:cNvSpPr/>
          <p:nvPr/>
        </p:nvSpPr>
        <p:spPr>
          <a:xfrm>
            <a:off x="8377733" y="2880360"/>
            <a:ext cx="2991002" cy="1143000"/>
          </a:xfrm>
          <a:prstGeom prst="rect">
            <a:avLst/>
          </a:prstGeom>
          <a:noFill/>
          <a:ln/>
        </p:spPr>
        <p:txBody>
          <a:bodyPr wrap="square" lIns="0" tIns="0" rIns="0" bIns="0" rtlCol="0" anchor="ctr"/>
          <a:lstStyle/>
          <a:p>
            <a:pPr indent="0" marL="0">
              <a:lnSpc>
                <a:spcPts val="1700"/>
              </a:lnSpc>
              <a:buNone/>
            </a:pPr>
            <a:r>
              <a:rPr lang="en-US" sz="1200" dirty="0">
                <a:solidFill>
                  <a:srgbClr val="3E322C"/>
                </a:solidFill>
                <a:latin typeface="Calibri" pitchFamily="34" charset="0"/>
                <a:ea typeface="Calibri" pitchFamily="34" charset="-122"/>
                <a:cs typeface="Calibri" pitchFamily="34" charset="-120"/>
              </a:rPr>
              <a:t>Privilégie : l'auto-suffisance de chaque exécution ; elle survit à la suppression de la première vague.</a:t>
            </a:r>
            <a:endParaRPr lang="en-US" sz="1200" dirty="0"/>
          </a:p>
        </p:txBody>
      </p:sp>
      <p:sp>
        <p:nvSpPr>
          <p:cNvPr id="19" name="Text 17"/>
          <p:cNvSpPr/>
          <p:nvPr/>
        </p:nvSpPr>
        <p:spPr>
          <a:xfrm>
            <a:off x="8377733" y="4069080"/>
            <a:ext cx="2991002" cy="1188720"/>
          </a:xfrm>
          <a:prstGeom prst="rect">
            <a:avLst/>
          </a:prstGeom>
          <a:noFill/>
          <a:ln/>
        </p:spPr>
        <p:txBody>
          <a:bodyPr wrap="square" lIns="0" tIns="0" rIns="0" bIns="0" rtlCol="0" anchor="ctr"/>
          <a:lstStyle/>
          <a:p>
            <a:pPr indent="0" marL="0">
              <a:lnSpc>
                <a:spcPts val="1700"/>
              </a:lnSpc>
              <a:buNone/>
            </a:pPr>
            <a:r>
              <a:rPr lang="en-US" sz="1200" dirty="0">
                <a:solidFill>
                  <a:srgbClr val="8C7B72"/>
                </a:solidFill>
                <a:latin typeface="Calibri" pitchFamily="34" charset="0"/>
                <a:ea typeface="Calibri" pitchFamily="34" charset="-122"/>
                <a:cs typeface="Calibri" pitchFamily="34" charset="-120"/>
              </a:rPr>
              <a:t>Sacrifie : l'impact billboard. Un diptyque divise le signal et détruit la lisibilité à 60 km/h.</a:t>
            </a:r>
            <a:endParaRPr lang="en-US" sz="1200" dirty="0"/>
          </a:p>
        </p:txBody>
      </p:sp>
      <p:sp>
        <p:nvSpPr>
          <p:cNvPr id="20" name="Shape 18"/>
          <p:cNvSpPr/>
          <p:nvPr/>
        </p:nvSpPr>
        <p:spPr>
          <a:xfrm>
            <a:off x="566928" y="6199632"/>
            <a:ext cx="256032" cy="256032"/>
          </a:xfrm>
          <a:prstGeom prst="ellipse">
            <a:avLst/>
          </a:prstGeom>
          <a:solidFill>
            <a:srgbClr val="B07714"/>
          </a:solidFill>
          <a:ln/>
        </p:spPr>
      </p:sp>
      <p:sp>
        <p:nvSpPr>
          <p:cNvPr id="21" name="Text 19"/>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2" name="Text 20"/>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8C7B72"/>
                </a:solidFill>
                <a:latin typeface="Calibri" pitchFamily="34" charset="0"/>
                <a:ea typeface="Calibri" pitchFamily="34" charset="-122"/>
                <a:cs typeface="Calibri" pitchFamily="34" charset="-120"/>
              </a:rPr>
              <a:t>Direction Artistique</a:t>
            </a:r>
            <a:endParaRPr lang="en-US" sz="950" dirty="0"/>
          </a:p>
        </p:txBody>
      </p:sp>
      <p:sp>
        <p:nvSpPr>
          <p:cNvPr id="23" name="Text 21"/>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C7B72"/>
                </a:solidFill>
                <a:latin typeface="Calibri" pitchFamily="34" charset="0"/>
                <a:ea typeface="Calibri" pitchFamily="34" charset="-122"/>
                <a:cs typeface="Calibri" pitchFamily="34" charset="-120"/>
              </a:rPr>
              <a:t>KOM-2026-11 · Recommandation artistique v1.0</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B07714"/>
                </a:solidFill>
                <a:latin typeface="Calibri" pitchFamily="34" charset="0"/>
                <a:ea typeface="Calibri" pitchFamily="34" charset="-122"/>
                <a:cs typeface="Calibri" pitchFamily="34" charset="-120"/>
              </a:rPr>
              <a:t>SECTION 3 BIS</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Pourquoi la piste A</a:t>
            </a:r>
            <a:endParaRPr lang="en-US" sz="3000" dirty="0"/>
          </a:p>
        </p:txBody>
      </p:sp>
      <p:sp>
        <p:nvSpPr>
          <p:cNvPr id="4" name="Shape 2"/>
          <p:cNvSpPr/>
          <p:nvPr/>
        </p:nvSpPr>
        <p:spPr>
          <a:xfrm>
            <a:off x="566928" y="1691640"/>
            <a:ext cx="11057839" cy="1600200"/>
          </a:xfrm>
          <a:prstGeom prst="roundRect">
            <a:avLst>
              <a:gd name="adj" fmla="val 3429"/>
            </a:avLst>
          </a:prstGeom>
          <a:solidFill>
            <a:srgbClr val="F3EEE9"/>
          </a:solidFill>
          <a:ln/>
        </p:spPr>
      </p:sp>
      <p:sp>
        <p:nvSpPr>
          <p:cNvPr id="5" name="Text 3"/>
          <p:cNvSpPr/>
          <p:nvPr/>
        </p:nvSpPr>
        <p:spPr>
          <a:xfrm>
            <a:off x="886968" y="1691640"/>
            <a:ext cx="10417759" cy="1600200"/>
          </a:xfrm>
          <a:prstGeom prst="rect">
            <a:avLst/>
          </a:prstGeom>
          <a:noFill/>
          <a:ln/>
        </p:spPr>
        <p:txBody>
          <a:bodyPr wrap="square" lIns="0" tIns="0" rIns="0" bIns="0" rtlCol="0" anchor="ctr"/>
          <a:lstStyle/>
          <a:p>
            <a:pPr indent="0" marL="0">
              <a:lnSpc>
                <a:spcPts val="2300"/>
              </a:lnSpc>
              <a:buNone/>
            </a:pPr>
            <a:r>
              <a:rPr lang="en-US" sz="1500" dirty="0">
                <a:solidFill>
                  <a:srgbClr val="1F1512"/>
                </a:solidFill>
                <a:latin typeface="Calibri" pitchFamily="34" charset="0"/>
                <a:ea typeface="Calibri" pitchFamily="34" charset="-122"/>
                <a:cs typeface="Calibri" pitchFamily="34" charset="-120"/>
              </a:rPr>
              <a:t>Cadrage serré et constant sur les mains et la marmite. Le visage n'apparaît jamais dans le Temps 1 ; il apparaît une seule fois, au dernier plan du Temps 2. Fond sombre et neutre, lumière latérale dure venant d'une fenêtre hors-champ. Le pack est tenu, jamais posé.</a:t>
            </a:r>
            <a:endParaRPr lang="en-US" sz="1500" dirty="0"/>
          </a:p>
        </p:txBody>
      </p:sp>
      <p:sp>
        <p:nvSpPr>
          <p:cNvPr id="6" name="Shape 4"/>
          <p:cNvSpPr/>
          <p:nvPr/>
        </p:nvSpPr>
        <p:spPr>
          <a:xfrm>
            <a:off x="566928" y="3520440"/>
            <a:ext cx="11057839" cy="1417320"/>
          </a:xfrm>
          <a:prstGeom prst="roundRect">
            <a:avLst>
              <a:gd name="adj" fmla="val 3871"/>
            </a:avLst>
          </a:prstGeom>
          <a:solidFill>
            <a:srgbClr val="1F1512"/>
          </a:solidFill>
          <a:ln/>
        </p:spPr>
      </p:sp>
      <p:sp>
        <p:nvSpPr>
          <p:cNvPr id="7" name="Text 5"/>
          <p:cNvSpPr/>
          <p:nvPr/>
        </p:nvSpPr>
        <p:spPr>
          <a:xfrm>
            <a:off x="932688" y="3703320"/>
            <a:ext cx="10326319" cy="256032"/>
          </a:xfrm>
          <a:prstGeom prst="rect">
            <a:avLst/>
          </a:prstGeom>
          <a:noFill/>
          <a:ln/>
        </p:spPr>
        <p:txBody>
          <a:bodyPr wrap="square" lIns="0" tIns="0" rIns="0" bIns="0" rtlCol="0" anchor="ctr"/>
          <a:lstStyle/>
          <a:p>
            <a:pPr indent="0" marL="0">
              <a:buNone/>
            </a:pPr>
            <a:r>
              <a:rPr lang="en-US" sz="1050" b="1" spc="200" kern="0" dirty="0">
                <a:solidFill>
                  <a:srgbClr val="E0A83F"/>
                </a:solidFill>
                <a:latin typeface="Calibri" pitchFamily="34" charset="0"/>
                <a:ea typeface="Calibri" pitchFamily="34" charset="-122"/>
                <a:cs typeface="Calibri" pitchFamily="34" charset="-120"/>
              </a:rPr>
              <a:t>L'ARGUMENT</a:t>
            </a:r>
            <a:endParaRPr lang="en-US" sz="1050" dirty="0"/>
          </a:p>
        </p:txBody>
      </p:sp>
      <p:sp>
        <p:nvSpPr>
          <p:cNvPr id="8" name="Text 6"/>
          <p:cNvSpPr/>
          <p:nvPr/>
        </p:nvSpPr>
        <p:spPr>
          <a:xfrm>
            <a:off x="932688" y="4005072"/>
            <a:ext cx="10326319" cy="822960"/>
          </a:xfrm>
          <a:prstGeom prst="rect">
            <a:avLst/>
          </a:prstGeom>
          <a:noFill/>
          <a:ln/>
        </p:spPr>
        <p:txBody>
          <a:bodyPr wrap="square" lIns="0" tIns="0" rIns="0" bIns="0" rtlCol="0" anchor="ctr"/>
          <a:lstStyle/>
          <a:p>
            <a:pPr indent="0" marL="0">
              <a:lnSpc>
                <a:spcPts val="2200"/>
              </a:lnSpc>
              <a:buNone/>
            </a:pPr>
            <a:r>
              <a:rPr lang="en-US" sz="1450" dirty="0">
                <a:solidFill>
                  <a:srgbClr val="FFFFFF"/>
                </a:solidFill>
                <a:latin typeface="Calibri" pitchFamily="34" charset="0"/>
                <a:ea typeface="Calibri" pitchFamily="34" charset="-122"/>
                <a:cs typeface="Calibri" pitchFamily="34" charset="-120"/>
              </a:rPr>
              <a:t>Le problème documenté au brief est un problème d'attribution : un tiers des personnes exposées ont crédité le concurrent. Un système visuel indifférenciable de la catégorie reproduira exactement ce résultat. L'austérité est le prix de la reconnaissance.</a:t>
            </a:r>
            <a:endParaRPr lang="en-US" sz="1450" dirty="0"/>
          </a:p>
        </p:txBody>
      </p:sp>
      <p:sp>
        <p:nvSpPr>
          <p:cNvPr id="9" name="Text 7"/>
          <p:cNvSpPr/>
          <p:nvPr/>
        </p:nvSpPr>
        <p:spPr>
          <a:xfrm>
            <a:off x="566928" y="5166360"/>
            <a:ext cx="11057839" cy="457200"/>
          </a:xfrm>
          <a:prstGeom prst="rect">
            <a:avLst/>
          </a:prstGeom>
          <a:noFill/>
          <a:ln/>
        </p:spPr>
        <p:txBody>
          <a:bodyPr wrap="square" lIns="0" tIns="0" rIns="0" bIns="0" rtlCol="0" anchor="ctr"/>
          <a:lstStyle/>
          <a:p>
            <a:pPr indent="0" marL="0">
              <a:buNone/>
            </a:pPr>
            <a:r>
              <a:rPr lang="en-US" sz="1300" b="1" dirty="0">
                <a:solidFill>
                  <a:srgbClr val="B07714"/>
                </a:solidFill>
                <a:latin typeface="Calibri" pitchFamily="34" charset="0"/>
                <a:ea typeface="Calibri" pitchFamily="34" charset="-122"/>
                <a:cs typeface="Calibri" pitchFamily="34" charset="-120"/>
              </a:rPr>
              <a:t>Recommandation : piste A.  Piste B en repli argumenté si le client refuse l'austérité.  Piste C en secours structurel si l'arbitrage média menace le Temps 1.</a:t>
            </a:r>
            <a:endParaRPr lang="en-US" sz="1300" dirty="0"/>
          </a:p>
        </p:txBody>
      </p:sp>
      <p:sp>
        <p:nvSpPr>
          <p:cNvPr id="10" name="Shape 8"/>
          <p:cNvSpPr/>
          <p:nvPr/>
        </p:nvSpPr>
        <p:spPr>
          <a:xfrm>
            <a:off x="566928" y="6199632"/>
            <a:ext cx="256032" cy="256032"/>
          </a:xfrm>
          <a:prstGeom prst="ellipse">
            <a:avLst/>
          </a:prstGeom>
          <a:solidFill>
            <a:srgbClr val="B07714"/>
          </a:solidFill>
          <a:ln/>
        </p:spPr>
      </p:sp>
      <p:sp>
        <p:nvSpPr>
          <p:cNvPr id="11" name="Text 9"/>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2" name="Text 10"/>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8C7B72"/>
                </a:solidFill>
                <a:latin typeface="Calibri" pitchFamily="34" charset="0"/>
                <a:ea typeface="Calibri" pitchFamily="34" charset="-122"/>
                <a:cs typeface="Calibri" pitchFamily="34" charset="-120"/>
              </a:rPr>
              <a:t>Direction Artistique</a:t>
            </a:r>
            <a:endParaRPr lang="en-US" sz="950" dirty="0"/>
          </a:p>
        </p:txBody>
      </p:sp>
      <p:sp>
        <p:nvSpPr>
          <p:cNvPr id="13" name="Text 11"/>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C7B72"/>
                </a:solidFill>
                <a:latin typeface="Calibri" pitchFamily="34" charset="0"/>
                <a:ea typeface="Calibri" pitchFamily="34" charset="-122"/>
                <a:cs typeface="Calibri" pitchFamily="34" charset="-120"/>
              </a:rPr>
              <a:t>KOM-2026-11 · Recommandation artistique v1.0</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B07714"/>
                </a:solidFill>
                <a:latin typeface="Calibri" pitchFamily="34" charset="0"/>
                <a:ea typeface="Calibri" pitchFamily="34" charset="-122"/>
                <a:cs typeface="Calibri" pitchFamily="34" charset="-120"/>
              </a:rPr>
              <a:t>SECTION 4</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Le système visuel</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7839" cy="914400"/>
        </p:xfrm>
        <a:graphic>
          <a:graphicData uri="http://schemas.openxmlformats.org/drawingml/2006/table">
            <a:tbl>
              <a:tblPr/>
              <a:tblGrid>
                <a:gridCol w="2651760"/>
                <a:gridCol w="8421624"/>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Composant</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B0771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Spécification</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B07714"/>
                    </a:solidFill>
                  </a:tcPr>
                </a:tc>
              </a:tr>
              <a:tr h="347472">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Optique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85 mm, ouverture f/2.0, faible profondeur de champ. Aucune focale large sur les plans de geste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47472">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Hauteur de caméra</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Au niveau de la marmite, jamais en plongée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Lumière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Source latérale unique et dure, 5200 K, sans remplissage. Ombres portées assumées</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47472">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Palette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Fond brun profond, peau en valeurs naturelles non éclaircies, rouge du pack en unique accent saturé</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Contraste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Renforcé de deux crans par rapport à un référentiel print européen — plein soleil équatorial</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47472">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Typographie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Une seule graisse de titrage, sans empattement, condensée, en capitales. Aucune seconde police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Traitement du pack</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Tenu en main, éclairé par la même source, minimum 20 % de la surface en OOH</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47472">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Espace négatif</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Dessiné en premier, toujours à gauche du geste, jamais comblé</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5212080"/>
            <a:ext cx="11057839" cy="365760"/>
          </a:xfrm>
          <a:prstGeom prst="rect">
            <a:avLst/>
          </a:prstGeom>
          <a:noFill/>
          <a:ln/>
        </p:spPr>
        <p:txBody>
          <a:bodyPr wrap="square" lIns="0" tIns="0" rIns="0" bIns="0" rtlCol="0" anchor="ctr"/>
          <a:lstStyle/>
          <a:p>
            <a:pPr indent="0" marL="0">
              <a:buNone/>
            </a:pPr>
            <a:r>
              <a:rPr lang="en-US" sz="1250" b="1" dirty="0">
                <a:solidFill>
                  <a:srgbClr val="B02118"/>
                </a:solidFill>
                <a:latin typeface="Calibri" pitchFamily="34" charset="0"/>
                <a:ea typeface="Calibri" pitchFamily="34" charset="-122"/>
                <a:cs typeface="Calibri" pitchFamily="34" charset="-120"/>
              </a:rPr>
              <a:t>Interdits de système :  dégradé  ·  vapeur ajoutée  ·  fond blanc  ·  flou artificiel  ·  sourire face caméra dans le Temps 1.</a:t>
            </a:r>
            <a:endParaRPr lang="en-US" sz="1250" dirty="0"/>
          </a:p>
        </p:txBody>
      </p:sp>
      <p:sp>
        <p:nvSpPr>
          <p:cNvPr id="6" name="Shape 3"/>
          <p:cNvSpPr/>
          <p:nvPr/>
        </p:nvSpPr>
        <p:spPr>
          <a:xfrm>
            <a:off x="566928" y="6199632"/>
            <a:ext cx="256032" cy="256032"/>
          </a:xfrm>
          <a:prstGeom prst="ellipse">
            <a:avLst/>
          </a:prstGeom>
          <a:solidFill>
            <a:srgbClr val="B07714"/>
          </a:solidFill>
          <a:ln/>
        </p:spPr>
      </p:sp>
      <p:sp>
        <p:nvSpPr>
          <p:cNvPr id="7" name="Text 4"/>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8" name="Text 5"/>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8C7B72"/>
                </a:solidFill>
                <a:latin typeface="Calibri" pitchFamily="34" charset="0"/>
                <a:ea typeface="Calibri" pitchFamily="34" charset="-122"/>
                <a:cs typeface="Calibri" pitchFamily="34" charset="-120"/>
              </a:rPr>
              <a:t>Direction Artistique</a:t>
            </a:r>
            <a:endParaRPr lang="en-US" sz="950" dirty="0"/>
          </a:p>
        </p:txBody>
      </p:sp>
      <p:sp>
        <p:nvSpPr>
          <p:cNvPr id="9" name="Text 6"/>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C7B72"/>
                </a:solidFill>
                <a:latin typeface="Calibri" pitchFamily="34" charset="0"/>
                <a:ea typeface="Calibri" pitchFamily="34" charset="-122"/>
                <a:cs typeface="Calibri" pitchFamily="34" charset="-120"/>
              </a:rPr>
              <a:t>KOM-2026-11 · Recommandation artistique v1.0</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B07714"/>
                </a:solidFill>
                <a:latin typeface="Calibri" pitchFamily="34" charset="0"/>
                <a:ea typeface="Calibri" pitchFamily="34" charset="-122"/>
                <a:cs typeface="Calibri" pitchFamily="34" charset="-120"/>
              </a:rPr>
              <a:t>SECTION 5</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L'épreuve des formats</a:t>
            </a:r>
            <a:endParaRPr lang="en-US" sz="3000" dirty="0"/>
          </a:p>
        </p:txBody>
      </p:sp>
      <p:sp>
        <p:nvSpPr>
          <p:cNvPr id="4" name="Text 2"/>
          <p:cNvSpPr/>
          <p:nvPr/>
        </p:nvSpPr>
        <p:spPr>
          <a:xfrm>
            <a:off x="566928" y="1481328"/>
            <a:ext cx="11057839" cy="274320"/>
          </a:xfrm>
          <a:prstGeom prst="rect">
            <a:avLst/>
          </a:prstGeom>
          <a:noFill/>
          <a:ln/>
        </p:spPr>
        <p:txBody>
          <a:bodyPr wrap="square" lIns="0" tIns="0" rIns="0" bIns="0" rtlCol="0" anchor="ctr"/>
          <a:lstStyle/>
          <a:p>
            <a:pPr indent="0" marL="0">
              <a:buNone/>
            </a:pPr>
            <a:r>
              <a:rPr lang="en-US" sz="1200" i="1" dirty="0">
                <a:solidFill>
                  <a:srgbClr val="8C7B72"/>
                </a:solidFill>
                <a:latin typeface="Calibri" pitchFamily="34" charset="0"/>
                <a:ea typeface="Calibri" pitchFamily="34" charset="-122"/>
                <a:cs typeface="Calibri" pitchFamily="34" charset="-120"/>
              </a:rPr>
              <a:t>Le format dicte la composition. Chaque déclinaison est conçue — jamais adaptée par recadrage.</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920240"/>
          <a:ext cx="11057839" cy="914400"/>
        </p:xfrm>
        <a:graphic>
          <a:graphicData uri="http://schemas.openxmlformats.org/drawingml/2006/table">
            <a:tbl>
              <a:tblPr/>
              <a:tblGrid>
                <a:gridCol w="2286000"/>
                <a:gridCol w="4663440"/>
                <a:gridCol w="914400"/>
                <a:gridCol w="3209544"/>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Format</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B0771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Composition</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B0771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Mots</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B0771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Test</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B07714"/>
                    </a:solidFill>
                  </a:tcPr>
                </a:tc>
              </a:tr>
              <a:tr h="365760">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OOH 12 m² routier</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Geste plein cadre, pack tenu à droite, accroche dans le vide à gauche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4 max</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Lisible à 60 km/h, en 3 s</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65760">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OOH 4 m² urbain</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Geste resserré, accroche sous le geste, pack agrandi</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4 max</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Lisible à 15 m</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Abribus vertical</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Geste en tiers haut, pack en tiers bas</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Lecture en 1 s à 2 m</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65760">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Film 45 s</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Enchaînement de gestes, visage au dernier plan uniquement</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Compréhensible sans son</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Film 10 s</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Un seul geste, une seule coupe, signature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Attribution sans logo à l'écran</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65760">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PLV linéaire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Geste, sans texte, sans signature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Reconnaissable à côté du concurrent</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F1512"/>
                          </a:solidFill>
                          <a:latin typeface="Calibri" pitchFamily="34" charset="0"/>
                          <a:ea typeface="Calibri" pitchFamily="34" charset="-122"/>
                          <a:cs typeface="Calibri" pitchFamily="34" charset="-120"/>
                        </a:rPr>
                        <a:t>Digital vertical</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Geste recadré à la prise de vue, pas au montage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4 max</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00" dirty="0">
                          <a:solidFill>
                            <a:srgbClr val="1F1512"/>
                          </a:solidFill>
                          <a:latin typeface="Calibri" pitchFamily="34" charset="0"/>
                          <a:ea typeface="Calibri" pitchFamily="34" charset="-122"/>
                          <a:cs typeface="Calibri" pitchFamily="34" charset="-120"/>
                        </a:rPr>
                        <a:t>Tient en muet et en boucle</a:t>
                      </a:r>
                      <a:endParaRPr lang="en-US" sz="110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bl>
          </a:graphicData>
        </a:graphic>
      </p:graphicFrame>
      <p:sp>
        <p:nvSpPr>
          <p:cNvPr id="6" name="Text 3"/>
          <p:cNvSpPr/>
          <p:nvPr/>
        </p:nvSpPr>
        <p:spPr>
          <a:xfrm>
            <a:off x="566928" y="5349240"/>
            <a:ext cx="11057839" cy="365760"/>
          </a:xfrm>
          <a:prstGeom prst="rect">
            <a:avLst/>
          </a:prstGeom>
          <a:noFill/>
          <a:ln/>
        </p:spPr>
        <p:txBody>
          <a:bodyPr wrap="square" lIns="0" tIns="0" rIns="0" bIns="0" rtlCol="0" anchor="ctr"/>
          <a:lstStyle/>
          <a:p>
            <a:pPr indent="0" marL="0">
              <a:buNone/>
            </a:pPr>
            <a:r>
              <a:rPr lang="en-US" sz="1250" b="1" dirty="0">
                <a:solidFill>
                  <a:srgbClr val="1F1512"/>
                </a:solidFill>
                <a:latin typeface="Calibri" pitchFamily="34" charset="0"/>
                <a:ea typeface="Calibri" pitchFamily="34" charset="-122"/>
                <a:cs typeface="Calibri" pitchFamily="34" charset="-120"/>
              </a:rPr>
              <a:t>Règle de production : tous les formats sont shootés dans leur ratio de destination. Aucun recadrage de secours.</a:t>
            </a:r>
            <a:endParaRPr lang="en-US" sz="1250" dirty="0"/>
          </a:p>
        </p:txBody>
      </p:sp>
      <p:sp>
        <p:nvSpPr>
          <p:cNvPr id="7" name="Shape 4"/>
          <p:cNvSpPr/>
          <p:nvPr/>
        </p:nvSpPr>
        <p:spPr>
          <a:xfrm>
            <a:off x="566928" y="6199632"/>
            <a:ext cx="256032" cy="256032"/>
          </a:xfrm>
          <a:prstGeom prst="ellipse">
            <a:avLst/>
          </a:prstGeom>
          <a:solidFill>
            <a:srgbClr val="B07714"/>
          </a:solidFill>
          <a:ln/>
        </p:spPr>
      </p:sp>
      <p:sp>
        <p:nvSpPr>
          <p:cNvPr id="8" name="Text 5"/>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9" name="Text 6"/>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8C7B72"/>
                </a:solidFill>
                <a:latin typeface="Calibri" pitchFamily="34" charset="0"/>
                <a:ea typeface="Calibri" pitchFamily="34" charset="-122"/>
                <a:cs typeface="Calibri" pitchFamily="34" charset="-120"/>
              </a:rPr>
              <a:t>Direction Artistique</a:t>
            </a:r>
            <a:endParaRPr lang="en-US" sz="950" dirty="0"/>
          </a:p>
        </p:txBody>
      </p:sp>
      <p:sp>
        <p:nvSpPr>
          <p:cNvPr id="10" name="Text 7"/>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C7B72"/>
                </a:solidFill>
                <a:latin typeface="Calibri" pitchFamily="34" charset="0"/>
                <a:ea typeface="Calibri" pitchFamily="34" charset="-122"/>
                <a:cs typeface="Calibri" pitchFamily="34" charset="-120"/>
              </a:rPr>
              <a:t>KOM-2026-11 · Recommandation artistique v1.0</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1512"/>
        </a:solidFill>
      </p:bgPr>
    </p:bg>
    <p:spTree>
      <p:nvGrpSpPr>
        <p:cNvPr id="1" name=""/>
        <p:cNvGrpSpPr/>
        <p:nvPr/>
      </p:nvGrpSpPr>
      <p:grpSpPr>
        <a:xfrm>
          <a:off x="0" y="0"/>
          <a:ext cx="0" cy="0"/>
          <a:chOff x="0" y="0"/>
          <a:chExt cx="0" cy="0"/>
        </a:xfrm>
      </p:grpSpPr>
      <p:sp>
        <p:nvSpPr>
          <p:cNvPr id="2" name="Text 0"/>
          <p:cNvSpPr/>
          <p:nvPr/>
        </p:nvSpPr>
        <p:spPr>
          <a:xfrm>
            <a:off x="566928" y="548640"/>
            <a:ext cx="11057839" cy="256032"/>
          </a:xfrm>
          <a:prstGeom prst="rect">
            <a:avLst/>
          </a:prstGeom>
          <a:noFill/>
          <a:ln/>
        </p:spPr>
        <p:txBody>
          <a:bodyPr wrap="square" lIns="0" tIns="0" rIns="0" bIns="0" rtlCol="0" anchor="ctr"/>
          <a:lstStyle/>
          <a:p>
            <a:pPr indent="0" marL="0">
              <a:buNone/>
            </a:pPr>
            <a:r>
              <a:rPr lang="en-US" sz="1050" b="1" spc="200" kern="0" dirty="0">
                <a:solidFill>
                  <a:srgbClr val="E0A83F"/>
                </a:solidFill>
                <a:latin typeface="Calibri" pitchFamily="34" charset="0"/>
                <a:ea typeface="Calibri" pitchFamily="34" charset="-122"/>
                <a:cs typeface="Calibri" pitchFamily="34" charset="-120"/>
              </a:rPr>
              <a:t>SECTION 6</a:t>
            </a:r>
            <a:endParaRPr lang="en-US" sz="1050" dirty="0"/>
          </a:p>
        </p:txBody>
      </p:sp>
      <p:sp>
        <p:nvSpPr>
          <p:cNvPr id="3" name="Text 1"/>
          <p:cNvSpPr/>
          <p:nvPr/>
        </p:nvSpPr>
        <p:spPr>
          <a:xfrm>
            <a:off x="566928" y="841248"/>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La preuve d'attribution</a:t>
            </a:r>
            <a:endParaRPr lang="en-US" sz="3000" dirty="0"/>
          </a:p>
        </p:txBody>
      </p:sp>
      <p:sp>
        <p:nvSpPr>
          <p:cNvPr id="4" name="Text 2"/>
          <p:cNvSpPr/>
          <p:nvPr/>
        </p:nvSpPr>
        <p:spPr>
          <a:xfrm>
            <a:off x="566928" y="1645920"/>
            <a:ext cx="11057839" cy="320040"/>
          </a:xfrm>
          <a:prstGeom prst="rect">
            <a:avLst/>
          </a:prstGeom>
          <a:noFill/>
          <a:ln/>
        </p:spPr>
        <p:txBody>
          <a:bodyPr wrap="square" lIns="0" tIns="0" rIns="0" bIns="0" rtlCol="0" anchor="ctr"/>
          <a:lstStyle/>
          <a:p>
            <a:pPr indent="0" marL="0">
              <a:buNone/>
            </a:pPr>
            <a:r>
              <a:rPr lang="en-US" sz="1400" dirty="0">
                <a:solidFill>
                  <a:srgbClr val="D8C9C0"/>
                </a:solidFill>
                <a:latin typeface="Calibri" pitchFamily="34" charset="0"/>
                <a:ea typeface="Calibri" pitchFamily="34" charset="-122"/>
                <a:cs typeface="Calibri" pitchFamily="34" charset="-120"/>
              </a:rPr>
              <a:t>Test appliqué à chaque exécution avant validation : logo et signature masqués, la marque reste-t-elle identifiable ?</a:t>
            </a:r>
            <a:endParaRPr lang="en-US" sz="1400" dirty="0"/>
          </a:p>
        </p:txBody>
      </p:sp>
      <p:sp>
        <p:nvSpPr>
          <p:cNvPr id="5" name="Shape 3"/>
          <p:cNvSpPr/>
          <p:nvPr/>
        </p:nvSpPr>
        <p:spPr>
          <a:xfrm>
            <a:off x="566928" y="2240280"/>
            <a:ext cx="3503066" cy="1828800"/>
          </a:xfrm>
          <a:prstGeom prst="roundRect">
            <a:avLst>
              <a:gd name="adj" fmla="val 3000"/>
            </a:avLst>
          </a:prstGeom>
          <a:solidFill>
            <a:srgbClr val="33231D"/>
          </a:solidFill>
          <a:ln/>
        </p:spPr>
      </p:sp>
      <p:sp>
        <p:nvSpPr>
          <p:cNvPr id="6" name="Shape 4"/>
          <p:cNvSpPr/>
          <p:nvPr/>
        </p:nvSpPr>
        <p:spPr>
          <a:xfrm>
            <a:off x="822960" y="2468880"/>
            <a:ext cx="384048" cy="384048"/>
          </a:xfrm>
          <a:prstGeom prst="ellipse">
            <a:avLst/>
          </a:prstGeom>
          <a:solidFill>
            <a:srgbClr val="E0A83F"/>
          </a:solidFill>
          <a:ln/>
        </p:spPr>
      </p:sp>
      <p:sp>
        <p:nvSpPr>
          <p:cNvPr id="7" name="Text 5"/>
          <p:cNvSpPr/>
          <p:nvPr/>
        </p:nvSpPr>
        <p:spPr>
          <a:xfrm>
            <a:off x="822960" y="2468880"/>
            <a:ext cx="384048" cy="384048"/>
          </a:xfrm>
          <a:prstGeom prst="rect">
            <a:avLst/>
          </a:prstGeom>
          <a:noFill/>
          <a:ln/>
        </p:spPr>
        <p:txBody>
          <a:bodyPr wrap="square" lIns="0" tIns="0" rIns="0" bIns="0" rtlCol="0" anchor="ctr"/>
          <a:lstStyle/>
          <a:p>
            <a:pPr algn="ctr" indent="0" marL="0">
              <a:buNone/>
            </a:pPr>
            <a:r>
              <a:rPr lang="en-US" sz="1300" b="1" dirty="0">
                <a:solidFill>
                  <a:srgbClr val="1F1512"/>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22960" y="2962656"/>
            <a:ext cx="2991002"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Le geste</a:t>
            </a:r>
            <a:endParaRPr lang="en-US" sz="1900" dirty="0"/>
          </a:p>
        </p:txBody>
      </p:sp>
      <p:sp>
        <p:nvSpPr>
          <p:cNvPr id="9" name="Text 7"/>
          <p:cNvSpPr/>
          <p:nvPr/>
        </p:nvSpPr>
        <p:spPr>
          <a:xfrm>
            <a:off x="822960" y="3364992"/>
            <a:ext cx="2991002" cy="594360"/>
          </a:xfrm>
          <a:prstGeom prst="rect">
            <a:avLst/>
          </a:prstGeom>
          <a:noFill/>
          <a:ln/>
        </p:spPr>
        <p:txBody>
          <a:bodyPr wrap="square" lIns="0" tIns="0" rIns="0" bIns="0" rtlCol="0" anchor="ctr"/>
          <a:lstStyle/>
          <a:p>
            <a:pPr indent="0" marL="0">
              <a:lnSpc>
                <a:spcPts val="1700"/>
              </a:lnSpc>
              <a:buNone/>
            </a:pPr>
            <a:r>
              <a:rPr lang="en-US" sz="1200" dirty="0">
                <a:solidFill>
                  <a:srgbClr val="C9B8AF"/>
                </a:solidFill>
                <a:latin typeface="Calibri" pitchFamily="34" charset="0"/>
                <a:ea typeface="Calibri" pitchFamily="34" charset="-122"/>
                <a:cs typeface="Calibri" pitchFamily="34" charset="-120"/>
              </a:rPr>
              <a:t>L'écrasement du cube entre pouce et index au-dessus de la marmite.</a:t>
            </a:r>
            <a:endParaRPr lang="en-US" sz="1200" dirty="0"/>
          </a:p>
        </p:txBody>
      </p:sp>
      <p:sp>
        <p:nvSpPr>
          <p:cNvPr id="10" name="Shape 8"/>
          <p:cNvSpPr/>
          <p:nvPr/>
        </p:nvSpPr>
        <p:spPr>
          <a:xfrm>
            <a:off x="4344314" y="2240280"/>
            <a:ext cx="3503066" cy="1828800"/>
          </a:xfrm>
          <a:prstGeom prst="roundRect">
            <a:avLst>
              <a:gd name="adj" fmla="val 3000"/>
            </a:avLst>
          </a:prstGeom>
          <a:solidFill>
            <a:srgbClr val="33231D"/>
          </a:solidFill>
          <a:ln/>
        </p:spPr>
      </p:sp>
      <p:sp>
        <p:nvSpPr>
          <p:cNvPr id="11" name="Shape 9"/>
          <p:cNvSpPr/>
          <p:nvPr/>
        </p:nvSpPr>
        <p:spPr>
          <a:xfrm>
            <a:off x="4600346" y="2468880"/>
            <a:ext cx="384048" cy="384048"/>
          </a:xfrm>
          <a:prstGeom prst="ellipse">
            <a:avLst/>
          </a:prstGeom>
          <a:solidFill>
            <a:srgbClr val="E0A83F"/>
          </a:solidFill>
          <a:ln/>
        </p:spPr>
      </p:sp>
      <p:sp>
        <p:nvSpPr>
          <p:cNvPr id="12" name="Text 10"/>
          <p:cNvSpPr/>
          <p:nvPr/>
        </p:nvSpPr>
        <p:spPr>
          <a:xfrm>
            <a:off x="4600346" y="2468880"/>
            <a:ext cx="384048" cy="384048"/>
          </a:xfrm>
          <a:prstGeom prst="rect">
            <a:avLst/>
          </a:prstGeom>
          <a:noFill/>
          <a:ln/>
        </p:spPr>
        <p:txBody>
          <a:bodyPr wrap="square" lIns="0" tIns="0" rIns="0" bIns="0" rtlCol="0" anchor="ctr"/>
          <a:lstStyle/>
          <a:p>
            <a:pPr algn="ctr" indent="0" marL="0">
              <a:buNone/>
            </a:pPr>
            <a:r>
              <a:rPr lang="en-US" sz="1300" b="1" dirty="0">
                <a:solidFill>
                  <a:srgbClr val="1F1512"/>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600346" y="2962656"/>
            <a:ext cx="2991002"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Le cadrage</a:t>
            </a:r>
            <a:endParaRPr lang="en-US" sz="1900" dirty="0"/>
          </a:p>
        </p:txBody>
      </p:sp>
      <p:sp>
        <p:nvSpPr>
          <p:cNvPr id="14" name="Text 12"/>
          <p:cNvSpPr/>
          <p:nvPr/>
        </p:nvSpPr>
        <p:spPr>
          <a:xfrm>
            <a:off x="4600346" y="3364992"/>
            <a:ext cx="2991002" cy="594360"/>
          </a:xfrm>
          <a:prstGeom prst="rect">
            <a:avLst/>
          </a:prstGeom>
          <a:noFill/>
          <a:ln/>
        </p:spPr>
        <p:txBody>
          <a:bodyPr wrap="square" lIns="0" tIns="0" rIns="0" bIns="0" rtlCol="0" anchor="ctr"/>
          <a:lstStyle/>
          <a:p>
            <a:pPr indent="0" marL="0">
              <a:lnSpc>
                <a:spcPts val="1700"/>
              </a:lnSpc>
              <a:buNone/>
            </a:pPr>
            <a:r>
              <a:rPr lang="en-US" sz="1200" dirty="0">
                <a:solidFill>
                  <a:srgbClr val="C9B8AF"/>
                </a:solidFill>
                <a:latin typeface="Calibri" pitchFamily="34" charset="0"/>
                <a:ea typeface="Calibri" pitchFamily="34" charset="-122"/>
                <a:cs typeface="Calibri" pitchFamily="34" charset="-120"/>
              </a:rPr>
              <a:t>85 mm à hauteur de marmite, fond sombre, lumière latérale dure.</a:t>
            </a:r>
            <a:endParaRPr lang="en-US" sz="1200" dirty="0"/>
          </a:p>
        </p:txBody>
      </p:sp>
      <p:sp>
        <p:nvSpPr>
          <p:cNvPr id="15" name="Shape 13"/>
          <p:cNvSpPr/>
          <p:nvPr/>
        </p:nvSpPr>
        <p:spPr>
          <a:xfrm>
            <a:off x="8121701" y="2240280"/>
            <a:ext cx="3503066" cy="1828800"/>
          </a:xfrm>
          <a:prstGeom prst="roundRect">
            <a:avLst>
              <a:gd name="adj" fmla="val 3000"/>
            </a:avLst>
          </a:prstGeom>
          <a:solidFill>
            <a:srgbClr val="33231D"/>
          </a:solidFill>
          <a:ln/>
        </p:spPr>
      </p:sp>
      <p:sp>
        <p:nvSpPr>
          <p:cNvPr id="16" name="Shape 14"/>
          <p:cNvSpPr/>
          <p:nvPr/>
        </p:nvSpPr>
        <p:spPr>
          <a:xfrm>
            <a:off x="8377733" y="2468880"/>
            <a:ext cx="384048" cy="384048"/>
          </a:xfrm>
          <a:prstGeom prst="ellipse">
            <a:avLst/>
          </a:prstGeom>
          <a:solidFill>
            <a:srgbClr val="E0A83F"/>
          </a:solidFill>
          <a:ln/>
        </p:spPr>
      </p:sp>
      <p:sp>
        <p:nvSpPr>
          <p:cNvPr id="17" name="Text 15"/>
          <p:cNvSpPr/>
          <p:nvPr/>
        </p:nvSpPr>
        <p:spPr>
          <a:xfrm>
            <a:off x="8377733" y="2468880"/>
            <a:ext cx="384048" cy="384048"/>
          </a:xfrm>
          <a:prstGeom prst="rect">
            <a:avLst/>
          </a:prstGeom>
          <a:noFill/>
          <a:ln/>
        </p:spPr>
        <p:txBody>
          <a:bodyPr wrap="square" lIns="0" tIns="0" rIns="0" bIns="0" rtlCol="0" anchor="ctr"/>
          <a:lstStyle/>
          <a:p>
            <a:pPr algn="ctr" indent="0" marL="0">
              <a:buNone/>
            </a:pPr>
            <a:r>
              <a:rPr lang="en-US" sz="1300" b="1" dirty="0">
                <a:solidFill>
                  <a:srgbClr val="1F1512"/>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377733" y="2962656"/>
            <a:ext cx="2991002"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L'accent rouge</a:t>
            </a:r>
            <a:endParaRPr lang="en-US" sz="1900" dirty="0"/>
          </a:p>
        </p:txBody>
      </p:sp>
      <p:sp>
        <p:nvSpPr>
          <p:cNvPr id="19" name="Text 17"/>
          <p:cNvSpPr/>
          <p:nvPr/>
        </p:nvSpPr>
        <p:spPr>
          <a:xfrm>
            <a:off x="8377733" y="3364992"/>
            <a:ext cx="2991002" cy="594360"/>
          </a:xfrm>
          <a:prstGeom prst="rect">
            <a:avLst/>
          </a:prstGeom>
          <a:noFill/>
          <a:ln/>
        </p:spPr>
        <p:txBody>
          <a:bodyPr wrap="square" lIns="0" tIns="0" rIns="0" bIns="0" rtlCol="0" anchor="ctr"/>
          <a:lstStyle/>
          <a:p>
            <a:pPr indent="0" marL="0">
              <a:lnSpc>
                <a:spcPts val="1700"/>
              </a:lnSpc>
              <a:buNone/>
            </a:pPr>
            <a:r>
              <a:rPr lang="en-US" sz="1200" dirty="0">
                <a:solidFill>
                  <a:srgbClr val="C9B8AF"/>
                </a:solidFill>
                <a:latin typeface="Calibri" pitchFamily="34" charset="0"/>
                <a:ea typeface="Calibri" pitchFamily="34" charset="-122"/>
                <a:cs typeface="Calibri" pitchFamily="34" charset="-120"/>
              </a:rPr>
              <a:t>Seul élément saturé de l'image, porté par le pack tenu en main.</a:t>
            </a:r>
            <a:endParaRPr lang="en-US" sz="1200" dirty="0"/>
          </a:p>
        </p:txBody>
      </p:sp>
      <p:sp>
        <p:nvSpPr>
          <p:cNvPr id="20" name="Shape 18"/>
          <p:cNvSpPr/>
          <p:nvPr/>
        </p:nvSpPr>
        <p:spPr>
          <a:xfrm>
            <a:off x="566928" y="4343400"/>
            <a:ext cx="11057839" cy="960120"/>
          </a:xfrm>
          <a:prstGeom prst="roundRect">
            <a:avLst>
              <a:gd name="adj" fmla="val 5714"/>
            </a:avLst>
          </a:prstGeom>
          <a:solidFill>
            <a:srgbClr val="E0A83F"/>
          </a:solidFill>
          <a:ln/>
        </p:spPr>
      </p:sp>
      <p:sp>
        <p:nvSpPr>
          <p:cNvPr id="21" name="Text 19"/>
          <p:cNvSpPr/>
          <p:nvPr/>
        </p:nvSpPr>
        <p:spPr>
          <a:xfrm>
            <a:off x="886968" y="4343400"/>
            <a:ext cx="10417759" cy="960120"/>
          </a:xfrm>
          <a:prstGeom prst="rect">
            <a:avLst/>
          </a:prstGeom>
          <a:noFill/>
          <a:ln/>
        </p:spPr>
        <p:txBody>
          <a:bodyPr wrap="square" lIns="0" tIns="0" rIns="0" bIns="0" rtlCol="0" anchor="ctr"/>
          <a:lstStyle/>
          <a:p>
            <a:pPr indent="0" marL="0">
              <a:buNone/>
            </a:pPr>
            <a:r>
              <a:rPr lang="en-US" sz="1500" b="1" dirty="0">
                <a:solidFill>
                  <a:srgbClr val="3A2A08"/>
                </a:solidFill>
                <a:latin typeface="Cambria" pitchFamily="34" charset="0"/>
                <a:ea typeface="Cambria" pitchFamily="34" charset="-122"/>
                <a:cs typeface="Cambria" pitchFamily="34" charset="-120"/>
              </a:rPr>
              <a:t>Un visuel qui perd deux de ces trois porteurs sort du système et est refusé en revue. Ce critère remplace le goût dans l'arbitrage.</a:t>
            </a:r>
            <a:endParaRPr lang="en-US" sz="1500" dirty="0"/>
          </a:p>
        </p:txBody>
      </p:sp>
      <p:sp>
        <p:nvSpPr>
          <p:cNvPr id="22" name="Shape 20"/>
          <p:cNvSpPr/>
          <p:nvPr/>
        </p:nvSpPr>
        <p:spPr>
          <a:xfrm>
            <a:off x="566928" y="6199632"/>
            <a:ext cx="256032" cy="256032"/>
          </a:xfrm>
          <a:prstGeom prst="ellipse">
            <a:avLst/>
          </a:prstGeom>
          <a:solidFill>
            <a:srgbClr val="B07714"/>
          </a:solidFill>
          <a:ln/>
        </p:spPr>
      </p:sp>
      <p:sp>
        <p:nvSpPr>
          <p:cNvPr id="23" name="Text 21"/>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4" name="Text 22"/>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BFAFA6"/>
                </a:solidFill>
                <a:latin typeface="Calibri" pitchFamily="34" charset="0"/>
                <a:ea typeface="Calibri" pitchFamily="34" charset="-122"/>
                <a:cs typeface="Calibri" pitchFamily="34" charset="-120"/>
              </a:rPr>
              <a:t>Direction Artistique</a:t>
            </a:r>
            <a:endParaRPr lang="en-US" sz="950" dirty="0"/>
          </a:p>
        </p:txBody>
      </p:sp>
      <p:sp>
        <p:nvSpPr>
          <p:cNvPr id="25" name="Text 23"/>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A7770"/>
                </a:solidFill>
                <a:latin typeface="Calibri" pitchFamily="34" charset="0"/>
                <a:ea typeface="Calibri" pitchFamily="34" charset="-122"/>
                <a:cs typeface="Calibri" pitchFamily="34" charset="-120"/>
              </a:rPr>
              <a:t>KOM-2026-11 · Recommandation artistique v1.0</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B07714"/>
                </a:solidFill>
                <a:latin typeface="Calibri" pitchFamily="34" charset="0"/>
                <a:ea typeface="Calibri" pitchFamily="34" charset="-122"/>
                <a:cs typeface="Calibri" pitchFamily="34" charset="-120"/>
              </a:rPr>
              <a:t>SECTION 7</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Références et démarcation</a:t>
            </a:r>
            <a:endParaRPr lang="en-US" sz="3000" dirty="0"/>
          </a:p>
        </p:txBody>
      </p:sp>
      <p:sp>
        <p:nvSpPr>
          <p:cNvPr id="4" name="Shape 2"/>
          <p:cNvSpPr/>
          <p:nvPr/>
        </p:nvSpPr>
        <p:spPr>
          <a:xfrm>
            <a:off x="566928" y="1691640"/>
            <a:ext cx="3503066" cy="2468880"/>
          </a:xfrm>
          <a:prstGeom prst="roundRect">
            <a:avLst>
              <a:gd name="adj" fmla="val 2222"/>
            </a:avLst>
          </a:prstGeom>
          <a:solidFill>
            <a:srgbClr val="F3EEE9"/>
          </a:solidFill>
          <a:ln/>
        </p:spPr>
      </p:sp>
      <p:sp>
        <p:nvSpPr>
          <p:cNvPr id="5" name="Text 3"/>
          <p:cNvSpPr/>
          <p:nvPr/>
        </p:nvSpPr>
        <p:spPr>
          <a:xfrm>
            <a:off x="822960" y="1929384"/>
            <a:ext cx="2991002" cy="237744"/>
          </a:xfrm>
          <a:prstGeom prst="rect">
            <a:avLst/>
          </a:prstGeom>
          <a:noFill/>
          <a:ln/>
        </p:spPr>
        <p:txBody>
          <a:bodyPr wrap="square" lIns="0" tIns="0" rIns="0" bIns="0" rtlCol="0" anchor="ctr"/>
          <a:lstStyle/>
          <a:p>
            <a:pPr indent="0" marL="0">
              <a:buNone/>
            </a:pPr>
            <a:r>
              <a:rPr lang="en-US" sz="950" b="1" spc="150" kern="0" dirty="0">
                <a:solidFill>
                  <a:srgbClr val="B07714"/>
                </a:solidFill>
                <a:latin typeface="Calibri" pitchFamily="34" charset="0"/>
                <a:ea typeface="Calibri" pitchFamily="34" charset="-122"/>
                <a:cs typeface="Calibri" pitchFamily="34" charset="-120"/>
              </a:rPr>
              <a:t>REGISTRE DE RÉFÉRENCE</a:t>
            </a:r>
            <a:endParaRPr lang="en-US" sz="950" dirty="0"/>
          </a:p>
        </p:txBody>
      </p:sp>
      <p:sp>
        <p:nvSpPr>
          <p:cNvPr id="6" name="Text 4"/>
          <p:cNvSpPr/>
          <p:nvPr/>
        </p:nvSpPr>
        <p:spPr>
          <a:xfrm>
            <a:off x="822960" y="2203704"/>
            <a:ext cx="2991002" cy="45720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Le reportage</a:t>
            </a:r>
            <a:endParaRPr lang="en-US" sz="1700" dirty="0"/>
          </a:p>
        </p:txBody>
      </p:sp>
      <p:sp>
        <p:nvSpPr>
          <p:cNvPr id="7" name="Text 5"/>
          <p:cNvSpPr/>
          <p:nvPr/>
        </p:nvSpPr>
        <p:spPr>
          <a:xfrm>
            <a:off x="822960" y="2679192"/>
            <a:ext cx="2991002" cy="1225296"/>
          </a:xfrm>
          <a:prstGeom prst="rect">
            <a:avLst/>
          </a:prstGeom>
          <a:noFill/>
          <a:ln/>
        </p:spPr>
        <p:txBody>
          <a:bodyPr wrap="square" lIns="0" tIns="0" rIns="0" bIns="0" rtlCol="0" anchor="ctr"/>
          <a:lstStyle/>
          <a:p>
            <a:pPr indent="0" marL="0">
              <a:lnSpc>
                <a:spcPts val="1700"/>
              </a:lnSpc>
              <a:buNone/>
            </a:pPr>
            <a:r>
              <a:rPr lang="en-US" sz="1250" dirty="0">
                <a:solidFill>
                  <a:srgbClr val="4A3B34"/>
                </a:solidFill>
                <a:latin typeface="Calibri" pitchFamily="34" charset="0"/>
                <a:ea typeface="Calibri" pitchFamily="34" charset="-122"/>
                <a:cs typeface="Calibri" pitchFamily="34" charset="-120"/>
              </a:rPr>
              <a:t>Photographie de sport en lumière naturelle dure. Photographie culinaire documentaire : celle qui montre les mains et l'usure des ustensiles, pas l'assiette finie.</a:t>
            </a:r>
            <a:endParaRPr lang="en-US" sz="1250" dirty="0"/>
          </a:p>
        </p:txBody>
      </p:sp>
      <p:sp>
        <p:nvSpPr>
          <p:cNvPr id="8" name="Shape 6"/>
          <p:cNvSpPr/>
          <p:nvPr/>
        </p:nvSpPr>
        <p:spPr>
          <a:xfrm>
            <a:off x="4344314" y="1691640"/>
            <a:ext cx="3503066" cy="2468880"/>
          </a:xfrm>
          <a:prstGeom prst="roundRect">
            <a:avLst>
              <a:gd name="adj" fmla="val 2222"/>
            </a:avLst>
          </a:prstGeom>
          <a:solidFill>
            <a:srgbClr val="F3EEE9"/>
          </a:solidFill>
          <a:ln/>
        </p:spPr>
      </p:sp>
      <p:sp>
        <p:nvSpPr>
          <p:cNvPr id="9" name="Text 7"/>
          <p:cNvSpPr/>
          <p:nvPr/>
        </p:nvSpPr>
        <p:spPr>
          <a:xfrm>
            <a:off x="4600346" y="1929384"/>
            <a:ext cx="2991002" cy="237744"/>
          </a:xfrm>
          <a:prstGeom prst="rect">
            <a:avLst/>
          </a:prstGeom>
          <a:noFill/>
          <a:ln/>
        </p:spPr>
        <p:txBody>
          <a:bodyPr wrap="square" lIns="0" tIns="0" rIns="0" bIns="0" rtlCol="0" anchor="ctr"/>
          <a:lstStyle/>
          <a:p>
            <a:pPr indent="0" marL="0">
              <a:buNone/>
            </a:pPr>
            <a:r>
              <a:rPr lang="en-US" sz="950" b="1" spc="150" kern="0" dirty="0">
                <a:solidFill>
                  <a:srgbClr val="B07714"/>
                </a:solidFill>
                <a:latin typeface="Calibri" pitchFamily="34" charset="0"/>
                <a:ea typeface="Calibri" pitchFamily="34" charset="-122"/>
                <a:cs typeface="Calibri" pitchFamily="34" charset="-120"/>
              </a:rPr>
              <a:t>DÉMARCATION REVENDIQUÉE</a:t>
            </a:r>
            <a:endParaRPr lang="en-US" sz="950" dirty="0"/>
          </a:p>
        </p:txBody>
      </p:sp>
      <p:sp>
        <p:nvSpPr>
          <p:cNvPr id="10" name="Text 8"/>
          <p:cNvSpPr/>
          <p:nvPr/>
        </p:nvSpPr>
        <p:spPr>
          <a:xfrm>
            <a:off x="4600346" y="2203704"/>
            <a:ext cx="2991002" cy="45720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La catégorie</a:t>
            </a:r>
            <a:endParaRPr lang="en-US" sz="1700" dirty="0"/>
          </a:p>
        </p:txBody>
      </p:sp>
      <p:sp>
        <p:nvSpPr>
          <p:cNvPr id="11" name="Text 9"/>
          <p:cNvSpPr/>
          <p:nvPr/>
        </p:nvSpPr>
        <p:spPr>
          <a:xfrm>
            <a:off x="4600346" y="2679192"/>
            <a:ext cx="2991002" cy="1225296"/>
          </a:xfrm>
          <a:prstGeom prst="rect">
            <a:avLst/>
          </a:prstGeom>
          <a:noFill/>
          <a:ln/>
        </p:spPr>
        <p:txBody>
          <a:bodyPr wrap="square" lIns="0" tIns="0" rIns="0" bIns="0" rtlCol="0" anchor="ctr"/>
          <a:lstStyle/>
          <a:p>
            <a:pPr indent="0" marL="0">
              <a:lnSpc>
                <a:spcPts val="1700"/>
              </a:lnSpc>
              <a:buNone/>
            </a:pPr>
            <a:r>
              <a:rPr lang="en-US" sz="1250" dirty="0">
                <a:solidFill>
                  <a:srgbClr val="4A3B34"/>
                </a:solidFill>
                <a:latin typeface="Calibri" pitchFamily="34" charset="0"/>
                <a:ea typeface="Calibri" pitchFamily="34" charset="-122"/>
                <a:cs typeface="Calibri" pitchFamily="34" charset="-120"/>
              </a:rPr>
              <a:t>Fond coloré saturé, famille souriante en plan large, vapeur ajoutée, pack en vignette d'angle. Le leader occupe ce territoire entièrement.</a:t>
            </a:r>
            <a:endParaRPr lang="en-US" sz="1250" dirty="0"/>
          </a:p>
        </p:txBody>
      </p:sp>
      <p:sp>
        <p:nvSpPr>
          <p:cNvPr id="12" name="Shape 10"/>
          <p:cNvSpPr/>
          <p:nvPr/>
        </p:nvSpPr>
        <p:spPr>
          <a:xfrm>
            <a:off x="8121701" y="1691640"/>
            <a:ext cx="3503066" cy="2468880"/>
          </a:xfrm>
          <a:prstGeom prst="roundRect">
            <a:avLst>
              <a:gd name="adj" fmla="val 2222"/>
            </a:avLst>
          </a:prstGeom>
          <a:solidFill>
            <a:srgbClr val="F3EEE9"/>
          </a:solidFill>
          <a:ln/>
        </p:spPr>
      </p:sp>
      <p:sp>
        <p:nvSpPr>
          <p:cNvPr id="13" name="Text 11"/>
          <p:cNvSpPr/>
          <p:nvPr/>
        </p:nvSpPr>
        <p:spPr>
          <a:xfrm>
            <a:off x="8377733" y="1929384"/>
            <a:ext cx="2991002" cy="237744"/>
          </a:xfrm>
          <a:prstGeom prst="rect">
            <a:avLst/>
          </a:prstGeom>
          <a:noFill/>
          <a:ln/>
        </p:spPr>
        <p:txBody>
          <a:bodyPr wrap="square" lIns="0" tIns="0" rIns="0" bIns="0" rtlCol="0" anchor="ctr"/>
          <a:lstStyle/>
          <a:p>
            <a:pPr indent="0" marL="0">
              <a:buNone/>
            </a:pPr>
            <a:r>
              <a:rPr lang="en-US" sz="950" b="1" spc="150" kern="0" dirty="0">
                <a:solidFill>
                  <a:srgbClr val="B07714"/>
                </a:solidFill>
                <a:latin typeface="Calibri" pitchFamily="34" charset="0"/>
                <a:ea typeface="Calibri" pitchFamily="34" charset="-122"/>
                <a:cs typeface="Calibri" pitchFamily="34" charset="-120"/>
              </a:rPr>
              <a:t>ANTI-RÉFÉRENCE ASSUMÉE</a:t>
            </a:r>
            <a:endParaRPr lang="en-US" sz="950" dirty="0"/>
          </a:p>
        </p:txBody>
      </p:sp>
      <p:sp>
        <p:nvSpPr>
          <p:cNvPr id="14" name="Text 12"/>
          <p:cNvSpPr/>
          <p:nvPr/>
        </p:nvSpPr>
        <p:spPr>
          <a:xfrm>
            <a:off x="8377733" y="2203704"/>
            <a:ext cx="2991002" cy="45720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L'an dernier</a:t>
            </a:r>
            <a:endParaRPr lang="en-US" sz="1700" dirty="0"/>
          </a:p>
        </p:txBody>
      </p:sp>
      <p:sp>
        <p:nvSpPr>
          <p:cNvPr id="15" name="Text 13"/>
          <p:cNvSpPr/>
          <p:nvPr/>
        </p:nvSpPr>
        <p:spPr>
          <a:xfrm>
            <a:off x="8377733" y="2679192"/>
            <a:ext cx="2991002" cy="1225296"/>
          </a:xfrm>
          <a:prstGeom prst="rect">
            <a:avLst/>
          </a:prstGeom>
          <a:noFill/>
          <a:ln/>
        </p:spPr>
        <p:txBody>
          <a:bodyPr wrap="square" lIns="0" tIns="0" rIns="0" bIns="0" rtlCol="0" anchor="ctr"/>
          <a:lstStyle/>
          <a:p>
            <a:pPr indent="0" marL="0">
              <a:lnSpc>
                <a:spcPts val="1700"/>
              </a:lnSpc>
              <a:buNone/>
            </a:pPr>
            <a:r>
              <a:rPr lang="en-US" sz="1250" dirty="0">
                <a:solidFill>
                  <a:srgbClr val="4A3B34"/>
                </a:solidFill>
                <a:latin typeface="Calibri" pitchFamily="34" charset="0"/>
                <a:ea typeface="Calibri" pitchFamily="34" charset="-122"/>
                <a:cs typeface="Calibri" pitchFamily="34" charset="-120"/>
              </a:rPr>
              <a:t>La campagne KOMBA précédente. Même registre que le leader, un tiers d'attribution au profit du concurrent. La démonstration est faite.</a:t>
            </a:r>
            <a:endParaRPr lang="en-US" sz="1250" dirty="0"/>
          </a:p>
        </p:txBody>
      </p:sp>
      <p:sp>
        <p:nvSpPr>
          <p:cNvPr id="16" name="Shape 14"/>
          <p:cNvSpPr/>
          <p:nvPr/>
        </p:nvSpPr>
        <p:spPr>
          <a:xfrm>
            <a:off x="566928" y="4389120"/>
            <a:ext cx="11057839" cy="1280160"/>
          </a:xfrm>
          <a:prstGeom prst="roundRect">
            <a:avLst>
              <a:gd name="adj" fmla="val 4286"/>
            </a:avLst>
          </a:prstGeom>
          <a:solidFill>
            <a:srgbClr val="F3EEE9"/>
          </a:solidFill>
          <a:ln/>
        </p:spPr>
      </p:sp>
      <p:sp>
        <p:nvSpPr>
          <p:cNvPr id="17" name="Text 15"/>
          <p:cNvSpPr/>
          <p:nvPr/>
        </p:nvSpPr>
        <p:spPr>
          <a:xfrm>
            <a:off x="886968" y="4572000"/>
            <a:ext cx="10417759" cy="274320"/>
          </a:xfrm>
          <a:prstGeom prst="rect">
            <a:avLst/>
          </a:prstGeom>
          <a:noFill/>
          <a:ln/>
        </p:spPr>
        <p:txBody>
          <a:bodyPr wrap="square" lIns="0" tIns="0" rIns="0" bIns="0" rtlCol="0" anchor="ctr"/>
          <a:lstStyle/>
          <a:p>
            <a:pPr indent="0" marL="0">
              <a:buNone/>
            </a:pPr>
            <a:r>
              <a:rPr lang="en-US" sz="1450" b="1" dirty="0">
                <a:solidFill>
                  <a:srgbClr val="1F1512"/>
                </a:solidFill>
                <a:latin typeface="Cambria" pitchFamily="34" charset="0"/>
                <a:ea typeface="Cambria" pitchFamily="34" charset="-122"/>
                <a:cs typeface="Cambria" pitchFamily="34" charset="-120"/>
              </a:rPr>
              <a:t>Planches d'intention</a:t>
            </a:r>
            <a:endParaRPr lang="en-US" sz="1450" dirty="0"/>
          </a:p>
        </p:txBody>
      </p:sp>
      <p:sp>
        <p:nvSpPr>
          <p:cNvPr id="18" name="Text 16"/>
          <p:cNvSpPr/>
          <p:nvPr/>
        </p:nvSpPr>
        <p:spPr>
          <a:xfrm>
            <a:off x="886968" y="4892040"/>
            <a:ext cx="10417759" cy="685800"/>
          </a:xfrm>
          <a:prstGeom prst="rect">
            <a:avLst/>
          </a:prstGeom>
          <a:noFill/>
          <a:ln/>
        </p:spPr>
        <p:txBody>
          <a:bodyPr wrap="square" lIns="0" tIns="0" rIns="0" bIns="0" rtlCol="0" anchor="ctr"/>
          <a:lstStyle/>
          <a:p>
            <a:pPr indent="0" marL="0">
              <a:lnSpc>
                <a:spcPts val="1900"/>
              </a:lnSpc>
              <a:buNone/>
            </a:pPr>
            <a:r>
              <a:rPr lang="en-US" sz="1250" dirty="0">
                <a:solidFill>
                  <a:srgbClr val="3E322C"/>
                </a:solidFill>
                <a:latin typeface="Calibri" pitchFamily="34" charset="0"/>
                <a:ea typeface="Calibri" pitchFamily="34" charset="-122"/>
                <a:cs typeface="Calibri" pitchFamily="34" charset="-120"/>
              </a:rPr>
              <a:t>Générées en amont pour figer le parti pris avant tournage, sur la base de prompts en langage naturel spécifiant optique, lumière, fond et espace vide. Elles ne sont jamais présentées au client comme des visuels de campagne, et le texte n'est jamais généré dans l'image.</a:t>
            </a:r>
            <a:endParaRPr lang="en-US" sz="1250" dirty="0"/>
          </a:p>
        </p:txBody>
      </p:sp>
      <p:sp>
        <p:nvSpPr>
          <p:cNvPr id="19" name="Shape 17"/>
          <p:cNvSpPr/>
          <p:nvPr/>
        </p:nvSpPr>
        <p:spPr>
          <a:xfrm>
            <a:off x="566928" y="6199632"/>
            <a:ext cx="256032" cy="256032"/>
          </a:xfrm>
          <a:prstGeom prst="ellipse">
            <a:avLst/>
          </a:prstGeom>
          <a:solidFill>
            <a:srgbClr val="B07714"/>
          </a:solidFill>
          <a:ln/>
        </p:spPr>
      </p:sp>
      <p:sp>
        <p:nvSpPr>
          <p:cNvPr id="20" name="Text 18"/>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8C7B72"/>
                </a:solidFill>
                <a:latin typeface="Calibri" pitchFamily="34" charset="0"/>
                <a:ea typeface="Calibri" pitchFamily="34" charset="-122"/>
                <a:cs typeface="Calibri" pitchFamily="34" charset="-120"/>
              </a:rPr>
              <a:t>Direction Artistique</a:t>
            </a:r>
            <a:endParaRPr lang="en-US" sz="950" dirty="0"/>
          </a:p>
        </p:txBody>
      </p:sp>
      <p:sp>
        <p:nvSpPr>
          <p:cNvPr id="22" name="Text 20"/>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C7B72"/>
                </a:solidFill>
                <a:latin typeface="Calibri" pitchFamily="34" charset="0"/>
                <a:ea typeface="Calibri" pitchFamily="34" charset="-122"/>
                <a:cs typeface="Calibri" pitchFamily="34" charset="-120"/>
              </a:rPr>
              <a:t>KOM-2026-11 · Recommandation artistique v1.0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B07714"/>
                </a:solidFill>
                <a:latin typeface="Calibri" pitchFamily="34" charset="0"/>
                <a:ea typeface="Calibri" pitchFamily="34" charset="-122"/>
                <a:cs typeface="Calibri" pitchFamily="34" charset="-120"/>
              </a:rPr>
              <a:t>SECTION 8</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Chaîne de production</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7839" cy="914400"/>
        </p:xfrm>
        <a:graphic>
          <a:graphicData uri="http://schemas.openxmlformats.org/drawingml/2006/table">
            <a:tbl>
              <a:tblPr/>
              <a:tblGrid>
                <a:gridCol w="2743200"/>
                <a:gridCol w="4206240"/>
                <a:gridCol w="4123944"/>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Élément</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B0771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Traitement</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B0771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Statut</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B07714"/>
                    </a:solidFill>
                  </a:tcPr>
                </a:tc>
              </a:tr>
              <a:tr h="365760">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Plans de geste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Prise de vue réelle, obligatoire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Casting des mains à lancer immédiatement</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65760">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Marmites et ustensiles</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Accessoires réels, patinés, jamais neufs</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Repérage marché à faire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65760">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Packshot</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Studio, référence 60 g</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Conforme, aucune retouche de forme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65760">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Arrière-plans Temps 2</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Prise de vue réelle, figuration</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Dépend du décor validé</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65760">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Planches d'intention</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Génération assistée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Interne, non diffusable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65760">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Étalonnage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Référentiel unique pour les deux vagues</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LUT à figer avant tournage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4343400"/>
            <a:ext cx="11057839" cy="1325880"/>
          </a:xfrm>
          <a:prstGeom prst="roundRect">
            <a:avLst>
              <a:gd name="adj" fmla="val 4138"/>
            </a:avLst>
          </a:prstGeom>
          <a:solidFill>
            <a:srgbClr val="1F1512"/>
          </a:solidFill>
          <a:ln/>
        </p:spPr>
      </p:sp>
      <p:sp>
        <p:nvSpPr>
          <p:cNvPr id="6" name="Text 3"/>
          <p:cNvSpPr/>
          <p:nvPr/>
        </p:nvSpPr>
        <p:spPr>
          <a:xfrm>
            <a:off x="886968" y="4526280"/>
            <a:ext cx="10417759" cy="274320"/>
          </a:xfrm>
          <a:prstGeom prst="rect">
            <a:avLst/>
          </a:prstGeom>
          <a:noFill/>
          <a:ln/>
        </p:spPr>
        <p:txBody>
          <a:bodyPr wrap="square" lIns="0" tIns="0" rIns="0" bIns="0" rtlCol="0" anchor="ctr"/>
          <a:lstStyle/>
          <a:p>
            <a:pPr indent="0" marL="0">
              <a:buNone/>
            </a:pPr>
            <a:r>
              <a:rPr lang="en-US" sz="1450" b="1" dirty="0">
                <a:solidFill>
                  <a:srgbClr val="E0A83F"/>
                </a:solidFill>
                <a:latin typeface="Cambria" pitchFamily="34" charset="0"/>
                <a:ea typeface="Cambria" pitchFamily="34" charset="-122"/>
                <a:cs typeface="Cambria" pitchFamily="34" charset="-120"/>
              </a:rPr>
              <a:t>Chemin critique</a:t>
            </a:r>
            <a:endParaRPr lang="en-US" sz="1450" dirty="0"/>
          </a:p>
        </p:txBody>
      </p:sp>
      <p:sp>
        <p:nvSpPr>
          <p:cNvPr id="7" name="Text 4"/>
          <p:cNvSpPr/>
          <p:nvPr/>
        </p:nvSpPr>
        <p:spPr>
          <a:xfrm>
            <a:off x="886968" y="4846320"/>
            <a:ext cx="10417759" cy="685800"/>
          </a:xfrm>
          <a:prstGeom prst="rect">
            <a:avLst/>
          </a:prstGeom>
          <a:noFill/>
          <a:ln/>
        </p:spPr>
        <p:txBody>
          <a:bodyPr wrap="square" lIns="0" tIns="0" rIns="0" bIns="0" rtlCol="0" anchor="ctr"/>
          <a:lstStyle/>
          <a:p>
            <a:pPr indent="0" marL="0">
              <a:lnSpc>
                <a:spcPts val="2000"/>
              </a:lnSpc>
              <a:buNone/>
            </a:pPr>
            <a:r>
              <a:rPr lang="en-US" sz="1300" dirty="0">
                <a:solidFill>
                  <a:srgbClr val="E8DCD5"/>
                </a:solidFill>
                <a:latin typeface="Calibri" pitchFamily="34" charset="0"/>
                <a:ea typeface="Calibri" pitchFamily="34" charset="-122"/>
                <a:cs typeface="Calibri" pitchFamily="34" charset="-120"/>
              </a:rPr>
              <a:t>Casting des mains → validation du décor → étalonnage de référence. Ces trois éléments conditionnent la continuité formelle entre les deux temps : un retard sur l'un d'eux fait tomber la démonstration.</a:t>
            </a:r>
            <a:endParaRPr lang="en-US" sz="1300" dirty="0"/>
          </a:p>
        </p:txBody>
      </p:sp>
      <p:sp>
        <p:nvSpPr>
          <p:cNvPr id="8" name="Shape 5"/>
          <p:cNvSpPr/>
          <p:nvPr/>
        </p:nvSpPr>
        <p:spPr>
          <a:xfrm>
            <a:off x="566928" y="6199632"/>
            <a:ext cx="256032" cy="256032"/>
          </a:xfrm>
          <a:prstGeom prst="ellipse">
            <a:avLst/>
          </a:prstGeom>
          <a:solidFill>
            <a:srgbClr val="B07714"/>
          </a:solidFill>
          <a:ln/>
        </p:spPr>
      </p:sp>
      <p:sp>
        <p:nvSpPr>
          <p:cNvPr id="9" name="Text 6"/>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0" name="Text 7"/>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BFAFA6"/>
                </a:solidFill>
                <a:latin typeface="Calibri" pitchFamily="34" charset="0"/>
                <a:ea typeface="Calibri" pitchFamily="34" charset="-122"/>
                <a:cs typeface="Calibri" pitchFamily="34" charset="-120"/>
              </a:rPr>
              <a:t>Direction Artistique</a:t>
            </a:r>
            <a:endParaRPr lang="en-US" sz="950" dirty="0"/>
          </a:p>
        </p:txBody>
      </p:sp>
      <p:sp>
        <p:nvSpPr>
          <p:cNvPr id="11" name="Text 8"/>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A7770"/>
                </a:solidFill>
                <a:latin typeface="Calibri" pitchFamily="34" charset="0"/>
                <a:ea typeface="Calibri" pitchFamily="34" charset="-122"/>
                <a:cs typeface="Calibri" pitchFamily="34" charset="-120"/>
              </a:rPr>
              <a:t>KOM-2026-11 · Recommandation artistique v1.0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56032"/>
          </a:xfrm>
          <a:prstGeom prst="rect">
            <a:avLst/>
          </a:prstGeom>
          <a:noFill/>
          <a:ln/>
        </p:spPr>
        <p:txBody>
          <a:bodyPr wrap="square" lIns="0" tIns="0" rIns="0" bIns="0" rtlCol="0" anchor="ctr"/>
          <a:lstStyle/>
          <a:p>
            <a:pPr indent="0" marL="0">
              <a:buNone/>
            </a:pPr>
            <a:r>
              <a:rPr lang="en-US" sz="1050" b="1" spc="200" kern="0" dirty="0">
                <a:solidFill>
                  <a:srgbClr val="B07714"/>
                </a:solidFill>
                <a:latin typeface="Calibri" pitchFamily="34" charset="0"/>
                <a:ea typeface="Calibri" pitchFamily="34" charset="-122"/>
                <a:cs typeface="Calibri" pitchFamily="34" charset="-120"/>
              </a:rPr>
              <a:t>FRONTIÈRE ET VALIDATION</a:t>
            </a:r>
            <a:endParaRPr lang="en-US" sz="1050" dirty="0"/>
          </a:p>
        </p:txBody>
      </p:sp>
      <p:sp>
        <p:nvSpPr>
          <p:cNvPr id="3" name="Text 1"/>
          <p:cNvSpPr/>
          <p:nvPr/>
        </p:nvSpPr>
        <p:spPr>
          <a:xfrm>
            <a:off x="566928" y="749808"/>
            <a:ext cx="11057839" cy="685800"/>
          </a:xfrm>
          <a:prstGeom prst="rect">
            <a:avLst/>
          </a:prstGeom>
          <a:noFill/>
          <a:ln/>
        </p:spPr>
        <p:txBody>
          <a:bodyPr wrap="square" lIns="0" tIns="0" rIns="0" bIns="0" rtlCol="0" anchor="ctr"/>
          <a:lstStyle/>
          <a:p>
            <a:pPr indent="0" marL="0">
              <a:buNone/>
            </a:pPr>
            <a:r>
              <a:rPr lang="en-US" sz="3000" b="1" dirty="0">
                <a:solidFill>
                  <a:srgbClr val="1F1512"/>
                </a:solidFill>
                <a:latin typeface="Cambria" pitchFamily="34" charset="0"/>
                <a:ea typeface="Cambria" pitchFamily="34" charset="-122"/>
                <a:cs typeface="Cambria" pitchFamily="34" charset="-120"/>
              </a:rPr>
              <a:t>Ce que la Direction Artistique ne fait pas</a:t>
            </a:r>
            <a:endParaRPr lang="en-US" sz="3000" dirty="0"/>
          </a:p>
        </p:txBody>
      </p:sp>
      <p:sp>
        <p:nvSpPr>
          <p:cNvPr id="4" name="Shape 2"/>
          <p:cNvSpPr/>
          <p:nvPr/>
        </p:nvSpPr>
        <p:spPr>
          <a:xfrm>
            <a:off x="566928" y="1691640"/>
            <a:ext cx="3503066" cy="2194560"/>
          </a:xfrm>
          <a:prstGeom prst="roundRect">
            <a:avLst>
              <a:gd name="adj" fmla="val 2500"/>
            </a:avLst>
          </a:prstGeom>
          <a:solidFill>
            <a:srgbClr val="F3EEE9"/>
          </a:solidFill>
          <a:ln/>
        </p:spPr>
      </p:sp>
      <p:sp>
        <p:nvSpPr>
          <p:cNvPr id="5" name="Text 3"/>
          <p:cNvSpPr/>
          <p:nvPr/>
        </p:nvSpPr>
        <p:spPr>
          <a:xfrm>
            <a:off x="822960" y="1929384"/>
            <a:ext cx="2991002" cy="237744"/>
          </a:xfrm>
          <a:prstGeom prst="rect">
            <a:avLst/>
          </a:prstGeom>
          <a:noFill/>
          <a:ln/>
        </p:spPr>
        <p:txBody>
          <a:bodyPr wrap="square" lIns="0" tIns="0" rIns="0" bIns="0" rtlCol="0" anchor="ctr"/>
          <a:lstStyle/>
          <a:p>
            <a:pPr indent="0" marL="0">
              <a:buNone/>
            </a:pPr>
            <a:r>
              <a:rPr lang="en-US" sz="950" b="1" spc="150" kern="0" dirty="0">
                <a:solidFill>
                  <a:srgbClr val="B07714"/>
                </a:solidFill>
                <a:latin typeface="Calibri" pitchFamily="34" charset="0"/>
                <a:ea typeface="Calibri" pitchFamily="34" charset="-122"/>
                <a:cs typeface="Calibri" pitchFamily="34" charset="-120"/>
              </a:rPr>
              <a:t>NE MODIFIE PAS</a:t>
            </a:r>
            <a:endParaRPr lang="en-US" sz="950" dirty="0"/>
          </a:p>
        </p:txBody>
      </p:sp>
      <p:sp>
        <p:nvSpPr>
          <p:cNvPr id="6" name="Text 4"/>
          <p:cNvSpPr/>
          <p:nvPr/>
        </p:nvSpPr>
        <p:spPr>
          <a:xfrm>
            <a:off x="822960" y="2203704"/>
            <a:ext cx="2991002" cy="45720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L'idée</a:t>
            </a:r>
            <a:endParaRPr lang="en-US" sz="1700" dirty="0"/>
          </a:p>
        </p:txBody>
      </p:sp>
      <p:sp>
        <p:nvSpPr>
          <p:cNvPr id="7" name="Text 5"/>
          <p:cNvSpPr/>
          <p:nvPr/>
        </p:nvSpPr>
        <p:spPr>
          <a:xfrm>
            <a:off x="822960" y="2679192"/>
            <a:ext cx="2991002" cy="950976"/>
          </a:xfrm>
          <a:prstGeom prst="rect">
            <a:avLst/>
          </a:prstGeom>
          <a:noFill/>
          <a:ln/>
        </p:spPr>
        <p:txBody>
          <a:bodyPr wrap="square" lIns="0" tIns="0" rIns="0" bIns="0" rtlCol="0" anchor="ctr"/>
          <a:lstStyle/>
          <a:p>
            <a:pPr indent="0" marL="0">
              <a:lnSpc>
                <a:spcPts val="1700"/>
              </a:lnSpc>
              <a:buNone/>
            </a:pPr>
            <a:r>
              <a:rPr lang="en-US" sz="1250" dirty="0">
                <a:solidFill>
                  <a:srgbClr val="4A3B34"/>
                </a:solidFill>
                <a:latin typeface="Calibri" pitchFamily="34" charset="0"/>
                <a:ea typeface="Calibri" pitchFamily="34" charset="-122"/>
                <a:cs typeface="Calibri" pitchFamily="34" charset="-120"/>
              </a:rPr>
              <a:t>Ni la mécanique, ni la signature, ni le nom de campagne. Un désaccord se traite en amont, par écrit.</a:t>
            </a:r>
            <a:endParaRPr lang="en-US" sz="1250" dirty="0"/>
          </a:p>
        </p:txBody>
      </p:sp>
      <p:sp>
        <p:nvSpPr>
          <p:cNvPr id="8" name="Shape 6"/>
          <p:cNvSpPr/>
          <p:nvPr/>
        </p:nvSpPr>
        <p:spPr>
          <a:xfrm>
            <a:off x="4344314" y="1691640"/>
            <a:ext cx="3503066" cy="2194560"/>
          </a:xfrm>
          <a:prstGeom prst="roundRect">
            <a:avLst>
              <a:gd name="adj" fmla="val 2500"/>
            </a:avLst>
          </a:prstGeom>
          <a:solidFill>
            <a:srgbClr val="F3EEE9"/>
          </a:solidFill>
          <a:ln/>
        </p:spPr>
      </p:sp>
      <p:sp>
        <p:nvSpPr>
          <p:cNvPr id="9" name="Text 7"/>
          <p:cNvSpPr/>
          <p:nvPr/>
        </p:nvSpPr>
        <p:spPr>
          <a:xfrm>
            <a:off x="4600346" y="1929384"/>
            <a:ext cx="2991002" cy="237744"/>
          </a:xfrm>
          <a:prstGeom prst="rect">
            <a:avLst/>
          </a:prstGeom>
          <a:noFill/>
          <a:ln/>
        </p:spPr>
        <p:txBody>
          <a:bodyPr wrap="square" lIns="0" tIns="0" rIns="0" bIns="0" rtlCol="0" anchor="ctr"/>
          <a:lstStyle/>
          <a:p>
            <a:pPr indent="0" marL="0">
              <a:buNone/>
            </a:pPr>
            <a:r>
              <a:rPr lang="en-US" sz="950" b="1" spc="150" kern="0" dirty="0">
                <a:solidFill>
                  <a:srgbClr val="B07714"/>
                </a:solidFill>
                <a:latin typeface="Calibri" pitchFamily="34" charset="0"/>
                <a:ea typeface="Calibri" pitchFamily="34" charset="-122"/>
                <a:cs typeface="Calibri" pitchFamily="34" charset="-120"/>
              </a:rPr>
              <a:t>NE CONTIENT PAS</a:t>
            </a:r>
            <a:endParaRPr lang="en-US" sz="950" dirty="0"/>
          </a:p>
        </p:txBody>
      </p:sp>
      <p:sp>
        <p:nvSpPr>
          <p:cNvPr id="10" name="Text 8"/>
          <p:cNvSpPr/>
          <p:nvPr/>
        </p:nvSpPr>
        <p:spPr>
          <a:xfrm>
            <a:off x="4600346" y="2203704"/>
            <a:ext cx="2991002" cy="45720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Le commercial</a:t>
            </a:r>
            <a:endParaRPr lang="en-US" sz="1700" dirty="0"/>
          </a:p>
        </p:txBody>
      </p:sp>
      <p:sp>
        <p:nvSpPr>
          <p:cNvPr id="11" name="Text 9"/>
          <p:cNvSpPr/>
          <p:nvPr/>
        </p:nvSpPr>
        <p:spPr>
          <a:xfrm>
            <a:off x="4600346" y="2679192"/>
            <a:ext cx="2991002" cy="950976"/>
          </a:xfrm>
          <a:prstGeom prst="rect">
            <a:avLst/>
          </a:prstGeom>
          <a:noFill/>
          <a:ln/>
        </p:spPr>
        <p:txBody>
          <a:bodyPr wrap="square" lIns="0" tIns="0" rIns="0" bIns="0" rtlCol="0" anchor="ctr"/>
          <a:lstStyle/>
          <a:p>
            <a:pPr indent="0" marL="0">
              <a:lnSpc>
                <a:spcPts val="1700"/>
              </a:lnSpc>
              <a:buNone/>
            </a:pPr>
            <a:r>
              <a:rPr lang="en-US" sz="1250" dirty="0">
                <a:solidFill>
                  <a:srgbClr val="4A3B34"/>
                </a:solidFill>
                <a:latin typeface="Calibri" pitchFamily="34" charset="0"/>
                <a:ea typeface="Calibri" pitchFamily="34" charset="-122"/>
                <a:cs typeface="Calibri" pitchFamily="34" charset="-120"/>
              </a:rPr>
              <a:t>Ni prix, ni calendrier, ni recommandation média, ni engagement client.</a:t>
            </a:r>
            <a:endParaRPr lang="en-US" sz="1250" dirty="0"/>
          </a:p>
        </p:txBody>
      </p:sp>
      <p:sp>
        <p:nvSpPr>
          <p:cNvPr id="12" name="Shape 10"/>
          <p:cNvSpPr/>
          <p:nvPr/>
        </p:nvSpPr>
        <p:spPr>
          <a:xfrm>
            <a:off x="8121701" y="1691640"/>
            <a:ext cx="3503066" cy="2194560"/>
          </a:xfrm>
          <a:prstGeom prst="roundRect">
            <a:avLst>
              <a:gd name="adj" fmla="val 2500"/>
            </a:avLst>
          </a:prstGeom>
          <a:solidFill>
            <a:srgbClr val="F3EEE9"/>
          </a:solidFill>
          <a:ln/>
        </p:spPr>
      </p:sp>
      <p:sp>
        <p:nvSpPr>
          <p:cNvPr id="13" name="Text 11"/>
          <p:cNvSpPr/>
          <p:nvPr/>
        </p:nvSpPr>
        <p:spPr>
          <a:xfrm>
            <a:off x="8377733" y="1929384"/>
            <a:ext cx="2991002" cy="237744"/>
          </a:xfrm>
          <a:prstGeom prst="rect">
            <a:avLst/>
          </a:prstGeom>
          <a:noFill/>
          <a:ln/>
        </p:spPr>
        <p:txBody>
          <a:bodyPr wrap="square" lIns="0" tIns="0" rIns="0" bIns="0" rtlCol="0" anchor="ctr"/>
          <a:lstStyle/>
          <a:p>
            <a:pPr indent="0" marL="0">
              <a:buNone/>
            </a:pPr>
            <a:r>
              <a:rPr lang="en-US" sz="950" b="1" spc="150" kern="0" dirty="0">
                <a:solidFill>
                  <a:srgbClr val="B07714"/>
                </a:solidFill>
                <a:latin typeface="Calibri" pitchFamily="34" charset="0"/>
                <a:ea typeface="Calibri" pitchFamily="34" charset="-122"/>
                <a:cs typeface="Calibri" pitchFamily="34" charset="-120"/>
              </a:rPr>
              <a:t>NE SE PRÉSENTE PAS</a:t>
            </a:r>
            <a:endParaRPr lang="en-US" sz="950" dirty="0"/>
          </a:p>
        </p:txBody>
      </p:sp>
      <p:sp>
        <p:nvSpPr>
          <p:cNvPr id="14" name="Text 12"/>
          <p:cNvSpPr/>
          <p:nvPr/>
        </p:nvSpPr>
        <p:spPr>
          <a:xfrm>
            <a:off x="8377733" y="2203704"/>
            <a:ext cx="2991002" cy="457200"/>
          </a:xfrm>
          <a:prstGeom prst="rect">
            <a:avLst/>
          </a:prstGeom>
          <a:noFill/>
          <a:ln/>
        </p:spPr>
        <p:txBody>
          <a:bodyPr wrap="square" lIns="0" tIns="0" rIns="0" bIns="0" rtlCol="0" anchor="ctr"/>
          <a:lstStyle/>
          <a:p>
            <a:pPr indent="0" marL="0">
              <a:buNone/>
            </a:pPr>
            <a:r>
              <a:rPr lang="en-US" sz="1700" b="1" dirty="0">
                <a:solidFill>
                  <a:srgbClr val="1F1512"/>
                </a:solidFill>
                <a:latin typeface="Cambria" pitchFamily="34" charset="0"/>
                <a:ea typeface="Cambria" pitchFamily="34" charset="-122"/>
                <a:cs typeface="Cambria" pitchFamily="34" charset="-120"/>
              </a:rPr>
              <a:t>Seule</a:t>
            </a:r>
            <a:endParaRPr lang="en-US" sz="1700" dirty="0"/>
          </a:p>
        </p:txBody>
      </p:sp>
      <p:sp>
        <p:nvSpPr>
          <p:cNvPr id="15" name="Text 13"/>
          <p:cNvSpPr/>
          <p:nvPr/>
        </p:nvSpPr>
        <p:spPr>
          <a:xfrm>
            <a:off x="8377733" y="2679192"/>
            <a:ext cx="2991002" cy="950976"/>
          </a:xfrm>
          <a:prstGeom prst="rect">
            <a:avLst/>
          </a:prstGeom>
          <a:noFill/>
          <a:ln/>
        </p:spPr>
        <p:txBody>
          <a:bodyPr wrap="square" lIns="0" tIns="0" rIns="0" bIns="0" rtlCol="0" anchor="ctr"/>
          <a:lstStyle/>
          <a:p>
            <a:pPr indent="0" marL="0">
              <a:lnSpc>
                <a:spcPts val="1700"/>
              </a:lnSpc>
              <a:buNone/>
            </a:pPr>
            <a:r>
              <a:rPr lang="en-US" sz="1250" dirty="0">
                <a:solidFill>
                  <a:srgbClr val="4A3B34"/>
                </a:solidFill>
                <a:latin typeface="Calibri" pitchFamily="34" charset="0"/>
                <a:ea typeface="Calibri" pitchFamily="34" charset="-122"/>
                <a:cs typeface="Calibri" pitchFamily="34" charset="-120"/>
              </a:rPr>
              <a:t>Les pistes sont présentées adossées à l'idée qu'elles servent, jamais comme un choix esthétique autonome.</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4114800"/>
          <a:ext cx="11057839" cy="914400"/>
        </p:xfrm>
        <a:graphic>
          <a:graphicData uri="http://schemas.openxmlformats.org/drawingml/2006/table">
            <a:tbl>
              <a:tblPr/>
              <a:tblGrid>
                <a:gridCol w="4572000"/>
                <a:gridCol w="3840480"/>
                <a:gridCol w="2660904"/>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Étape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B0771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Qui décide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B0771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Quand</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B07714"/>
                    </a:solidFill>
                  </a:tcPr>
                </a:tc>
              </a:tr>
              <a:tr h="329184">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Revue à mi-parcours, travail inachevé</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Directeur de la Création</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À 48 h du lancement des pistes</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29184">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Choix de la piste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Directeur de la Création</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Avant tout finalisage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Système visuel et charte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DA, validé par la Création</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Après choix de piste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7F3F0"/>
                    </a:solidFill>
                  </a:tcPr>
                </a:tc>
              </a:tr>
              <a:tr h="329184">
                <a:tc>
                  <a:txBody>
                    <a:bodyPr/>
                    <a:lstStyle/>
                    <a:p>
                      <a:pPr indent="0" marL="0">
                        <a:buNone/>
                      </a:pPr>
                      <a:r>
                        <a:rPr lang="en-US" sz="1150" b="1" dirty="0">
                          <a:solidFill>
                            <a:srgbClr val="1F1512"/>
                          </a:solidFill>
                          <a:latin typeface="Calibri" pitchFamily="34" charset="0"/>
                          <a:ea typeface="Calibri" pitchFamily="34" charset="-122"/>
                          <a:cs typeface="Calibri" pitchFamily="34" charset="-120"/>
                        </a:rPr>
                        <a:t>Présentation au client</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Création et Clientèle, ensemble</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c>
                  <a:txBody>
                    <a:bodyPr/>
                    <a:lstStyle/>
                    <a:p>
                      <a:pPr indent="0" marL="0">
                        <a:buNone/>
                      </a:pPr>
                      <a:r>
                        <a:rPr lang="en-US" sz="1150" dirty="0">
                          <a:solidFill>
                            <a:srgbClr val="1F1512"/>
                          </a:solidFill>
                          <a:latin typeface="Calibri" pitchFamily="34" charset="0"/>
                          <a:ea typeface="Calibri" pitchFamily="34" charset="-122"/>
                          <a:cs typeface="Calibri" pitchFamily="34" charset="-120"/>
                        </a:rPr>
                        <a:t>Selon calendrier du brief</a:t>
                      </a:r>
                      <a:endParaRPr lang="en-US" sz="1150" dirty="0">
                        <a:latin typeface="Calibri" charset="0"/>
                        <a:ea typeface="Calibri" charset="0"/>
                        <a:cs typeface="Calibri" charset="0"/>
                      </a:endParaRPr>
                    </a:p>
                  </a:txBody>
                  <a:tcPr marL="118872" marR="118872" marT="82296" marB="82296" anchor="ctr">
                    <a:lnL w="6350" cap="flat" cmpd="sng" algn="ctr">
                      <a:solidFill>
                        <a:srgbClr val="DED3CA"/>
                      </a:solidFill>
                      <a:prstDash val="solid"/>
                      <a:round/>
                      <a:headEnd type="none" w="med" len="med"/>
                      <a:tailEnd type="none" w="med" len="med"/>
                    </a:lnL>
                    <a:lnR w="6350" cap="flat" cmpd="sng" algn="ctr">
                      <a:solidFill>
                        <a:srgbClr val="DED3CA"/>
                      </a:solidFill>
                      <a:prstDash val="solid"/>
                      <a:round/>
                      <a:headEnd type="none" w="med" len="med"/>
                      <a:tailEnd type="none" w="med" len="med"/>
                    </a:lnR>
                    <a:lnT w="6350" cap="flat" cmpd="sng" algn="ctr">
                      <a:solidFill>
                        <a:srgbClr val="DED3CA"/>
                      </a:solidFill>
                      <a:prstDash val="solid"/>
                      <a:round/>
                      <a:headEnd type="none" w="med" len="med"/>
                      <a:tailEnd type="none" w="med" len="med"/>
                    </a:lnT>
                    <a:lnB w="6350" cap="flat" cmpd="sng" algn="ctr">
                      <a:solidFill>
                        <a:srgbClr val="DED3CA"/>
                      </a:solidFill>
                      <a:prstDash val="solid"/>
                      <a:round/>
                      <a:headEnd type="none" w="med" len="med"/>
                      <a:tailEnd type="none" w="med" len="med"/>
                    </a:lnB>
                    <a:solidFill>
                      <a:srgbClr val="FFFFFF"/>
                    </a:solidFill>
                  </a:tcPr>
                </a:tc>
              </a:tr>
            </a:tbl>
          </a:graphicData>
        </a:graphic>
      </p:graphicFrame>
      <p:sp>
        <p:nvSpPr>
          <p:cNvPr id="17" name="Shape 14"/>
          <p:cNvSpPr/>
          <p:nvPr/>
        </p:nvSpPr>
        <p:spPr>
          <a:xfrm>
            <a:off x="566928" y="6199632"/>
            <a:ext cx="256032" cy="256032"/>
          </a:xfrm>
          <a:prstGeom prst="ellipse">
            <a:avLst/>
          </a:prstGeom>
          <a:solidFill>
            <a:srgbClr val="B07714"/>
          </a:solidFill>
          <a:ln/>
        </p:spPr>
      </p:sp>
      <p:sp>
        <p:nvSpPr>
          <p:cNvPr id="18" name="Text 15"/>
          <p:cNvSpPr/>
          <p:nvPr/>
        </p:nvSpPr>
        <p:spPr>
          <a:xfrm>
            <a:off x="566928" y="61996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9" name="Text 16"/>
          <p:cNvSpPr/>
          <p:nvPr/>
        </p:nvSpPr>
        <p:spPr>
          <a:xfrm>
            <a:off x="896112" y="6181344"/>
            <a:ext cx="4114800" cy="292608"/>
          </a:xfrm>
          <a:prstGeom prst="rect">
            <a:avLst/>
          </a:prstGeom>
          <a:noFill/>
          <a:ln/>
        </p:spPr>
        <p:txBody>
          <a:bodyPr wrap="square" lIns="0" tIns="0" rIns="0" bIns="0" rtlCol="0" anchor="ctr"/>
          <a:lstStyle/>
          <a:p>
            <a:pPr indent="0" marL="0">
              <a:buNone/>
            </a:pPr>
            <a:r>
              <a:rPr lang="en-US" sz="950" dirty="0">
                <a:solidFill>
                  <a:srgbClr val="8C7B72"/>
                </a:solidFill>
                <a:latin typeface="Calibri" pitchFamily="34" charset="0"/>
                <a:ea typeface="Calibri" pitchFamily="34" charset="-122"/>
                <a:cs typeface="Calibri" pitchFamily="34" charset="-120"/>
              </a:rPr>
              <a:t>Direction Artistique</a:t>
            </a:r>
            <a:endParaRPr lang="en-US" sz="950" dirty="0"/>
          </a:p>
        </p:txBody>
      </p:sp>
      <p:sp>
        <p:nvSpPr>
          <p:cNvPr id="20" name="Text 17"/>
          <p:cNvSpPr/>
          <p:nvPr/>
        </p:nvSpPr>
        <p:spPr>
          <a:xfrm>
            <a:off x="7052767" y="6181344"/>
            <a:ext cx="4572000" cy="292608"/>
          </a:xfrm>
          <a:prstGeom prst="rect">
            <a:avLst/>
          </a:prstGeom>
          <a:noFill/>
          <a:ln/>
        </p:spPr>
        <p:txBody>
          <a:bodyPr wrap="square" lIns="0" tIns="0" rIns="0" bIns="0" rtlCol="0" anchor="ctr"/>
          <a:lstStyle/>
          <a:p>
            <a:pPr algn="r" indent="0" marL="0">
              <a:buNone/>
            </a:pPr>
            <a:r>
              <a:rPr lang="en-US" sz="950" dirty="0">
                <a:solidFill>
                  <a:srgbClr val="8C7B72"/>
                </a:solidFill>
                <a:latin typeface="Calibri" pitchFamily="34" charset="0"/>
                <a:ea typeface="Calibri" pitchFamily="34" charset="-122"/>
                <a:cs typeface="Calibri" pitchFamily="34" charset="-120"/>
              </a:rPr>
              <a:t>KOM-2026-11 · Recommandation artistique v1.0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2026-08-12T10:55:06Z</dcterms:created>
  <dcterms:modified xsi:type="dcterms:W3CDTF">2026-08-12T10:55:06Z</dcterms:modified>
</cp:coreProperties>
</file>