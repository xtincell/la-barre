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1371600"/>
            <a:ext cx="11057839" cy="274320"/>
          </a:xfrm>
          <a:prstGeom prst="rect">
            <a:avLst/>
          </a:prstGeom>
          <a:noFill/>
          <a:ln/>
        </p:spPr>
        <p:txBody>
          <a:bodyPr wrap="square" lIns="0" tIns="0" rIns="0" bIns="0" rtlCol="0" anchor="ctr"/>
          <a:lstStyle/>
          <a:p>
            <a:pPr indent="0" marL="0">
              <a:buNone/>
            </a:pPr>
            <a:r>
              <a:rPr lang="en-US" sz="1100" b="1" spc="300" kern="0" dirty="0">
                <a:solidFill>
                  <a:srgbClr val="10646E"/>
                </a:solidFill>
                <a:latin typeface="Calibri" pitchFamily="34" charset="0"/>
                <a:ea typeface="Calibri" pitchFamily="34" charset="-122"/>
                <a:cs typeface="Calibri" pitchFamily="34" charset="-120"/>
              </a:rPr>
              <a:t>DOCUMENT D'ENTRÉE EN CRÉATION</a:t>
            </a:r>
            <a:endParaRPr lang="en-US" sz="1100" dirty="0"/>
          </a:p>
        </p:txBody>
      </p:sp>
      <p:sp>
        <p:nvSpPr>
          <p:cNvPr id="3" name="Text 1"/>
          <p:cNvSpPr/>
          <p:nvPr/>
        </p:nvSpPr>
        <p:spPr>
          <a:xfrm>
            <a:off x="566928" y="1783080"/>
            <a:ext cx="9777679"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Brief client qualifié</a:t>
            </a:r>
            <a:endParaRPr lang="en-US" sz="4600" dirty="0"/>
          </a:p>
        </p:txBody>
      </p:sp>
      <p:sp>
        <p:nvSpPr>
          <p:cNvPr id="4" name="Text 2"/>
          <p:cNvSpPr/>
          <p:nvPr/>
        </p:nvSpPr>
        <p:spPr>
          <a:xfrm>
            <a:off x="566928" y="3200400"/>
            <a:ext cx="8131759" cy="822960"/>
          </a:xfrm>
          <a:prstGeom prst="rect">
            <a:avLst/>
          </a:prstGeom>
          <a:noFill/>
          <a:ln/>
        </p:spPr>
        <p:txBody>
          <a:bodyPr wrap="square" lIns="0" tIns="0" rIns="0" bIns="0" rtlCol="0" anchor="ctr"/>
          <a:lstStyle/>
          <a:p>
            <a:pPr indent="0" marL="0">
              <a:lnSpc>
                <a:spcPts val="2400"/>
              </a:lnSpc>
              <a:buNone/>
            </a:pPr>
            <a:r>
              <a:rPr lang="en-US" sz="1600" dirty="0">
                <a:solidFill>
                  <a:srgbClr val="D8C9C0"/>
                </a:solidFill>
                <a:latin typeface="Calibri" pitchFamily="34" charset="0"/>
                <a:ea typeface="Calibri" pitchFamily="34" charset="-122"/>
                <a:cs typeface="Calibri" pitchFamily="34" charset="-120"/>
              </a:rPr>
              <a:t>KOMBA — bouillon culinaire</a:t>
            </a:r>
            <a:endParaRPr lang="en-US" sz="1600" dirty="0"/>
          </a:p>
          <a:p>
            <a:pPr indent="0" marL="0">
              <a:lnSpc>
                <a:spcPts val="2400"/>
              </a:lnSpc>
              <a:buNone/>
            </a:pPr>
            <a:r>
              <a:rPr lang="en-US" sz="1600" dirty="0">
                <a:solidFill>
                  <a:srgbClr val="D8C9C0"/>
                </a:solidFill>
                <a:latin typeface="Calibri" pitchFamily="34" charset="0"/>
                <a:ea typeface="Calibri" pitchFamily="34" charset="-122"/>
                <a:cs typeface="Calibri" pitchFamily="34" charset="-120"/>
              </a:rPr>
              <a:t>Campagne de reconquête fin d'année</a:t>
            </a:r>
            <a:endParaRPr lang="en-US" sz="1600" dirty="0"/>
          </a:p>
        </p:txBody>
      </p:sp>
      <p:sp>
        <p:nvSpPr>
          <p:cNvPr id="5" name="Shape 3"/>
          <p:cNvSpPr/>
          <p:nvPr/>
        </p:nvSpPr>
        <p:spPr>
          <a:xfrm>
            <a:off x="566928" y="4315968"/>
            <a:ext cx="1371600" cy="18288"/>
          </a:xfrm>
          <a:prstGeom prst="rect">
            <a:avLst/>
          </a:prstGeom>
          <a:solidFill>
            <a:srgbClr val="10646E"/>
          </a:solidFill>
          <a:ln/>
        </p:spPr>
      </p:sp>
      <p:sp>
        <p:nvSpPr>
          <p:cNvPr id="6" name="Text 4"/>
          <p:cNvSpPr/>
          <p:nvPr/>
        </p:nvSpPr>
        <p:spPr>
          <a:xfrm>
            <a:off x="566928" y="4572000"/>
            <a:ext cx="11057839" cy="1188720"/>
          </a:xfrm>
          <a:prstGeom prst="rect">
            <a:avLst/>
          </a:prstGeom>
          <a:noFill/>
          <a:ln/>
        </p:spPr>
        <p:txBody>
          <a:bodyPr wrap="square" lIns="0" tIns="0" rIns="0" bIns="0" rtlCol="0" anchor="ctr"/>
          <a:lstStyle/>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Émetteur : Direction Clientèle  ·  Contributeur : Planning stratégique</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Destinataire : Direction de la Création</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Réponse créative attendue sous 10 jours ouvrés</a:t>
            </a:r>
            <a:endParaRPr lang="en-US" sz="1200" dirty="0"/>
          </a:p>
        </p:txBody>
      </p:sp>
      <p:sp>
        <p:nvSpPr>
          <p:cNvPr id="7" name="Shape 5"/>
          <p:cNvSpPr/>
          <p:nvPr/>
        </p:nvSpPr>
        <p:spPr>
          <a:xfrm>
            <a:off x="566928" y="6199632"/>
            <a:ext cx="256032" cy="256032"/>
          </a:xfrm>
          <a:prstGeom prst="ellipse">
            <a:avLst/>
          </a:prstGeom>
          <a:solidFill>
            <a:srgbClr val="10646E"/>
          </a:solidFill>
          <a:ln/>
        </p:spPr>
      </p:sp>
      <p:sp>
        <p:nvSpPr>
          <p:cNvPr id="8"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9"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10"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1</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que le client a demandé</a:t>
            </a:r>
            <a:endParaRPr lang="en-US" sz="3000" dirty="0"/>
          </a:p>
        </p:txBody>
      </p:sp>
      <p:sp>
        <p:nvSpPr>
          <p:cNvPr id="4" name="Shape 2"/>
          <p:cNvSpPr/>
          <p:nvPr/>
        </p:nvSpPr>
        <p:spPr>
          <a:xfrm>
            <a:off x="566928" y="1691640"/>
            <a:ext cx="11057839" cy="1600200"/>
          </a:xfrm>
          <a:prstGeom prst="roundRect">
            <a:avLst>
              <a:gd name="adj" fmla="val 3429"/>
            </a:avLst>
          </a:prstGeom>
          <a:solidFill>
            <a:srgbClr val="F3EEE9"/>
          </a:solidFill>
          <a:ln/>
        </p:spPr>
      </p:sp>
      <p:sp>
        <p:nvSpPr>
          <p:cNvPr id="5" name="Text 3"/>
          <p:cNvSpPr/>
          <p:nvPr/>
        </p:nvSpPr>
        <p:spPr>
          <a:xfrm>
            <a:off x="932688" y="1920240"/>
            <a:ext cx="10326319" cy="1143000"/>
          </a:xfrm>
          <a:prstGeom prst="rect">
            <a:avLst/>
          </a:prstGeom>
          <a:noFill/>
          <a:ln/>
        </p:spPr>
        <p:txBody>
          <a:bodyPr wrap="square" lIns="0" tIns="0" rIns="0" bIns="0" rtlCol="0" anchor="ctr"/>
          <a:lstStyle/>
          <a:p>
            <a:pPr indent="0" marL="0">
              <a:lnSpc>
                <a:spcPts val="2700"/>
              </a:lnSpc>
              <a:buNone/>
            </a:pPr>
            <a:r>
              <a:rPr lang="en-US" sz="1700" i="1" dirty="0">
                <a:solidFill>
                  <a:srgbClr val="1F1512"/>
                </a:solidFill>
                <a:latin typeface="Cambria" pitchFamily="34" charset="0"/>
                <a:ea typeface="Cambria" pitchFamily="34" charset="-122"/>
                <a:cs typeface="Cambria" pitchFamily="34" charset="-120"/>
              </a:rPr>
              <a:t>« On veut une campagne de fin d'année plus forte que l'an dernier. Il nous faut un film, des affiches, et quelque chose de fort en digital. Nos ventes de décembre ont baissé alors que c'est notre meilleur mois. »</a:t>
            </a:r>
            <a:endParaRPr lang="en-US" sz="1700" dirty="0"/>
          </a:p>
        </p:txBody>
      </p:sp>
      <p:sp>
        <p:nvSpPr>
          <p:cNvPr id="6" name="Text 4"/>
          <p:cNvSpPr/>
          <p:nvPr/>
        </p:nvSpPr>
        <p:spPr>
          <a:xfrm>
            <a:off x="566928" y="3364992"/>
            <a:ext cx="11057839" cy="228600"/>
          </a:xfrm>
          <a:prstGeom prst="rect">
            <a:avLst/>
          </a:prstGeom>
          <a:noFill/>
          <a:ln/>
        </p:spPr>
        <p:txBody>
          <a:bodyPr wrap="square" lIns="0" tIns="0" rIns="0" bIns="0" rtlCol="0" anchor="ctr"/>
          <a:lstStyle/>
          <a:p>
            <a:pPr indent="0" marL="0">
              <a:buNone/>
            </a:pPr>
            <a:r>
              <a:rPr lang="en-US" sz="1050" dirty="0">
                <a:solidFill>
                  <a:srgbClr val="8C7B72"/>
                </a:solidFill>
                <a:latin typeface="Calibri" pitchFamily="34" charset="0"/>
                <a:ea typeface="Calibri" pitchFamily="34" charset="-122"/>
                <a:cs typeface="Calibri" pitchFamily="34" charset="-120"/>
              </a:rPr>
              <a:t>Verbatim, sans reformulation.</a:t>
            </a:r>
            <a:endParaRPr lang="en-US" sz="1050" dirty="0"/>
          </a:p>
        </p:txBody>
      </p:sp>
      <p:sp>
        <p:nvSpPr>
          <p:cNvPr id="7" name="Shape 5"/>
          <p:cNvSpPr/>
          <p:nvPr/>
        </p:nvSpPr>
        <p:spPr>
          <a:xfrm>
            <a:off x="566928" y="3794760"/>
            <a:ext cx="3503066" cy="2148840"/>
          </a:xfrm>
          <a:prstGeom prst="roundRect">
            <a:avLst>
              <a:gd name="adj" fmla="val 2553"/>
            </a:avLst>
          </a:prstGeom>
          <a:solidFill>
            <a:srgbClr val="F3EEE9"/>
          </a:solidFill>
          <a:ln/>
        </p:spPr>
      </p:sp>
      <p:sp>
        <p:nvSpPr>
          <p:cNvPr id="8" name="Text 6"/>
          <p:cNvSpPr/>
          <p:nvPr/>
        </p:nvSpPr>
        <p:spPr>
          <a:xfrm>
            <a:off x="822960" y="403250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DEMANDEUR</a:t>
            </a:r>
            <a:endParaRPr lang="en-US" sz="950" dirty="0"/>
          </a:p>
        </p:txBody>
      </p:sp>
      <p:sp>
        <p:nvSpPr>
          <p:cNvPr id="9" name="Text 7"/>
          <p:cNvSpPr/>
          <p:nvPr/>
        </p:nvSpPr>
        <p:spPr>
          <a:xfrm>
            <a:off x="822960" y="430682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Directrice Marketing</a:t>
            </a:r>
            <a:endParaRPr lang="en-US" sz="1700" dirty="0"/>
          </a:p>
        </p:txBody>
      </p:sp>
      <p:sp>
        <p:nvSpPr>
          <p:cNvPr id="10" name="Text 8"/>
          <p:cNvSpPr/>
          <p:nvPr/>
        </p:nvSpPr>
        <p:spPr>
          <a:xfrm>
            <a:off x="822960" y="478231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Interlocutrice quotidienne. N'est pas le décideur final.</a:t>
            </a:r>
            <a:endParaRPr lang="en-US" sz="1250" dirty="0"/>
          </a:p>
        </p:txBody>
      </p:sp>
      <p:sp>
        <p:nvSpPr>
          <p:cNvPr id="11" name="Shape 9"/>
          <p:cNvSpPr/>
          <p:nvPr/>
        </p:nvSpPr>
        <p:spPr>
          <a:xfrm>
            <a:off x="4344314" y="3794760"/>
            <a:ext cx="3503066" cy="2148840"/>
          </a:xfrm>
          <a:prstGeom prst="roundRect">
            <a:avLst>
              <a:gd name="adj" fmla="val 2553"/>
            </a:avLst>
          </a:prstGeom>
          <a:solidFill>
            <a:srgbClr val="F3EEE9"/>
          </a:solidFill>
          <a:ln/>
        </p:spPr>
      </p:sp>
      <p:sp>
        <p:nvSpPr>
          <p:cNvPr id="12" name="Text 10"/>
          <p:cNvSpPr/>
          <p:nvPr/>
        </p:nvSpPr>
        <p:spPr>
          <a:xfrm>
            <a:off x="4600346" y="403250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DÉCIDEUR</a:t>
            </a:r>
            <a:endParaRPr lang="en-US" sz="950" dirty="0"/>
          </a:p>
        </p:txBody>
      </p:sp>
      <p:sp>
        <p:nvSpPr>
          <p:cNvPr id="13" name="Text 11"/>
          <p:cNvSpPr/>
          <p:nvPr/>
        </p:nvSpPr>
        <p:spPr>
          <a:xfrm>
            <a:off x="4600346" y="430682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Directeur Général</a:t>
            </a:r>
            <a:endParaRPr lang="en-US" sz="1700" dirty="0"/>
          </a:p>
        </p:txBody>
      </p:sp>
      <p:sp>
        <p:nvSpPr>
          <p:cNvPr id="14" name="Text 12"/>
          <p:cNvSpPr/>
          <p:nvPr/>
        </p:nvSpPr>
        <p:spPr>
          <a:xfrm>
            <a:off x="4600346" y="478231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Tranche en dernier ressort, après comité de marque.</a:t>
            </a:r>
            <a:endParaRPr lang="en-US" sz="1250" dirty="0"/>
          </a:p>
        </p:txBody>
      </p:sp>
      <p:sp>
        <p:nvSpPr>
          <p:cNvPr id="15" name="Shape 13"/>
          <p:cNvSpPr/>
          <p:nvPr/>
        </p:nvSpPr>
        <p:spPr>
          <a:xfrm>
            <a:off x="8121701" y="3794760"/>
            <a:ext cx="3503066" cy="2148840"/>
          </a:xfrm>
          <a:prstGeom prst="roundRect">
            <a:avLst>
              <a:gd name="adj" fmla="val 2553"/>
            </a:avLst>
          </a:prstGeom>
          <a:solidFill>
            <a:srgbClr val="F3EEE9"/>
          </a:solidFill>
          <a:ln/>
        </p:spPr>
      </p:sp>
      <p:sp>
        <p:nvSpPr>
          <p:cNvPr id="16" name="Text 14"/>
          <p:cNvSpPr/>
          <p:nvPr/>
        </p:nvSpPr>
        <p:spPr>
          <a:xfrm>
            <a:off x="8377733" y="403250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CIRCUIT</a:t>
            </a:r>
            <a:endParaRPr lang="en-US" sz="950" dirty="0"/>
          </a:p>
        </p:txBody>
      </p:sp>
      <p:sp>
        <p:nvSpPr>
          <p:cNvPr id="17" name="Text 15"/>
          <p:cNvSpPr/>
          <p:nvPr/>
        </p:nvSpPr>
        <p:spPr>
          <a:xfrm>
            <a:off x="8377733" y="430682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Trois passages</a:t>
            </a:r>
            <a:endParaRPr lang="en-US" sz="1700" dirty="0"/>
          </a:p>
        </p:txBody>
      </p:sp>
      <p:sp>
        <p:nvSpPr>
          <p:cNvPr id="18" name="Text 16"/>
          <p:cNvSpPr/>
          <p:nvPr/>
        </p:nvSpPr>
        <p:spPr>
          <a:xfrm>
            <a:off x="8377733" y="478231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Marketing → comité → DG. Compter 8 jours ouvrés entre présentation et validation ferme.</a:t>
            </a:r>
            <a:endParaRPr lang="en-US" sz="1250" dirty="0"/>
          </a:p>
        </p:txBody>
      </p:sp>
      <p:sp>
        <p:nvSpPr>
          <p:cNvPr id="19" name="Shape 17"/>
          <p:cNvSpPr/>
          <p:nvPr/>
        </p:nvSpPr>
        <p:spPr>
          <a:xfrm>
            <a:off x="566928" y="6199632"/>
            <a:ext cx="256032" cy="256032"/>
          </a:xfrm>
          <a:prstGeom prst="ellipse">
            <a:avLst/>
          </a:prstGeom>
          <a:solidFill>
            <a:srgbClr val="10646E"/>
          </a:solidFill>
          <a:ln/>
        </p:spPr>
      </p:sp>
      <p:sp>
        <p:nvSpPr>
          <p:cNvPr id="20" name="Text 18"/>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1" name="Text 19"/>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22" name="Text 20"/>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2</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Le problème réel</a:t>
            </a:r>
            <a:endParaRPr lang="en-US" sz="3000" dirty="0"/>
          </a:p>
        </p:txBody>
      </p:sp>
      <p:sp>
        <p:nvSpPr>
          <p:cNvPr id="4" name="Shape 2"/>
          <p:cNvSpPr/>
          <p:nvPr/>
        </p:nvSpPr>
        <p:spPr>
          <a:xfrm>
            <a:off x="566928" y="1645920"/>
            <a:ext cx="3503066" cy="1828800"/>
          </a:xfrm>
          <a:prstGeom prst="roundRect">
            <a:avLst>
              <a:gd name="adj" fmla="val 3000"/>
            </a:avLst>
          </a:prstGeom>
          <a:solidFill>
            <a:srgbClr val="F3EEE9"/>
          </a:solidFill>
          <a:ln/>
        </p:spPr>
      </p:sp>
      <p:sp>
        <p:nvSpPr>
          <p:cNvPr id="5" name="Text 3"/>
          <p:cNvSpPr/>
          <p:nvPr/>
        </p:nvSpPr>
        <p:spPr>
          <a:xfrm>
            <a:off x="749808" y="1847088"/>
            <a:ext cx="3137306" cy="731520"/>
          </a:xfrm>
          <a:prstGeom prst="rect">
            <a:avLst/>
          </a:prstGeom>
          <a:noFill/>
          <a:ln/>
        </p:spPr>
        <p:txBody>
          <a:bodyPr wrap="square" lIns="0" tIns="0" rIns="0" bIns="0" rtlCol="0" anchor="ctr"/>
          <a:lstStyle/>
          <a:p>
            <a:pPr algn="ctr" indent="0" marL="0">
              <a:buNone/>
            </a:pPr>
            <a:r>
              <a:rPr lang="en-US" sz="4200" b="1" dirty="0">
                <a:solidFill>
                  <a:srgbClr val="10646E"/>
                </a:solidFill>
                <a:latin typeface="Cambria" pitchFamily="34" charset="0"/>
                <a:ea typeface="Cambria" pitchFamily="34" charset="-122"/>
                <a:cs typeface="Cambria" pitchFamily="34" charset="-120"/>
              </a:rPr>
              <a:t>27 %</a:t>
            </a:r>
            <a:endParaRPr lang="en-US" sz="4200" dirty="0"/>
          </a:p>
        </p:txBody>
      </p:sp>
      <p:sp>
        <p:nvSpPr>
          <p:cNvPr id="6" name="Text 4"/>
          <p:cNvSpPr/>
          <p:nvPr/>
        </p:nvSpPr>
        <p:spPr>
          <a:xfrm>
            <a:off x="749808" y="2606040"/>
            <a:ext cx="3137306" cy="73152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part de marché sur la cuisine quotidienne — position n° 2 tenue</a:t>
            </a:r>
            <a:endParaRPr lang="en-US" sz="1150" dirty="0"/>
          </a:p>
        </p:txBody>
      </p:sp>
      <p:sp>
        <p:nvSpPr>
          <p:cNvPr id="7" name="Shape 5"/>
          <p:cNvSpPr/>
          <p:nvPr/>
        </p:nvSpPr>
        <p:spPr>
          <a:xfrm>
            <a:off x="4344314" y="1645920"/>
            <a:ext cx="3503066" cy="1828800"/>
          </a:xfrm>
          <a:prstGeom prst="roundRect">
            <a:avLst>
              <a:gd name="adj" fmla="val 3000"/>
            </a:avLst>
          </a:prstGeom>
          <a:solidFill>
            <a:srgbClr val="F3EEE9"/>
          </a:solidFill>
          <a:ln/>
        </p:spPr>
      </p:sp>
      <p:sp>
        <p:nvSpPr>
          <p:cNvPr id="8" name="Text 6"/>
          <p:cNvSpPr/>
          <p:nvPr/>
        </p:nvSpPr>
        <p:spPr>
          <a:xfrm>
            <a:off x="4527194" y="1847088"/>
            <a:ext cx="3137306" cy="731520"/>
          </a:xfrm>
          <a:prstGeom prst="rect">
            <a:avLst/>
          </a:prstGeom>
          <a:noFill/>
          <a:ln/>
        </p:spPr>
        <p:txBody>
          <a:bodyPr wrap="square" lIns="0" tIns="0" rIns="0" bIns="0" rtlCol="0" anchor="ctr"/>
          <a:lstStyle/>
          <a:p>
            <a:pPr algn="ctr" indent="0" marL="0">
              <a:buNone/>
            </a:pPr>
            <a:r>
              <a:rPr lang="en-US" sz="4200" b="1" dirty="0">
                <a:solidFill>
                  <a:srgbClr val="10646E"/>
                </a:solidFill>
                <a:latin typeface="Cambria" pitchFamily="34" charset="0"/>
                <a:ea typeface="Cambria" pitchFamily="34" charset="-122"/>
                <a:cs typeface="Cambria" pitchFamily="34" charset="-120"/>
              </a:rPr>
              <a:t>14 %</a:t>
            </a:r>
            <a:endParaRPr lang="en-US" sz="4200" dirty="0"/>
          </a:p>
        </p:txBody>
      </p:sp>
      <p:sp>
        <p:nvSpPr>
          <p:cNvPr id="9" name="Text 7"/>
          <p:cNvSpPr/>
          <p:nvPr/>
        </p:nvSpPr>
        <p:spPr>
          <a:xfrm>
            <a:off x="4527194" y="2606040"/>
            <a:ext cx="3137306" cy="73152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part de marché sur les repas de fête, là où le panier est le plus gros</a:t>
            </a:r>
            <a:endParaRPr lang="en-US" sz="1150" dirty="0"/>
          </a:p>
        </p:txBody>
      </p:sp>
      <p:sp>
        <p:nvSpPr>
          <p:cNvPr id="10" name="Shape 8"/>
          <p:cNvSpPr/>
          <p:nvPr/>
        </p:nvSpPr>
        <p:spPr>
          <a:xfrm>
            <a:off x="8121701" y="1645920"/>
            <a:ext cx="3503066" cy="1828800"/>
          </a:xfrm>
          <a:prstGeom prst="roundRect">
            <a:avLst>
              <a:gd name="adj" fmla="val 3000"/>
            </a:avLst>
          </a:prstGeom>
          <a:solidFill>
            <a:srgbClr val="F3EEE9"/>
          </a:solidFill>
          <a:ln/>
        </p:spPr>
      </p:sp>
      <p:sp>
        <p:nvSpPr>
          <p:cNvPr id="11" name="Text 9"/>
          <p:cNvSpPr/>
          <p:nvPr/>
        </p:nvSpPr>
        <p:spPr>
          <a:xfrm>
            <a:off x="8304581" y="1847088"/>
            <a:ext cx="3137306" cy="731520"/>
          </a:xfrm>
          <a:prstGeom prst="rect">
            <a:avLst/>
          </a:prstGeom>
          <a:noFill/>
          <a:ln/>
        </p:spPr>
        <p:txBody>
          <a:bodyPr wrap="square" lIns="0" tIns="0" rIns="0" bIns="0" rtlCol="0" anchor="ctr"/>
          <a:lstStyle/>
          <a:p>
            <a:pPr algn="ctr" indent="0" marL="0">
              <a:buNone/>
            </a:pPr>
            <a:r>
              <a:rPr lang="en-US" sz="4200" b="1" dirty="0">
                <a:solidFill>
                  <a:srgbClr val="10646E"/>
                </a:solidFill>
                <a:latin typeface="Cambria" pitchFamily="34" charset="0"/>
                <a:ea typeface="Cambria" pitchFamily="34" charset="-122"/>
                <a:cs typeface="Cambria" pitchFamily="34" charset="-120"/>
              </a:rPr>
              <a:t>34 %</a:t>
            </a:r>
            <a:endParaRPr lang="en-US" sz="4200" dirty="0"/>
          </a:p>
        </p:txBody>
      </p:sp>
      <p:sp>
        <p:nvSpPr>
          <p:cNvPr id="12" name="Text 10"/>
          <p:cNvSpPr/>
          <p:nvPr/>
        </p:nvSpPr>
        <p:spPr>
          <a:xfrm>
            <a:off x="8304581" y="2606040"/>
            <a:ext cx="3137306" cy="73152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des personnes exposées ont attribué le film de l'an dernier au leader</a:t>
            </a:r>
            <a:endParaRPr lang="en-US" sz="1150" dirty="0"/>
          </a:p>
        </p:txBody>
      </p:sp>
      <p:sp>
        <p:nvSpPr>
          <p:cNvPr id="13" name="Shape 11"/>
          <p:cNvSpPr/>
          <p:nvPr/>
        </p:nvSpPr>
        <p:spPr>
          <a:xfrm>
            <a:off x="566928" y="3703320"/>
            <a:ext cx="11057839" cy="2148840"/>
          </a:xfrm>
          <a:prstGeom prst="roundRect">
            <a:avLst>
              <a:gd name="adj" fmla="val 2553"/>
            </a:avLst>
          </a:prstGeom>
          <a:solidFill>
            <a:srgbClr val="1F1512"/>
          </a:solidFill>
          <a:ln/>
        </p:spPr>
      </p:sp>
      <p:sp>
        <p:nvSpPr>
          <p:cNvPr id="14" name="Text 12"/>
          <p:cNvSpPr/>
          <p:nvPr/>
        </p:nvSpPr>
        <p:spPr>
          <a:xfrm>
            <a:off x="932688" y="3913632"/>
            <a:ext cx="10326319" cy="274320"/>
          </a:xfrm>
          <a:prstGeom prst="rect">
            <a:avLst/>
          </a:prstGeom>
          <a:noFill/>
          <a:ln/>
        </p:spPr>
        <p:txBody>
          <a:bodyPr wrap="square" lIns="0" tIns="0" rIns="0" bIns="0" rtlCol="0" anchor="ctr"/>
          <a:lstStyle/>
          <a:p>
            <a:pPr indent="0" marL="0">
              <a:buNone/>
            </a:pPr>
            <a:r>
              <a:rPr lang="en-US" sz="1050" b="1" spc="200" kern="0" dirty="0">
                <a:solidFill>
                  <a:srgbClr val="6FC4CE"/>
                </a:solidFill>
                <a:latin typeface="Calibri" pitchFamily="34" charset="0"/>
                <a:ea typeface="Calibri" pitchFamily="34" charset="-122"/>
                <a:cs typeface="Calibri" pitchFamily="34" charset="-120"/>
              </a:rPr>
              <a:t>Diagnostic</a:t>
            </a:r>
            <a:endParaRPr lang="en-US" sz="1050" dirty="0"/>
          </a:p>
        </p:txBody>
      </p:sp>
      <p:sp>
        <p:nvSpPr>
          <p:cNvPr id="15" name="Text 13"/>
          <p:cNvSpPr/>
          <p:nvPr/>
        </p:nvSpPr>
        <p:spPr>
          <a:xfrm>
            <a:off x="932688" y="4224528"/>
            <a:ext cx="10326319" cy="822960"/>
          </a:xfrm>
          <a:prstGeom prst="rect">
            <a:avLst/>
          </a:prstGeom>
          <a:noFill/>
          <a:ln/>
        </p:spPr>
        <p:txBody>
          <a:bodyPr wrap="square" lIns="0" tIns="0" rIns="0" bIns="0" rtlCol="0" anchor="ctr"/>
          <a:lstStyle/>
          <a:p>
            <a:pPr indent="0" marL="0">
              <a:lnSpc>
                <a:spcPts val="2300"/>
              </a:lnSpc>
              <a:buNone/>
            </a:pPr>
            <a:r>
              <a:rPr lang="en-US" sz="1550" dirty="0">
                <a:solidFill>
                  <a:srgbClr val="FFFFFF"/>
                </a:solidFill>
                <a:latin typeface="Calibri" pitchFamily="34" charset="0"/>
                <a:ea typeface="Calibri" pitchFamily="34" charset="-122"/>
                <a:cs typeface="Calibri" pitchFamily="34" charset="-120"/>
              </a:rPr>
              <a:t>La marque est associée à la routine, pas à l'événement. Elle est perçue comme fiable et économique — ce qui devient un handicap au moment précis où la cuisinière veut prouver quelque chose.</a:t>
            </a:r>
            <a:endParaRPr lang="en-US" sz="1550" dirty="0"/>
          </a:p>
        </p:txBody>
      </p:sp>
      <p:sp>
        <p:nvSpPr>
          <p:cNvPr id="16" name="Text 14"/>
          <p:cNvSpPr/>
          <p:nvPr/>
        </p:nvSpPr>
        <p:spPr>
          <a:xfrm>
            <a:off x="932688" y="5029200"/>
            <a:ext cx="10326319" cy="640080"/>
          </a:xfrm>
          <a:prstGeom prst="rect">
            <a:avLst/>
          </a:prstGeom>
          <a:noFill/>
          <a:ln/>
        </p:spPr>
        <p:txBody>
          <a:bodyPr wrap="square" lIns="0" tIns="0" rIns="0" bIns="0" rtlCol="0" anchor="ctr"/>
          <a:lstStyle/>
          <a:p>
            <a:pPr indent="0" marL="0">
              <a:lnSpc>
                <a:spcPts val="2000"/>
              </a:lnSpc>
              <a:buNone/>
            </a:pPr>
            <a:r>
              <a:rPr lang="en-US" sz="1300" i="1" dirty="0">
                <a:solidFill>
                  <a:srgbClr val="C9B8AF"/>
                </a:solidFill>
                <a:latin typeface="Calibri" pitchFamily="34" charset="0"/>
                <a:ea typeface="Calibri" pitchFamily="34" charset="-122"/>
                <a:cs typeface="Calibri" pitchFamily="34" charset="-120"/>
              </a:rPr>
              <a:t>Ce n'est donc ni un problème de notoriété, ni un problème de prix. C'est un problème de statut symbolique du produit dans un moment social précis.</a:t>
            </a:r>
            <a:endParaRPr lang="en-US" sz="1300" dirty="0"/>
          </a:p>
        </p:txBody>
      </p:sp>
      <p:sp>
        <p:nvSpPr>
          <p:cNvPr id="17" name="Shape 15"/>
          <p:cNvSpPr/>
          <p:nvPr/>
        </p:nvSpPr>
        <p:spPr>
          <a:xfrm>
            <a:off x="566928" y="6199632"/>
            <a:ext cx="256032" cy="256032"/>
          </a:xfrm>
          <a:prstGeom prst="ellipse">
            <a:avLst/>
          </a:prstGeom>
          <a:solidFill>
            <a:srgbClr val="4A5A93"/>
          </a:solidFill>
          <a:ln/>
        </p:spPr>
      </p:sp>
      <p:sp>
        <p:nvSpPr>
          <p:cNvPr id="18" name="Text 1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19" name="Text 1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Planning stratégique</a:t>
            </a:r>
            <a:endParaRPr lang="en-US" sz="950" dirty="0"/>
          </a:p>
        </p:txBody>
      </p:sp>
      <p:sp>
        <p:nvSpPr>
          <p:cNvPr id="20" name="Text 1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3</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À qui nous parlons</a:t>
            </a:r>
            <a:endParaRPr lang="en-US" sz="3000" dirty="0"/>
          </a:p>
        </p:txBody>
      </p:sp>
      <p:sp>
        <p:nvSpPr>
          <p:cNvPr id="4" name="Shape 2"/>
          <p:cNvSpPr/>
          <p:nvPr/>
        </p:nvSpPr>
        <p:spPr>
          <a:xfrm>
            <a:off x="566928" y="1645920"/>
            <a:ext cx="5391760" cy="2286000"/>
          </a:xfrm>
          <a:prstGeom prst="roundRect">
            <a:avLst>
              <a:gd name="adj" fmla="val 2400"/>
            </a:avLst>
          </a:prstGeom>
          <a:solidFill>
            <a:srgbClr val="F3EEE9"/>
          </a:solidFill>
          <a:ln/>
        </p:spPr>
      </p:sp>
      <p:sp>
        <p:nvSpPr>
          <p:cNvPr id="5" name="Text 3"/>
          <p:cNvSpPr/>
          <p:nvPr/>
        </p:nvSpPr>
        <p:spPr>
          <a:xfrm>
            <a:off x="841248" y="1847088"/>
            <a:ext cx="4843120" cy="32004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Cible principale</a:t>
            </a:r>
            <a:endParaRPr lang="en-US" sz="1700" dirty="0"/>
          </a:p>
        </p:txBody>
      </p:sp>
      <p:sp>
        <p:nvSpPr>
          <p:cNvPr id="6" name="Text 4"/>
          <p:cNvSpPr/>
          <p:nvPr/>
        </p:nvSpPr>
        <p:spPr>
          <a:xfrm>
            <a:off x="841248" y="2240280"/>
            <a:ext cx="4843120" cy="155448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Femme, 28-45 ans, urbaine et péri-urbaine</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Cuisine chaque jour pour 4 à 8 personnes</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Décide seule des achats alimentaires</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En fin d'année : 12 à 25 couverts, deux à trois fois</a:t>
            </a:r>
            <a:endParaRPr lang="en-US" sz="1250" dirty="0"/>
          </a:p>
        </p:txBody>
      </p:sp>
      <p:sp>
        <p:nvSpPr>
          <p:cNvPr id="7" name="Shape 5"/>
          <p:cNvSpPr/>
          <p:nvPr/>
        </p:nvSpPr>
        <p:spPr>
          <a:xfrm>
            <a:off x="6233008" y="1645920"/>
            <a:ext cx="5391760" cy="2286000"/>
          </a:xfrm>
          <a:prstGeom prst="roundRect">
            <a:avLst>
              <a:gd name="adj" fmla="val 2400"/>
            </a:avLst>
          </a:prstGeom>
          <a:solidFill>
            <a:srgbClr val="F3EEE9"/>
          </a:solidFill>
          <a:ln/>
        </p:spPr>
      </p:sp>
      <p:sp>
        <p:nvSpPr>
          <p:cNvPr id="8" name="Text 6"/>
          <p:cNvSpPr/>
          <p:nvPr/>
        </p:nvSpPr>
        <p:spPr>
          <a:xfrm>
            <a:off x="6507328" y="1847088"/>
            <a:ext cx="4843120" cy="32004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Cible secondaire</a:t>
            </a:r>
            <a:endParaRPr lang="en-US" sz="1700" dirty="0"/>
          </a:p>
        </p:txBody>
      </p:sp>
      <p:sp>
        <p:nvSpPr>
          <p:cNvPr id="9" name="Text 7"/>
          <p:cNvSpPr/>
          <p:nvPr/>
        </p:nvSpPr>
        <p:spPr>
          <a:xfrm>
            <a:off x="6507328" y="2240280"/>
            <a:ext cx="4843120" cy="155448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Jeunes adultes 20-30 ans</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Cuisinent pour la première fois un repas de famille</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Cherchent une assurance, pas une astuce</a:t>
            </a:r>
            <a:endParaRPr lang="en-US" sz="1250" dirty="0"/>
          </a:p>
          <a:p>
            <a:pPr marL="342900" indent="-342900">
              <a:lnSpc>
                <a:spcPts val="1900"/>
              </a:lnSpc>
              <a:spcAft>
                <a:spcPts val="900"/>
              </a:spcAft>
              <a:buSzPct val="100000"/>
              <a:buChar char="–"/>
            </a:pPr>
            <a:r>
              <a:rPr lang="en-US" sz="1250" dirty="0">
                <a:solidFill>
                  <a:srgbClr val="3E322C"/>
                </a:solidFill>
                <a:latin typeface="Calibri" pitchFamily="34" charset="0"/>
                <a:ea typeface="Calibri" pitchFamily="34" charset="-122"/>
                <a:cs typeface="Calibri" pitchFamily="34" charset="-120"/>
              </a:rPr>
              <a:t>Hors périmètre : la restauration professionnelle</a:t>
            </a:r>
            <a:endParaRPr lang="en-US" sz="1250" dirty="0"/>
          </a:p>
        </p:txBody>
      </p:sp>
      <p:sp>
        <p:nvSpPr>
          <p:cNvPr id="10" name="Shape 8"/>
          <p:cNvSpPr/>
          <p:nvPr/>
        </p:nvSpPr>
        <p:spPr>
          <a:xfrm>
            <a:off x="566928" y="4160520"/>
            <a:ext cx="11057839" cy="1463040"/>
          </a:xfrm>
          <a:prstGeom prst="roundRect">
            <a:avLst>
              <a:gd name="adj" fmla="val 3750"/>
            </a:avLst>
          </a:prstGeom>
          <a:solidFill>
            <a:srgbClr val="1F1512"/>
          </a:solidFill>
          <a:ln/>
        </p:spPr>
      </p:sp>
      <p:sp>
        <p:nvSpPr>
          <p:cNvPr id="11" name="Text 9"/>
          <p:cNvSpPr/>
          <p:nvPr/>
        </p:nvSpPr>
        <p:spPr>
          <a:xfrm>
            <a:off x="932688" y="4370832"/>
            <a:ext cx="10326319" cy="256032"/>
          </a:xfrm>
          <a:prstGeom prst="rect">
            <a:avLst/>
          </a:prstGeom>
          <a:noFill/>
          <a:ln/>
        </p:spPr>
        <p:txBody>
          <a:bodyPr wrap="square" lIns="0" tIns="0" rIns="0" bIns="0" rtlCol="0" anchor="ctr"/>
          <a:lstStyle/>
          <a:p>
            <a:pPr indent="0" marL="0">
              <a:buNone/>
            </a:pPr>
            <a:r>
              <a:rPr lang="en-US" sz="1050" b="1" spc="200" kern="0" dirty="0">
                <a:solidFill>
                  <a:srgbClr val="6FC4CE"/>
                </a:solidFill>
                <a:latin typeface="Calibri" pitchFamily="34" charset="0"/>
                <a:ea typeface="Calibri" pitchFamily="34" charset="-122"/>
                <a:cs typeface="Calibri" pitchFamily="34" charset="-120"/>
              </a:rPr>
              <a:t>LA TENSION</a:t>
            </a:r>
            <a:endParaRPr lang="en-US" sz="1050" dirty="0"/>
          </a:p>
        </p:txBody>
      </p:sp>
      <p:sp>
        <p:nvSpPr>
          <p:cNvPr id="12" name="Text 10"/>
          <p:cNvSpPr/>
          <p:nvPr/>
        </p:nvSpPr>
        <p:spPr>
          <a:xfrm>
            <a:off x="932688" y="4663440"/>
            <a:ext cx="10326319" cy="777240"/>
          </a:xfrm>
          <a:prstGeom prst="rect">
            <a:avLst/>
          </a:prstGeom>
          <a:noFill/>
          <a:ln/>
        </p:spPr>
        <p:txBody>
          <a:bodyPr wrap="square" lIns="0" tIns="0" rIns="0" bIns="0" rtlCol="0" anchor="ctr"/>
          <a:lstStyle/>
          <a:p>
            <a:pPr indent="0" marL="0">
              <a:lnSpc>
                <a:spcPts val="2400"/>
              </a:lnSpc>
              <a:buNone/>
            </a:pPr>
            <a:r>
              <a:rPr lang="en-US" sz="1600" dirty="0">
                <a:solidFill>
                  <a:srgbClr val="FFFFFF"/>
                </a:solidFill>
                <a:latin typeface="Cambria" pitchFamily="34" charset="0"/>
                <a:ea typeface="Cambria" pitchFamily="34" charset="-122"/>
                <a:cs typeface="Cambria" pitchFamily="34" charset="-120"/>
              </a:rPr>
              <a:t>Aux repas de fête, sa cuisine est jugée. Elle prend le produit dont elle pense qu'il ne la trahira pas devant les autres.</a:t>
            </a:r>
            <a:endParaRPr lang="en-US" sz="1600" dirty="0"/>
          </a:p>
        </p:txBody>
      </p:sp>
      <p:sp>
        <p:nvSpPr>
          <p:cNvPr id="13" name="Shape 11"/>
          <p:cNvSpPr/>
          <p:nvPr/>
        </p:nvSpPr>
        <p:spPr>
          <a:xfrm>
            <a:off x="566928" y="6199632"/>
            <a:ext cx="256032" cy="256032"/>
          </a:xfrm>
          <a:prstGeom prst="ellipse">
            <a:avLst/>
          </a:prstGeom>
          <a:solidFill>
            <a:srgbClr val="4A5A93"/>
          </a:solidFill>
          <a:ln/>
        </p:spPr>
      </p:sp>
      <p:sp>
        <p:nvSpPr>
          <p:cNvPr id="14" name="Text 12"/>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15" name="Text 13"/>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Planning stratégique</a:t>
            </a:r>
            <a:endParaRPr lang="en-US" sz="950" dirty="0"/>
          </a:p>
        </p:txBody>
      </p:sp>
      <p:sp>
        <p:nvSpPr>
          <p:cNvPr id="16" name="Text 14"/>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4</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Territoire stratégique</a:t>
            </a:r>
            <a:endParaRPr lang="en-US" sz="3000" dirty="0"/>
          </a:p>
        </p:txBody>
      </p:sp>
      <p:sp>
        <p:nvSpPr>
          <p:cNvPr id="4" name="Text 2"/>
          <p:cNvSpPr/>
          <p:nvPr/>
        </p:nvSpPr>
        <p:spPr>
          <a:xfrm>
            <a:off x="566928" y="1481328"/>
            <a:ext cx="11057839" cy="274320"/>
          </a:xfrm>
          <a:prstGeom prst="rect">
            <a:avLst/>
          </a:prstGeom>
          <a:noFill/>
          <a:ln/>
        </p:spPr>
        <p:txBody>
          <a:bodyPr wrap="square" lIns="0" tIns="0" rIns="0" bIns="0" rtlCol="0" anchor="ctr"/>
          <a:lstStyle/>
          <a:p>
            <a:pPr indent="0" marL="0">
              <a:buNone/>
            </a:pPr>
            <a:r>
              <a:rPr lang="en-US" sz="1200" i="1" dirty="0">
                <a:solidFill>
                  <a:srgbClr val="8C7B72"/>
                </a:solidFill>
                <a:latin typeface="Calibri" pitchFamily="34" charset="0"/>
                <a:ea typeface="Calibri" pitchFamily="34" charset="-122"/>
                <a:cs typeface="Calibri" pitchFamily="34" charset="-120"/>
              </a:rPr>
              <a:t>Cadre de travail remis à la création. Il pose le problème et l'axe — il ne contient pas l'idée.</a:t>
            </a:r>
            <a:endParaRPr lang="en-US" sz="1200" dirty="0"/>
          </a:p>
        </p:txBody>
      </p:sp>
      <p:sp>
        <p:nvSpPr>
          <p:cNvPr id="5" name="Shape 3"/>
          <p:cNvSpPr/>
          <p:nvPr/>
        </p:nvSpPr>
        <p:spPr>
          <a:xfrm>
            <a:off x="566928" y="1920240"/>
            <a:ext cx="3503066" cy="2377440"/>
          </a:xfrm>
          <a:prstGeom prst="roundRect">
            <a:avLst>
              <a:gd name="adj" fmla="val 2308"/>
            </a:avLst>
          </a:prstGeom>
          <a:solidFill>
            <a:srgbClr val="F3EEE9"/>
          </a:solidFill>
          <a:ln/>
        </p:spPr>
      </p:sp>
      <p:sp>
        <p:nvSpPr>
          <p:cNvPr id="6" name="Text 4"/>
          <p:cNvSpPr/>
          <p:nvPr/>
        </p:nvSpPr>
        <p:spPr>
          <a:xfrm>
            <a:off x="822960" y="21579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AXE</a:t>
            </a:r>
            <a:endParaRPr lang="en-US" sz="950" dirty="0"/>
          </a:p>
        </p:txBody>
      </p:sp>
      <p:sp>
        <p:nvSpPr>
          <p:cNvPr id="7" name="Text 5"/>
          <p:cNvSpPr/>
          <p:nvPr/>
        </p:nvSpPr>
        <p:spPr>
          <a:xfrm>
            <a:off x="822960" y="24323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Du quotidien à l'occasion</a:t>
            </a:r>
            <a:endParaRPr lang="en-US" sz="1700" dirty="0"/>
          </a:p>
        </p:txBody>
      </p:sp>
      <p:sp>
        <p:nvSpPr>
          <p:cNvPr id="8" name="Text 6"/>
          <p:cNvSpPr/>
          <p:nvPr/>
        </p:nvSpPr>
        <p:spPr>
          <a:xfrm>
            <a:off x="822960" y="2907792"/>
            <a:ext cx="2991002" cy="11338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Faire passer KOMBA du produit de confiance quotidienne au produit des grandes occasions — sans renier le quotidien. La légitimité festive se construit sur l'assiduité, pas contre elle.</a:t>
            </a:r>
            <a:endParaRPr lang="en-US" sz="1250" dirty="0"/>
          </a:p>
        </p:txBody>
      </p:sp>
      <p:sp>
        <p:nvSpPr>
          <p:cNvPr id="9" name="Shape 7"/>
          <p:cNvSpPr/>
          <p:nvPr/>
        </p:nvSpPr>
        <p:spPr>
          <a:xfrm>
            <a:off x="4344314" y="1920240"/>
            <a:ext cx="3503066" cy="2377440"/>
          </a:xfrm>
          <a:prstGeom prst="roundRect">
            <a:avLst>
              <a:gd name="adj" fmla="val 2308"/>
            </a:avLst>
          </a:prstGeom>
          <a:solidFill>
            <a:srgbClr val="F3EEE9"/>
          </a:solidFill>
          <a:ln/>
        </p:spPr>
      </p:sp>
      <p:sp>
        <p:nvSpPr>
          <p:cNvPr id="10" name="Text 8"/>
          <p:cNvSpPr/>
          <p:nvPr/>
        </p:nvSpPr>
        <p:spPr>
          <a:xfrm>
            <a:off x="4600346" y="21579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BÉNÉFICE</a:t>
            </a:r>
            <a:endParaRPr lang="en-US" sz="950" dirty="0"/>
          </a:p>
        </p:txBody>
      </p:sp>
      <p:sp>
        <p:nvSpPr>
          <p:cNvPr id="11" name="Text 9"/>
          <p:cNvSpPr/>
          <p:nvPr/>
        </p:nvSpPr>
        <p:spPr>
          <a:xfrm>
            <a:off x="4600346" y="24323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Tenir son rang</a:t>
            </a:r>
            <a:endParaRPr lang="en-US" sz="1700" dirty="0"/>
          </a:p>
        </p:txBody>
      </p:sp>
      <p:sp>
        <p:nvSpPr>
          <p:cNvPr id="12" name="Text 10"/>
          <p:cNvSpPr/>
          <p:nvPr/>
        </p:nvSpPr>
        <p:spPr>
          <a:xfrm>
            <a:off x="4600346" y="2907792"/>
            <a:ext cx="2991002" cy="11338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Avec KOMBA, la cuisinière tient son rang le jour où tout le monde regarde.</a:t>
            </a:r>
            <a:endParaRPr lang="en-US" sz="1250" dirty="0"/>
          </a:p>
        </p:txBody>
      </p:sp>
      <p:sp>
        <p:nvSpPr>
          <p:cNvPr id="13" name="Shape 11"/>
          <p:cNvSpPr/>
          <p:nvPr/>
        </p:nvSpPr>
        <p:spPr>
          <a:xfrm>
            <a:off x="8121701" y="1920240"/>
            <a:ext cx="3503066" cy="2377440"/>
          </a:xfrm>
          <a:prstGeom prst="roundRect">
            <a:avLst>
              <a:gd name="adj" fmla="val 2308"/>
            </a:avLst>
          </a:prstGeom>
          <a:solidFill>
            <a:srgbClr val="F3EEE9"/>
          </a:solidFill>
          <a:ln/>
        </p:spPr>
      </p:sp>
      <p:sp>
        <p:nvSpPr>
          <p:cNvPr id="14" name="Text 12"/>
          <p:cNvSpPr/>
          <p:nvPr/>
        </p:nvSpPr>
        <p:spPr>
          <a:xfrm>
            <a:off x="8377733" y="21579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REASON TO BELIEVE</a:t>
            </a:r>
            <a:endParaRPr lang="en-US" sz="950" dirty="0"/>
          </a:p>
        </p:txBody>
      </p:sp>
      <p:sp>
        <p:nvSpPr>
          <p:cNvPr id="15" name="Text 13"/>
          <p:cNvSpPr/>
          <p:nvPr/>
        </p:nvSpPr>
        <p:spPr>
          <a:xfrm>
            <a:off x="8377733" y="24323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Trois générations</a:t>
            </a:r>
            <a:endParaRPr lang="en-US" sz="1700" dirty="0"/>
          </a:p>
        </p:txBody>
      </p:sp>
      <p:sp>
        <p:nvSpPr>
          <p:cNvPr id="16" name="Text 14"/>
          <p:cNvSpPr/>
          <p:nvPr/>
        </p:nvSpPr>
        <p:spPr>
          <a:xfrm>
            <a:off x="8377733" y="2907792"/>
            <a:ext cx="2991002" cy="11338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Formulation inchangée depuis 1998. Dosage adapté aux grandes marmites (gamme 60 g). Présente dans les cuisines de trois générations d'une même famille.</a:t>
            </a:r>
            <a:endParaRPr lang="en-US" sz="1250" dirty="0"/>
          </a:p>
        </p:txBody>
      </p:sp>
      <p:sp>
        <p:nvSpPr>
          <p:cNvPr id="17" name="Shape 15"/>
          <p:cNvSpPr/>
          <p:nvPr/>
        </p:nvSpPr>
        <p:spPr>
          <a:xfrm>
            <a:off x="566928" y="4526280"/>
            <a:ext cx="11057839" cy="1143000"/>
          </a:xfrm>
          <a:prstGeom prst="roundRect">
            <a:avLst>
              <a:gd name="adj" fmla="val 4800"/>
            </a:avLst>
          </a:prstGeom>
          <a:solidFill>
            <a:srgbClr val="F7E9E7"/>
          </a:solidFill>
          <a:ln/>
        </p:spPr>
      </p:sp>
      <p:sp>
        <p:nvSpPr>
          <p:cNvPr id="18" name="Text 16"/>
          <p:cNvSpPr/>
          <p:nvPr/>
        </p:nvSpPr>
        <p:spPr>
          <a:xfrm>
            <a:off x="859536" y="4681728"/>
            <a:ext cx="10472623" cy="256032"/>
          </a:xfrm>
          <a:prstGeom prst="rect">
            <a:avLst/>
          </a:prstGeom>
          <a:noFill/>
          <a:ln/>
        </p:spPr>
        <p:txBody>
          <a:bodyPr wrap="square" lIns="0" tIns="0" rIns="0" bIns="0" rtlCol="0" anchor="ctr"/>
          <a:lstStyle/>
          <a:p>
            <a:pPr indent="0" marL="0">
              <a:buNone/>
            </a:pPr>
            <a:r>
              <a:rPr lang="en-US" sz="1100" b="1" dirty="0">
                <a:solidFill>
                  <a:srgbClr val="B02118"/>
                </a:solidFill>
                <a:latin typeface="Calibri" pitchFamily="34" charset="0"/>
                <a:ea typeface="Calibri" pitchFamily="34" charset="-122"/>
                <a:cs typeface="Calibri" pitchFamily="34" charset="-120"/>
              </a:rPr>
              <a:t>Ce que la marque ne dit jamais</a:t>
            </a:r>
            <a:endParaRPr lang="en-US" sz="1100" dirty="0"/>
          </a:p>
        </p:txBody>
      </p:sp>
      <p:sp>
        <p:nvSpPr>
          <p:cNvPr id="19" name="Text 17"/>
          <p:cNvSpPr/>
          <p:nvPr/>
        </p:nvSpPr>
        <p:spPr>
          <a:xfrm>
            <a:off x="859536" y="4956048"/>
            <a:ext cx="10472623" cy="548640"/>
          </a:xfrm>
          <a:prstGeom prst="rect">
            <a:avLst/>
          </a:prstGeom>
          <a:noFill/>
          <a:ln/>
        </p:spPr>
        <p:txBody>
          <a:bodyPr wrap="square" lIns="0" tIns="0" rIns="0" bIns="0" rtlCol="0" anchor="ctr"/>
          <a:lstStyle/>
          <a:p>
            <a:pPr indent="0" marL="0">
              <a:lnSpc>
                <a:spcPts val="1800"/>
              </a:lnSpc>
              <a:buNone/>
            </a:pPr>
            <a:r>
              <a:rPr lang="en-US" sz="1250" dirty="0">
                <a:solidFill>
                  <a:srgbClr val="3E322C"/>
                </a:solidFill>
                <a:latin typeface="Calibri" pitchFamily="34" charset="0"/>
                <a:ea typeface="Calibri" pitchFamily="34" charset="-122"/>
                <a:cs typeface="Calibri" pitchFamily="34" charset="-120"/>
              </a:rPr>
              <a:t>Rien qui compare les cuisinières entre elles  ·  rien qui suggère qu'on réussit un plat sans savoir-faire  ·  aucune promesse de goût « meilleur que le fait maison ».</a:t>
            </a:r>
            <a:endParaRPr lang="en-US" sz="1250" dirty="0"/>
          </a:p>
        </p:txBody>
      </p:sp>
      <p:sp>
        <p:nvSpPr>
          <p:cNvPr id="20" name="Shape 18"/>
          <p:cNvSpPr/>
          <p:nvPr/>
        </p:nvSpPr>
        <p:spPr>
          <a:xfrm>
            <a:off x="566928" y="6199632"/>
            <a:ext cx="256032" cy="256032"/>
          </a:xfrm>
          <a:prstGeom prst="ellipse">
            <a:avLst/>
          </a:prstGeom>
          <a:solidFill>
            <a:srgbClr val="4A5A93"/>
          </a:solidFill>
          <a:ln/>
        </p:spPr>
      </p:sp>
      <p:sp>
        <p:nvSpPr>
          <p:cNvPr id="21" name="Text 19"/>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22" name="Text 20"/>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Planning stratégique</a:t>
            </a:r>
            <a:endParaRPr lang="en-US" sz="950" dirty="0"/>
          </a:p>
        </p:txBody>
      </p:sp>
      <p:sp>
        <p:nvSpPr>
          <p:cNvPr id="23" name="Text 21"/>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5</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Contexte concurrentiel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017520"/>
                <a:gridCol w="3108960"/>
                <a:gridCol w="4946904"/>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Acteur</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Prise de parole fin d'année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45720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Leader — 48 % PDM</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Référence festive installée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Campagne récurrente, forte présence TV et OOH, budget estimé ×3</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45720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KOMBA — 27 % PDM</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Fiabilité quotidienne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Présence dispersée, aucune plateforme stable depuis 3 ans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Challenger local — 11 %</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Prix agressif</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Activation terrain, échantillonnage sur les marchés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bl>
          </a:graphicData>
        </a:graphic>
      </p:graphicFrame>
      <p:sp>
        <p:nvSpPr>
          <p:cNvPr id="5" name="Shape 2"/>
          <p:cNvSpPr/>
          <p:nvPr/>
        </p:nvSpPr>
        <p:spPr>
          <a:xfrm>
            <a:off x="566928" y="3794760"/>
            <a:ext cx="11057839" cy="1874520"/>
          </a:xfrm>
          <a:prstGeom prst="roundRect">
            <a:avLst>
              <a:gd name="adj" fmla="val 2927"/>
            </a:avLst>
          </a:prstGeom>
          <a:solidFill>
            <a:srgbClr val="F3EEE9"/>
          </a:solidFill>
          <a:ln/>
        </p:spPr>
      </p:sp>
      <p:sp>
        <p:nvSpPr>
          <p:cNvPr id="6" name="Text 3"/>
          <p:cNvSpPr/>
          <p:nvPr/>
        </p:nvSpPr>
        <p:spPr>
          <a:xfrm>
            <a:off x="886968" y="4005072"/>
            <a:ext cx="10417759" cy="2743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Ce qui a été fait l'an dernier et n'a pas fonctionné</a:t>
            </a:r>
            <a:endParaRPr lang="en-US" sz="1500" dirty="0"/>
          </a:p>
        </p:txBody>
      </p:sp>
      <p:sp>
        <p:nvSpPr>
          <p:cNvPr id="7" name="Text 4"/>
          <p:cNvSpPr/>
          <p:nvPr/>
        </p:nvSpPr>
        <p:spPr>
          <a:xfrm>
            <a:off x="886968" y="4343400"/>
            <a:ext cx="10417759" cy="1005840"/>
          </a:xfrm>
          <a:prstGeom prst="rect">
            <a:avLst/>
          </a:prstGeom>
          <a:noFill/>
          <a:ln/>
        </p:spPr>
        <p:txBody>
          <a:bodyPr wrap="square" lIns="0" tIns="0" rIns="0" bIns="0" rtlCol="0" anchor="ctr"/>
          <a:lstStyle/>
          <a:p>
            <a:pPr indent="0" marL="0">
              <a:lnSpc>
                <a:spcPts val="2000"/>
              </a:lnSpc>
              <a:buNone/>
            </a:pPr>
            <a:r>
              <a:rPr lang="en-US" sz="1350" dirty="0">
                <a:solidFill>
                  <a:srgbClr val="3E322C"/>
                </a:solidFill>
                <a:latin typeface="Calibri" pitchFamily="34" charset="0"/>
                <a:ea typeface="Calibri" pitchFamily="34" charset="-122"/>
                <a:cs typeface="Calibri" pitchFamily="34" charset="-120"/>
              </a:rPr>
              <a:t>Un film de 30 secondes montrant un repas de famille générique, sans mécanique de campagne ni relais terrain. Mémorisation faible, attribution médiocre : un tiers des personnes exposées ont crédité le concurrent.</a:t>
            </a:r>
            <a:endParaRPr lang="en-US" sz="1350" dirty="0"/>
          </a:p>
        </p:txBody>
      </p:sp>
      <p:sp>
        <p:nvSpPr>
          <p:cNvPr id="8" name="Shape 5"/>
          <p:cNvSpPr/>
          <p:nvPr/>
        </p:nvSpPr>
        <p:spPr>
          <a:xfrm>
            <a:off x="566928" y="6199632"/>
            <a:ext cx="256032" cy="256032"/>
          </a:xfrm>
          <a:prstGeom prst="ellipse">
            <a:avLst/>
          </a:prstGeom>
          <a:solidFill>
            <a:srgbClr val="10646E"/>
          </a:solidFill>
          <a:ln/>
        </p:spPr>
      </p:sp>
      <p:sp>
        <p:nvSpPr>
          <p:cNvPr id="9"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0"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11"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6</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Périmètre et contraintes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3840480"/>
                <a:gridCol w="2194560"/>
                <a:gridCol w="5038344"/>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Livrable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Quantité</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10646E"/>
                    </a:solidFill>
                  </a:tcPr>
                </a:tc>
              </a:tr>
              <a:tr h="329184">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Film principal</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45 s + déclinaisons 20 s et 10 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29184">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Affichage OOH</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3 visuels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12 m², 4 m², abribus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Digital</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1 dispositif</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à définir par la création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29184">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Presse et PLV</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2 visuels</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selon charte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1512"/>
                          </a:solidFill>
                          <a:latin typeface="Calibri" pitchFamily="34" charset="0"/>
                          <a:ea typeface="Calibri" pitchFamily="34" charset="-122"/>
                          <a:cs typeface="Calibri" pitchFamily="34" charset="-120"/>
                        </a:rPr>
                        <a:t>Activation terrain</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1 mécanique</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200" dirty="0">
                          <a:solidFill>
                            <a:srgbClr val="1F1512"/>
                          </a:solidFill>
                          <a:latin typeface="Calibri" pitchFamily="34" charset="0"/>
                          <a:ea typeface="Calibri" pitchFamily="34" charset="-122"/>
                          <a:cs typeface="Calibri" pitchFamily="34" charset="-120"/>
                        </a:rPr>
                        <a:t>marchés de Douala et Yaoundé</a:t>
                      </a:r>
                      <a:endParaRPr lang="en-US" sz="12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bl>
          </a:graphicData>
        </a:graphic>
      </p:graphicFrame>
      <p:sp>
        <p:nvSpPr>
          <p:cNvPr id="5" name="Shape 2"/>
          <p:cNvSpPr/>
          <p:nvPr/>
        </p:nvSpPr>
        <p:spPr>
          <a:xfrm>
            <a:off x="566928" y="4041648"/>
            <a:ext cx="5391760" cy="1645920"/>
          </a:xfrm>
          <a:prstGeom prst="roundRect">
            <a:avLst>
              <a:gd name="adj" fmla="val 3333"/>
            </a:avLst>
          </a:prstGeom>
          <a:solidFill>
            <a:srgbClr val="F3EEE9"/>
          </a:solidFill>
          <a:ln/>
        </p:spPr>
      </p:sp>
      <p:sp>
        <p:nvSpPr>
          <p:cNvPr id="6" name="Text 3"/>
          <p:cNvSpPr/>
          <p:nvPr/>
        </p:nvSpPr>
        <p:spPr>
          <a:xfrm>
            <a:off x="841248" y="4224528"/>
            <a:ext cx="4843120" cy="274320"/>
          </a:xfrm>
          <a:prstGeom prst="rect">
            <a:avLst/>
          </a:prstGeom>
          <a:noFill/>
          <a:ln/>
        </p:spPr>
        <p:txBody>
          <a:bodyPr wrap="square" lIns="0" tIns="0" rIns="0" bIns="0" rtlCol="0" anchor="ctr"/>
          <a:lstStyle/>
          <a:p>
            <a:pPr indent="0" marL="0">
              <a:buNone/>
            </a:pPr>
            <a:r>
              <a:rPr lang="en-US" sz="1500" b="1" dirty="0">
                <a:solidFill>
                  <a:srgbClr val="1F1512"/>
                </a:solidFill>
                <a:latin typeface="Cambria" pitchFamily="34" charset="0"/>
                <a:ea typeface="Cambria" pitchFamily="34" charset="-122"/>
                <a:cs typeface="Cambria" pitchFamily="34" charset="-120"/>
              </a:rPr>
              <a:t>Contraintes</a:t>
            </a:r>
            <a:endParaRPr lang="en-US" sz="1500" dirty="0"/>
          </a:p>
        </p:txBody>
      </p:sp>
      <p:sp>
        <p:nvSpPr>
          <p:cNvPr id="7" name="Text 4"/>
          <p:cNvSpPr/>
          <p:nvPr/>
        </p:nvSpPr>
        <p:spPr>
          <a:xfrm>
            <a:off x="841248" y="4572000"/>
            <a:ext cx="4843120" cy="1005840"/>
          </a:xfrm>
          <a:prstGeom prst="rect">
            <a:avLst/>
          </a:prstGeom>
          <a:noFill/>
          <a:ln/>
        </p:spPr>
        <p:txBody>
          <a:bodyPr wrap="square" lIns="0" tIns="0" rIns="0" bIns="0" rtlCol="0" anchor="ctr"/>
          <a:lstStyle/>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Fenêtre média : 15 novembre – 31 décembre</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Packshot conforme à la référence 60 g</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Français, avec déclinaison pidgin sur le terrain</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Tournage au Cameroun, obligatoire</a:t>
            </a:r>
            <a:endParaRPr lang="en-US" sz="1200" dirty="0"/>
          </a:p>
        </p:txBody>
      </p:sp>
      <p:sp>
        <p:nvSpPr>
          <p:cNvPr id="8" name="Shape 5"/>
          <p:cNvSpPr/>
          <p:nvPr/>
        </p:nvSpPr>
        <p:spPr>
          <a:xfrm>
            <a:off x="6233008" y="4041648"/>
            <a:ext cx="5391760" cy="1645920"/>
          </a:xfrm>
          <a:prstGeom prst="roundRect">
            <a:avLst>
              <a:gd name="adj" fmla="val 3333"/>
            </a:avLst>
          </a:prstGeom>
          <a:solidFill>
            <a:srgbClr val="F7E9E7"/>
          </a:solidFill>
          <a:ln/>
        </p:spPr>
      </p:sp>
      <p:sp>
        <p:nvSpPr>
          <p:cNvPr id="9" name="Text 6"/>
          <p:cNvSpPr/>
          <p:nvPr/>
        </p:nvSpPr>
        <p:spPr>
          <a:xfrm>
            <a:off x="6507328" y="4224528"/>
            <a:ext cx="4843120" cy="274320"/>
          </a:xfrm>
          <a:prstGeom prst="rect">
            <a:avLst/>
          </a:prstGeom>
          <a:noFill/>
          <a:ln/>
        </p:spPr>
        <p:txBody>
          <a:bodyPr wrap="square" lIns="0" tIns="0" rIns="0" bIns="0" rtlCol="0" anchor="ctr"/>
          <a:lstStyle/>
          <a:p>
            <a:pPr indent="0" marL="0">
              <a:buNone/>
            </a:pPr>
            <a:r>
              <a:rPr lang="en-US" sz="1500" b="1" dirty="0">
                <a:solidFill>
                  <a:srgbClr val="B02118"/>
                </a:solidFill>
                <a:latin typeface="Cambria" pitchFamily="34" charset="0"/>
                <a:ea typeface="Cambria" pitchFamily="34" charset="-122"/>
                <a:cs typeface="Cambria" pitchFamily="34" charset="-120"/>
              </a:rPr>
              <a:t>Interdits client</a:t>
            </a:r>
            <a:endParaRPr lang="en-US" sz="1500" dirty="0"/>
          </a:p>
        </p:txBody>
      </p:sp>
      <p:sp>
        <p:nvSpPr>
          <p:cNvPr id="10" name="Text 7"/>
          <p:cNvSpPr/>
          <p:nvPr/>
        </p:nvSpPr>
        <p:spPr>
          <a:xfrm>
            <a:off x="6507328" y="4572000"/>
            <a:ext cx="4843120" cy="1005840"/>
          </a:xfrm>
          <a:prstGeom prst="rect">
            <a:avLst/>
          </a:prstGeom>
          <a:noFill/>
          <a:ln/>
        </p:spPr>
        <p:txBody>
          <a:bodyPr wrap="square" lIns="0" tIns="0" rIns="0" bIns="0" rtlCol="0" anchor="ctr"/>
          <a:lstStyle/>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Aucune mise en scène religieuse</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Pas d'alcool à table</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Pas d'enfant seul en cuisine</a:t>
            </a:r>
            <a:endParaRPr lang="en-US" sz="1200" dirty="0"/>
          </a:p>
          <a:p>
            <a:pPr marL="342900" indent="-342900">
              <a:lnSpc>
                <a:spcPts val="1900"/>
              </a:lnSpc>
              <a:spcAft>
                <a:spcPts val="500"/>
              </a:spcAft>
              <a:buSzPct val="100000"/>
              <a:buChar char="–"/>
            </a:pPr>
            <a:r>
              <a:rPr lang="en-US" sz="1200" dirty="0">
                <a:solidFill>
                  <a:srgbClr val="3E322C"/>
                </a:solidFill>
                <a:latin typeface="Calibri" pitchFamily="34" charset="0"/>
                <a:ea typeface="Calibri" pitchFamily="34" charset="-122"/>
                <a:cs typeface="Calibri" pitchFamily="34" charset="-120"/>
              </a:rPr>
              <a:t>Hors périmètre : packaging, identité, contenu permanent</a:t>
            </a:r>
            <a:endParaRPr lang="en-US" sz="1200" dirty="0"/>
          </a:p>
        </p:txBody>
      </p:sp>
      <p:sp>
        <p:nvSpPr>
          <p:cNvPr id="11" name="Shape 8"/>
          <p:cNvSpPr/>
          <p:nvPr/>
        </p:nvSpPr>
        <p:spPr>
          <a:xfrm>
            <a:off x="566928" y="6199632"/>
            <a:ext cx="256032" cy="256032"/>
          </a:xfrm>
          <a:prstGeom prst="ellipse">
            <a:avLst/>
          </a:prstGeom>
          <a:solidFill>
            <a:srgbClr val="10646E"/>
          </a:solidFill>
          <a:ln/>
        </p:spPr>
      </p:sp>
      <p:sp>
        <p:nvSpPr>
          <p:cNvPr id="12" name="Text 9"/>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0"/>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14" name="Text 11"/>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SECTION 7</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Critères de succès</a:t>
            </a:r>
            <a:endParaRPr lang="en-US" sz="3000" dirty="0"/>
          </a:p>
        </p:txBody>
      </p:sp>
      <p:sp>
        <p:nvSpPr>
          <p:cNvPr id="4" name="Text 2"/>
          <p:cNvSpPr/>
          <p:nvPr/>
        </p:nvSpPr>
        <p:spPr>
          <a:xfrm>
            <a:off x="566928" y="1481328"/>
            <a:ext cx="11057839" cy="274320"/>
          </a:xfrm>
          <a:prstGeom prst="rect">
            <a:avLst/>
          </a:prstGeom>
          <a:noFill/>
          <a:ln/>
        </p:spPr>
        <p:txBody>
          <a:bodyPr wrap="square" lIns="0" tIns="0" rIns="0" bIns="0" rtlCol="0" anchor="ctr"/>
          <a:lstStyle/>
          <a:p>
            <a:pPr indent="0" marL="0">
              <a:buNone/>
            </a:pPr>
            <a:r>
              <a:rPr lang="en-US" sz="1200" i="1" dirty="0">
                <a:solidFill>
                  <a:srgbClr val="8C7B72"/>
                </a:solidFill>
                <a:latin typeface="Calibri" pitchFamily="34" charset="0"/>
                <a:ea typeface="Calibri" pitchFamily="34" charset="-122"/>
                <a:cs typeface="Calibri" pitchFamily="34" charset="-120"/>
              </a:rPr>
              <a:t>Définis avant lancement, mesurés après. Ils constituent la grille de jugement de la campagne.</a:t>
            </a:r>
            <a:endParaRPr lang="en-US" sz="1200" dirty="0"/>
          </a:p>
        </p:txBody>
      </p:sp>
      <p:sp>
        <p:nvSpPr>
          <p:cNvPr id="5" name="Shape 3"/>
          <p:cNvSpPr/>
          <p:nvPr/>
        </p:nvSpPr>
        <p:spPr>
          <a:xfrm>
            <a:off x="566928" y="1965960"/>
            <a:ext cx="2558720" cy="2011680"/>
          </a:xfrm>
          <a:prstGeom prst="roundRect">
            <a:avLst>
              <a:gd name="adj" fmla="val 2727"/>
            </a:avLst>
          </a:prstGeom>
          <a:solidFill>
            <a:srgbClr val="F3EEE9"/>
          </a:solidFill>
          <a:ln/>
        </p:spPr>
      </p:sp>
      <p:sp>
        <p:nvSpPr>
          <p:cNvPr id="6" name="Text 4"/>
          <p:cNvSpPr/>
          <p:nvPr/>
        </p:nvSpPr>
        <p:spPr>
          <a:xfrm>
            <a:off x="749808" y="2167128"/>
            <a:ext cx="2192960" cy="731520"/>
          </a:xfrm>
          <a:prstGeom prst="rect">
            <a:avLst/>
          </a:prstGeom>
          <a:noFill/>
          <a:ln/>
        </p:spPr>
        <p:txBody>
          <a:bodyPr wrap="square" lIns="0" tIns="0" rIns="0" bIns="0" rtlCol="0" anchor="ctr"/>
          <a:lstStyle/>
          <a:p>
            <a:pPr algn="ctr" indent="0" marL="0">
              <a:buNone/>
            </a:pPr>
            <a:r>
              <a:rPr lang="en-US" sz="3000" b="1" dirty="0">
                <a:solidFill>
                  <a:srgbClr val="10646E"/>
                </a:solidFill>
                <a:latin typeface="Cambria" pitchFamily="34" charset="0"/>
                <a:ea typeface="Cambria" pitchFamily="34" charset="-122"/>
                <a:cs typeface="Cambria" pitchFamily="34" charset="-120"/>
              </a:rPr>
              <a:t>14 → 18 %</a:t>
            </a:r>
            <a:endParaRPr lang="en-US" sz="3000" dirty="0"/>
          </a:p>
        </p:txBody>
      </p:sp>
      <p:sp>
        <p:nvSpPr>
          <p:cNvPr id="7" name="Text 5"/>
          <p:cNvSpPr/>
          <p:nvPr/>
        </p:nvSpPr>
        <p:spPr>
          <a:xfrm>
            <a:off x="749808" y="2926080"/>
            <a:ext cx="2192960" cy="91440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part de marché sur la période festive</a:t>
            </a:r>
            <a:endParaRPr lang="en-US" sz="1150" dirty="0"/>
          </a:p>
        </p:txBody>
      </p:sp>
      <p:sp>
        <p:nvSpPr>
          <p:cNvPr id="8" name="Shape 6"/>
          <p:cNvSpPr/>
          <p:nvPr/>
        </p:nvSpPr>
        <p:spPr>
          <a:xfrm>
            <a:off x="3399968" y="1965960"/>
            <a:ext cx="2558720" cy="2011680"/>
          </a:xfrm>
          <a:prstGeom prst="roundRect">
            <a:avLst>
              <a:gd name="adj" fmla="val 2727"/>
            </a:avLst>
          </a:prstGeom>
          <a:solidFill>
            <a:srgbClr val="F3EEE9"/>
          </a:solidFill>
          <a:ln/>
        </p:spPr>
      </p:sp>
      <p:sp>
        <p:nvSpPr>
          <p:cNvPr id="9" name="Text 7"/>
          <p:cNvSpPr/>
          <p:nvPr/>
        </p:nvSpPr>
        <p:spPr>
          <a:xfrm>
            <a:off x="3582848" y="2167128"/>
            <a:ext cx="2192960" cy="731520"/>
          </a:xfrm>
          <a:prstGeom prst="rect">
            <a:avLst/>
          </a:prstGeom>
          <a:noFill/>
          <a:ln/>
        </p:spPr>
        <p:txBody>
          <a:bodyPr wrap="square" lIns="0" tIns="0" rIns="0" bIns="0" rtlCol="0" anchor="ctr"/>
          <a:lstStyle/>
          <a:p>
            <a:pPr algn="ctr" indent="0" marL="0">
              <a:buNone/>
            </a:pPr>
            <a:r>
              <a:rPr lang="en-US" sz="3800" b="1" dirty="0">
                <a:solidFill>
                  <a:srgbClr val="10646E"/>
                </a:solidFill>
                <a:latin typeface="Cambria" pitchFamily="34" charset="0"/>
                <a:ea typeface="Cambria" pitchFamily="34" charset="-122"/>
                <a:cs typeface="Cambria" pitchFamily="34" charset="-120"/>
              </a:rPr>
              <a:t>60 %</a:t>
            </a:r>
            <a:endParaRPr lang="en-US" sz="3800" dirty="0"/>
          </a:p>
        </p:txBody>
      </p:sp>
      <p:sp>
        <p:nvSpPr>
          <p:cNvPr id="10" name="Text 8"/>
          <p:cNvSpPr/>
          <p:nvPr/>
        </p:nvSpPr>
        <p:spPr>
          <a:xfrm>
            <a:off x="3582848" y="2926080"/>
            <a:ext cx="2192960" cy="91440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d'attribution correcte du film à la marque</a:t>
            </a:r>
            <a:endParaRPr lang="en-US" sz="1150" dirty="0"/>
          </a:p>
        </p:txBody>
      </p:sp>
      <p:sp>
        <p:nvSpPr>
          <p:cNvPr id="11" name="Shape 9"/>
          <p:cNvSpPr/>
          <p:nvPr/>
        </p:nvSpPr>
        <p:spPr>
          <a:xfrm>
            <a:off x="6233008" y="1965960"/>
            <a:ext cx="2558720" cy="2011680"/>
          </a:xfrm>
          <a:prstGeom prst="roundRect">
            <a:avLst>
              <a:gd name="adj" fmla="val 2727"/>
            </a:avLst>
          </a:prstGeom>
          <a:solidFill>
            <a:srgbClr val="F3EEE9"/>
          </a:solidFill>
          <a:ln/>
        </p:spPr>
      </p:sp>
      <p:sp>
        <p:nvSpPr>
          <p:cNvPr id="12" name="Text 10"/>
          <p:cNvSpPr/>
          <p:nvPr/>
        </p:nvSpPr>
        <p:spPr>
          <a:xfrm>
            <a:off x="6415888" y="2167128"/>
            <a:ext cx="2192960" cy="731520"/>
          </a:xfrm>
          <a:prstGeom prst="rect">
            <a:avLst/>
          </a:prstGeom>
          <a:noFill/>
          <a:ln/>
        </p:spPr>
        <p:txBody>
          <a:bodyPr wrap="square" lIns="0" tIns="0" rIns="0" bIns="0" rtlCol="0" anchor="ctr"/>
          <a:lstStyle/>
          <a:p>
            <a:pPr algn="ctr" indent="0" marL="0">
              <a:buNone/>
            </a:pPr>
            <a:r>
              <a:rPr lang="en-US" sz="3400" b="1" dirty="0">
                <a:solidFill>
                  <a:srgbClr val="10646E"/>
                </a:solidFill>
                <a:latin typeface="Cambria" pitchFamily="34" charset="0"/>
                <a:ea typeface="Cambria" pitchFamily="34" charset="-122"/>
                <a:cs typeface="Cambria" pitchFamily="34" charset="-120"/>
              </a:rPr>
              <a:t>+10 pts</a:t>
            </a:r>
            <a:endParaRPr lang="en-US" sz="3400" dirty="0"/>
          </a:p>
        </p:txBody>
      </p:sp>
      <p:sp>
        <p:nvSpPr>
          <p:cNvPr id="13" name="Text 11"/>
          <p:cNvSpPr/>
          <p:nvPr/>
        </p:nvSpPr>
        <p:spPr>
          <a:xfrm>
            <a:off x="6415888" y="2926080"/>
            <a:ext cx="2192960" cy="91440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d'intention d'achat en occasion festive</a:t>
            </a:r>
            <a:endParaRPr lang="en-US" sz="1150" dirty="0"/>
          </a:p>
        </p:txBody>
      </p:sp>
      <p:sp>
        <p:nvSpPr>
          <p:cNvPr id="14" name="Shape 12"/>
          <p:cNvSpPr/>
          <p:nvPr/>
        </p:nvSpPr>
        <p:spPr>
          <a:xfrm>
            <a:off x="9066047" y="1965960"/>
            <a:ext cx="2558720" cy="2011680"/>
          </a:xfrm>
          <a:prstGeom prst="roundRect">
            <a:avLst>
              <a:gd name="adj" fmla="val 2727"/>
            </a:avLst>
          </a:prstGeom>
          <a:solidFill>
            <a:srgbClr val="F3EEE9"/>
          </a:solidFill>
          <a:ln/>
        </p:spPr>
      </p:sp>
      <p:sp>
        <p:nvSpPr>
          <p:cNvPr id="15" name="Text 13"/>
          <p:cNvSpPr/>
          <p:nvPr/>
        </p:nvSpPr>
        <p:spPr>
          <a:xfrm>
            <a:off x="9248927" y="2167128"/>
            <a:ext cx="2192960" cy="731520"/>
          </a:xfrm>
          <a:prstGeom prst="rect">
            <a:avLst/>
          </a:prstGeom>
          <a:noFill/>
          <a:ln/>
        </p:spPr>
        <p:txBody>
          <a:bodyPr wrap="square" lIns="0" tIns="0" rIns="0" bIns="0" rtlCol="0" anchor="ctr"/>
          <a:lstStyle/>
          <a:p>
            <a:pPr algn="ctr" indent="0" marL="0">
              <a:buNone/>
            </a:pPr>
            <a:r>
              <a:rPr lang="en-US" sz="3800" b="1" dirty="0">
                <a:solidFill>
                  <a:srgbClr val="10646E"/>
                </a:solidFill>
                <a:latin typeface="Cambria" pitchFamily="34" charset="0"/>
                <a:ea typeface="Cambria" pitchFamily="34" charset="-122"/>
                <a:cs typeface="Cambria" pitchFamily="34" charset="-120"/>
              </a:rPr>
              <a:t>70 %</a:t>
            </a:r>
            <a:endParaRPr lang="en-US" sz="3800" dirty="0"/>
          </a:p>
        </p:txBody>
      </p:sp>
      <p:sp>
        <p:nvSpPr>
          <p:cNvPr id="16" name="Text 14"/>
          <p:cNvSpPr/>
          <p:nvPr/>
        </p:nvSpPr>
        <p:spPr>
          <a:xfrm>
            <a:off x="9248927" y="2926080"/>
            <a:ext cx="2192960" cy="914400"/>
          </a:xfrm>
          <a:prstGeom prst="rect">
            <a:avLst/>
          </a:prstGeom>
          <a:noFill/>
          <a:ln/>
        </p:spPr>
        <p:txBody>
          <a:bodyPr wrap="square" lIns="0" tIns="0" rIns="0" bIns="0" rtlCol="0" anchor="ctr"/>
          <a:lstStyle/>
          <a:p>
            <a:pPr algn="ctr" indent="0" marL="0">
              <a:lnSpc>
                <a:spcPts val="1500"/>
              </a:lnSpc>
              <a:buNone/>
            </a:pPr>
            <a:r>
              <a:rPr lang="en-US" sz="1150" dirty="0">
                <a:solidFill>
                  <a:srgbClr val="4A3B34"/>
                </a:solidFill>
                <a:latin typeface="Calibri" pitchFamily="34" charset="0"/>
                <a:ea typeface="Calibri" pitchFamily="34" charset="-122"/>
                <a:cs typeface="Calibri" pitchFamily="34" charset="-120"/>
              </a:rPr>
              <a:t>de couverture de la cible à 3 contacts et plus</a:t>
            </a:r>
            <a:endParaRPr lang="en-US" sz="1150" dirty="0"/>
          </a:p>
        </p:txBody>
      </p:sp>
      <p:sp>
        <p:nvSpPr>
          <p:cNvPr id="17" name="Shape 15"/>
          <p:cNvSpPr/>
          <p:nvPr/>
        </p:nvSpPr>
        <p:spPr>
          <a:xfrm>
            <a:off x="566928" y="4297680"/>
            <a:ext cx="11057839" cy="1371600"/>
          </a:xfrm>
          <a:prstGeom prst="roundRect">
            <a:avLst>
              <a:gd name="adj" fmla="val 4000"/>
            </a:avLst>
          </a:prstGeom>
          <a:solidFill>
            <a:srgbClr val="1F1512"/>
          </a:solidFill>
          <a:ln/>
        </p:spPr>
      </p:sp>
      <p:sp>
        <p:nvSpPr>
          <p:cNvPr id="18" name="Text 16"/>
          <p:cNvSpPr/>
          <p:nvPr/>
        </p:nvSpPr>
        <p:spPr>
          <a:xfrm>
            <a:off x="932688" y="4297680"/>
            <a:ext cx="10326319" cy="1371600"/>
          </a:xfrm>
          <a:prstGeom prst="rect">
            <a:avLst/>
          </a:prstGeom>
          <a:noFill/>
          <a:ln/>
        </p:spPr>
        <p:txBody>
          <a:bodyPr wrap="square" lIns="0" tIns="0" rIns="0" bIns="0" rtlCol="0" anchor="ctr"/>
          <a:lstStyle/>
          <a:p>
            <a:pPr indent="0" marL="0">
              <a:lnSpc>
                <a:spcPts val="2400"/>
              </a:lnSpc>
              <a:buNone/>
            </a:pPr>
            <a:r>
              <a:rPr lang="en-US" sz="1550" dirty="0">
                <a:solidFill>
                  <a:srgbClr val="FFFFFF"/>
                </a:solidFill>
                <a:latin typeface="Cambria" pitchFamily="34" charset="0"/>
                <a:ea typeface="Cambria" pitchFamily="34" charset="-122"/>
                <a:cs typeface="Cambria" pitchFamily="34" charset="-120"/>
              </a:rPr>
              <a:t>Le seuil d'attribution est le critère bloquant : une campagne qui ne l'atteint pas reproduit l'échec de l'an dernier, quels que soient ses autres résultats.</a:t>
            </a:r>
            <a:endParaRPr lang="en-US" sz="1550" dirty="0"/>
          </a:p>
        </p:txBody>
      </p:sp>
      <p:sp>
        <p:nvSpPr>
          <p:cNvPr id="19" name="Shape 17"/>
          <p:cNvSpPr/>
          <p:nvPr/>
        </p:nvSpPr>
        <p:spPr>
          <a:xfrm>
            <a:off x="566928" y="6199632"/>
            <a:ext cx="256032" cy="256032"/>
          </a:xfrm>
          <a:prstGeom prst="ellipse">
            <a:avLst/>
          </a:prstGeom>
          <a:solidFill>
            <a:srgbClr val="10646E"/>
          </a:solidFill>
          <a:ln/>
        </p:spPr>
      </p:sp>
      <p:sp>
        <p:nvSpPr>
          <p:cNvPr id="20" name="Text 18"/>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1" name="Text 19"/>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22" name="Text 20"/>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548640"/>
            <a:ext cx="11057839" cy="256032"/>
          </a:xfrm>
          <a:prstGeom prst="rect">
            <a:avLst/>
          </a:prstGeom>
          <a:noFill/>
          <a:ln/>
        </p:spPr>
        <p:txBody>
          <a:bodyPr wrap="square" lIns="0" tIns="0" rIns="0" bIns="0" rtlCol="0" anchor="ctr"/>
          <a:lstStyle/>
          <a:p>
            <a:pPr indent="0" marL="0">
              <a:buNone/>
            </a:pPr>
            <a:r>
              <a:rPr lang="en-US" sz="1050" b="1" spc="200" kern="0" dirty="0">
                <a:solidFill>
                  <a:srgbClr val="6FC4CE"/>
                </a:solidFill>
                <a:latin typeface="Calibri" pitchFamily="34" charset="0"/>
                <a:ea typeface="Calibri" pitchFamily="34" charset="-122"/>
                <a:cs typeface="Calibri" pitchFamily="34" charset="-120"/>
              </a:rPr>
              <a:t>CLAUSE DE FRONTIÈRE</a:t>
            </a:r>
            <a:endParaRPr lang="en-US" sz="1050" dirty="0"/>
          </a:p>
        </p:txBody>
      </p:sp>
      <p:sp>
        <p:nvSpPr>
          <p:cNvPr id="3" name="Text 1"/>
          <p:cNvSpPr/>
          <p:nvPr/>
        </p:nvSpPr>
        <p:spPr>
          <a:xfrm>
            <a:off x="566928" y="841248"/>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Ce que ce document ne contient pas</a:t>
            </a:r>
            <a:endParaRPr lang="en-US" sz="3000" dirty="0"/>
          </a:p>
        </p:txBody>
      </p:sp>
      <p:sp>
        <p:nvSpPr>
          <p:cNvPr id="4" name="Text 2"/>
          <p:cNvSpPr/>
          <p:nvPr/>
        </p:nvSpPr>
        <p:spPr>
          <a:xfrm>
            <a:off x="566928" y="1627632"/>
            <a:ext cx="11057839" cy="274320"/>
          </a:xfrm>
          <a:prstGeom prst="rect">
            <a:avLst/>
          </a:prstGeom>
          <a:noFill/>
          <a:ln/>
        </p:spPr>
        <p:txBody>
          <a:bodyPr wrap="square" lIns="0" tIns="0" rIns="0" bIns="0" rtlCol="0" anchor="ctr"/>
          <a:lstStyle/>
          <a:p>
            <a:pPr indent="0" marL="0">
              <a:buNone/>
            </a:pPr>
            <a:r>
              <a:rPr lang="en-US" sz="1250" dirty="0">
                <a:solidFill>
                  <a:srgbClr val="BFAFA6"/>
                </a:solidFill>
                <a:latin typeface="Calibri" pitchFamily="34" charset="0"/>
                <a:ea typeface="Calibri" pitchFamily="34" charset="-122"/>
                <a:cs typeface="Calibri" pitchFamily="34" charset="-120"/>
              </a:rPr>
              <a:t>Si l'un de ces éléments apparaît ici, il est hors périmètre de l'émetteur et doit être retiré avant transmission.</a:t>
            </a:r>
            <a:endParaRPr lang="en-US" sz="1250" dirty="0"/>
          </a:p>
        </p:txBody>
      </p:sp>
      <p:sp>
        <p:nvSpPr>
          <p:cNvPr id="5" name="Shape 3"/>
          <p:cNvSpPr/>
          <p:nvPr/>
        </p:nvSpPr>
        <p:spPr>
          <a:xfrm>
            <a:off x="566928" y="2121408"/>
            <a:ext cx="5437480" cy="457200"/>
          </a:xfrm>
          <a:prstGeom prst="roundRect">
            <a:avLst>
              <a:gd name="adj" fmla="val 10000"/>
            </a:avLst>
          </a:prstGeom>
          <a:solidFill>
            <a:srgbClr val="33231D"/>
          </a:solidFill>
          <a:ln/>
        </p:spPr>
      </p:sp>
      <p:sp>
        <p:nvSpPr>
          <p:cNvPr id="6" name="Text 4"/>
          <p:cNvSpPr/>
          <p:nvPr/>
        </p:nvSpPr>
        <p:spPr>
          <a:xfrm>
            <a:off x="731520" y="2121408"/>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097280" y="2121408"/>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 concept ni idée de campagne</a:t>
            </a:r>
            <a:endParaRPr lang="en-US" sz="1250" dirty="0"/>
          </a:p>
        </p:txBody>
      </p:sp>
      <p:sp>
        <p:nvSpPr>
          <p:cNvPr id="8" name="Shape 6"/>
          <p:cNvSpPr/>
          <p:nvPr/>
        </p:nvSpPr>
        <p:spPr>
          <a:xfrm>
            <a:off x="6187288" y="2121408"/>
            <a:ext cx="5437480" cy="457200"/>
          </a:xfrm>
          <a:prstGeom prst="roundRect">
            <a:avLst>
              <a:gd name="adj" fmla="val 10000"/>
            </a:avLst>
          </a:prstGeom>
          <a:solidFill>
            <a:srgbClr val="33231D"/>
          </a:solidFill>
          <a:ln/>
        </p:spPr>
      </p:sp>
      <p:sp>
        <p:nvSpPr>
          <p:cNvPr id="9" name="Text 7"/>
          <p:cNvSpPr/>
          <p:nvPr/>
        </p:nvSpPr>
        <p:spPr>
          <a:xfrm>
            <a:off x="6351880" y="2121408"/>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6717640" y="2121408"/>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 titre, accroche ou signature</a:t>
            </a:r>
            <a:endParaRPr lang="en-US" sz="1250" dirty="0"/>
          </a:p>
        </p:txBody>
      </p:sp>
      <p:sp>
        <p:nvSpPr>
          <p:cNvPr id="11" name="Shape 9"/>
          <p:cNvSpPr/>
          <p:nvPr/>
        </p:nvSpPr>
        <p:spPr>
          <a:xfrm>
            <a:off x="566928" y="2688336"/>
            <a:ext cx="5437480" cy="457200"/>
          </a:xfrm>
          <a:prstGeom prst="roundRect">
            <a:avLst>
              <a:gd name="adj" fmla="val 10000"/>
            </a:avLst>
          </a:prstGeom>
          <a:solidFill>
            <a:srgbClr val="33231D"/>
          </a:solidFill>
          <a:ln/>
        </p:spPr>
      </p:sp>
      <p:sp>
        <p:nvSpPr>
          <p:cNvPr id="12" name="Text 10"/>
          <p:cNvSpPr/>
          <p:nvPr/>
        </p:nvSpPr>
        <p:spPr>
          <a:xfrm>
            <a:off x="731520" y="2688336"/>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097280" y="2688336"/>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 naming de campagne ou de mécanique</a:t>
            </a:r>
            <a:endParaRPr lang="en-US" sz="1250" dirty="0"/>
          </a:p>
        </p:txBody>
      </p:sp>
      <p:sp>
        <p:nvSpPr>
          <p:cNvPr id="14" name="Shape 12"/>
          <p:cNvSpPr/>
          <p:nvPr/>
        </p:nvSpPr>
        <p:spPr>
          <a:xfrm>
            <a:off x="6187288" y="2688336"/>
            <a:ext cx="5437480" cy="457200"/>
          </a:xfrm>
          <a:prstGeom prst="roundRect">
            <a:avLst>
              <a:gd name="adj" fmla="val 10000"/>
            </a:avLst>
          </a:prstGeom>
          <a:solidFill>
            <a:srgbClr val="33231D"/>
          </a:solidFill>
          <a:ln/>
        </p:spPr>
      </p:sp>
      <p:sp>
        <p:nvSpPr>
          <p:cNvPr id="15" name="Text 13"/>
          <p:cNvSpPr/>
          <p:nvPr/>
        </p:nvSpPr>
        <p:spPr>
          <a:xfrm>
            <a:off x="6351880" y="2688336"/>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6717640" y="2688336"/>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Aucune piste visuelle ni moodboard</a:t>
            </a:r>
            <a:endParaRPr lang="en-US" sz="1250" dirty="0"/>
          </a:p>
        </p:txBody>
      </p:sp>
      <p:sp>
        <p:nvSpPr>
          <p:cNvPr id="17" name="Shape 15"/>
          <p:cNvSpPr/>
          <p:nvPr/>
        </p:nvSpPr>
        <p:spPr>
          <a:xfrm>
            <a:off x="566928" y="3255264"/>
            <a:ext cx="5437480" cy="457200"/>
          </a:xfrm>
          <a:prstGeom prst="roundRect">
            <a:avLst>
              <a:gd name="adj" fmla="val 10000"/>
            </a:avLst>
          </a:prstGeom>
          <a:solidFill>
            <a:srgbClr val="33231D"/>
          </a:solidFill>
          <a:ln/>
        </p:spPr>
      </p:sp>
      <p:sp>
        <p:nvSpPr>
          <p:cNvPr id="18" name="Text 16"/>
          <p:cNvSpPr/>
          <p:nvPr/>
        </p:nvSpPr>
        <p:spPr>
          <a:xfrm>
            <a:off x="731520" y="3255264"/>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097280" y="3255264"/>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 scénario ni storyboard</a:t>
            </a:r>
            <a:endParaRPr lang="en-US" sz="1250" dirty="0"/>
          </a:p>
        </p:txBody>
      </p:sp>
      <p:sp>
        <p:nvSpPr>
          <p:cNvPr id="20" name="Shape 18"/>
          <p:cNvSpPr/>
          <p:nvPr/>
        </p:nvSpPr>
        <p:spPr>
          <a:xfrm>
            <a:off x="6187288" y="3255264"/>
            <a:ext cx="5437480" cy="457200"/>
          </a:xfrm>
          <a:prstGeom prst="roundRect">
            <a:avLst>
              <a:gd name="adj" fmla="val 10000"/>
            </a:avLst>
          </a:prstGeom>
          <a:solidFill>
            <a:srgbClr val="33231D"/>
          </a:solidFill>
          <a:ln/>
        </p:spPr>
      </p:sp>
      <p:sp>
        <p:nvSpPr>
          <p:cNvPr id="21" name="Text 19"/>
          <p:cNvSpPr/>
          <p:nvPr/>
        </p:nvSpPr>
        <p:spPr>
          <a:xfrm>
            <a:off x="6351880" y="3255264"/>
            <a:ext cx="320040" cy="457200"/>
          </a:xfrm>
          <a:prstGeom prst="rect">
            <a:avLst/>
          </a:prstGeom>
          <a:noFill/>
          <a:ln/>
        </p:spPr>
        <p:txBody>
          <a:bodyPr wrap="square" lIns="0" tIns="0" rIns="0" bIns="0" rtlCol="0" anchor="ctr"/>
          <a:lstStyle/>
          <a:p>
            <a:pPr algn="ctr" indent="0" marL="0">
              <a:buNone/>
            </a:pPr>
            <a:r>
              <a:rPr lang="en-US" sz="1300" b="1" dirty="0">
                <a:solidFill>
                  <a:srgbClr val="E06A5E"/>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717640" y="3255264"/>
            <a:ext cx="4815688" cy="457200"/>
          </a:xfrm>
          <a:prstGeom prst="rect">
            <a:avLst/>
          </a:prstGeom>
          <a:noFill/>
          <a:ln/>
        </p:spPr>
        <p:txBody>
          <a:bodyPr wrap="square" lIns="0" tIns="0" rIns="0" bIns="0" rtlCol="0" anchor="ctr"/>
          <a:lstStyle/>
          <a:p>
            <a:pPr indent="0" marL="0">
              <a:buNone/>
            </a:pPr>
            <a:r>
              <a:rPr lang="en-US" sz="1250" dirty="0">
                <a:solidFill>
                  <a:srgbClr val="F0E6E0"/>
                </a:solidFill>
                <a:latin typeface="Calibri" pitchFamily="34" charset="0"/>
                <a:ea typeface="Calibri" pitchFamily="34" charset="-122"/>
                <a:cs typeface="Calibri" pitchFamily="34" charset="-120"/>
              </a:rPr>
              <a:t>Aucune promesse d'exécution déjà faite au client</a:t>
            </a:r>
            <a:endParaRPr lang="en-US" sz="1250" dirty="0"/>
          </a:p>
        </p:txBody>
      </p:sp>
      <p:sp>
        <p:nvSpPr>
          <p:cNvPr id="23" name="Shape 21"/>
          <p:cNvSpPr/>
          <p:nvPr/>
        </p:nvSpPr>
        <p:spPr>
          <a:xfrm>
            <a:off x="566928" y="4041648"/>
            <a:ext cx="11057839" cy="914400"/>
          </a:xfrm>
          <a:prstGeom prst="roundRect">
            <a:avLst>
              <a:gd name="adj" fmla="val 6000"/>
            </a:avLst>
          </a:prstGeom>
          <a:solidFill>
            <a:srgbClr val="6FC4CE"/>
          </a:solidFill>
          <a:ln/>
        </p:spPr>
      </p:sp>
      <p:sp>
        <p:nvSpPr>
          <p:cNvPr id="24" name="Text 22"/>
          <p:cNvSpPr/>
          <p:nvPr/>
        </p:nvSpPr>
        <p:spPr>
          <a:xfrm>
            <a:off x="886968" y="4041648"/>
            <a:ext cx="10417759" cy="914400"/>
          </a:xfrm>
          <a:prstGeom prst="rect">
            <a:avLst/>
          </a:prstGeom>
          <a:noFill/>
          <a:ln/>
        </p:spPr>
        <p:txBody>
          <a:bodyPr wrap="square" lIns="0" tIns="0" rIns="0" bIns="0" rtlCol="0" anchor="ctr"/>
          <a:lstStyle/>
          <a:p>
            <a:pPr indent="0" marL="0">
              <a:buNone/>
            </a:pPr>
            <a:r>
              <a:rPr lang="en-US" sz="1500" b="1" dirty="0">
                <a:solidFill>
                  <a:srgbClr val="0B3D43"/>
                </a:solidFill>
                <a:latin typeface="Cambria" pitchFamily="34" charset="0"/>
                <a:ea typeface="Cambria" pitchFamily="34" charset="-122"/>
                <a:cs typeface="Cambria" pitchFamily="34" charset="-120"/>
              </a:rPr>
              <a:t>Test de contrôle avant envoi : si une phrase de ce document pourrait figurer sur une affiche, elle n'a rien à y faire.</a:t>
            </a:r>
            <a:endParaRPr lang="en-US" sz="1500" dirty="0"/>
          </a:p>
        </p:txBody>
      </p:sp>
      <p:sp>
        <p:nvSpPr>
          <p:cNvPr id="25" name="Shape 23"/>
          <p:cNvSpPr/>
          <p:nvPr/>
        </p:nvSpPr>
        <p:spPr>
          <a:xfrm>
            <a:off x="566928" y="6199632"/>
            <a:ext cx="256032" cy="256032"/>
          </a:xfrm>
          <a:prstGeom prst="ellipse">
            <a:avLst/>
          </a:prstGeom>
          <a:solidFill>
            <a:srgbClr val="10646E"/>
          </a:solidFill>
          <a:ln/>
        </p:spPr>
      </p:sp>
      <p:sp>
        <p:nvSpPr>
          <p:cNvPr id="26" name="Text 2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Clientèle</a:t>
            </a:r>
            <a:endParaRPr lang="en-US" sz="950" dirty="0"/>
          </a:p>
        </p:txBody>
      </p:sp>
      <p:sp>
        <p:nvSpPr>
          <p:cNvPr id="28" name="Text 2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10646E"/>
                </a:solidFill>
                <a:latin typeface="Calibri" pitchFamily="34" charset="0"/>
                <a:ea typeface="Calibri" pitchFamily="34" charset="-122"/>
                <a:cs typeface="Calibri" pitchFamily="34" charset="-120"/>
              </a:rPr>
              <a:t>ENGAGEMENT ET RÉCEPTION</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que l'émetteur garantit</a:t>
            </a:r>
            <a:endParaRPr lang="en-US" sz="3000" dirty="0"/>
          </a:p>
        </p:txBody>
      </p:sp>
      <p:sp>
        <p:nvSpPr>
          <p:cNvPr id="4" name="Shape 2"/>
          <p:cNvSpPr/>
          <p:nvPr/>
        </p:nvSpPr>
        <p:spPr>
          <a:xfrm>
            <a:off x="566928" y="1691640"/>
            <a:ext cx="3503066" cy="2148840"/>
          </a:xfrm>
          <a:prstGeom prst="roundRect">
            <a:avLst>
              <a:gd name="adj" fmla="val 2553"/>
            </a:avLst>
          </a:prstGeom>
          <a:solidFill>
            <a:srgbClr val="F3EEE9"/>
          </a:solidFill>
          <a:ln/>
        </p:spPr>
      </p:sp>
      <p:sp>
        <p:nvSpPr>
          <p:cNvPr id="5" name="Text 3"/>
          <p:cNvSpPr/>
          <p:nvPr/>
        </p:nvSpPr>
        <p:spPr>
          <a:xfrm>
            <a:off x="822960" y="19293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01</a:t>
            </a:r>
            <a:endParaRPr lang="en-US" sz="950" dirty="0"/>
          </a:p>
        </p:txBody>
      </p:sp>
      <p:sp>
        <p:nvSpPr>
          <p:cNvPr id="6" name="Text 4"/>
          <p:cNvSpPr/>
          <p:nvPr/>
        </p:nvSpPr>
        <p:spPr>
          <a:xfrm>
            <a:off x="822960"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Un brief qualifié</a:t>
            </a:r>
            <a:endParaRPr lang="en-US" sz="1700" dirty="0"/>
          </a:p>
        </p:txBody>
      </p:sp>
      <p:sp>
        <p:nvSpPr>
          <p:cNvPr id="7" name="Text 5"/>
          <p:cNvSpPr/>
          <p:nvPr/>
        </p:nvSpPr>
        <p:spPr>
          <a:xfrm>
            <a:off x="822960" y="267919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Ce document n'est pas la retranscription d'une demande client : il a été qualifié auprès du client.</a:t>
            </a:r>
            <a:endParaRPr lang="en-US" sz="1250" dirty="0"/>
          </a:p>
        </p:txBody>
      </p:sp>
      <p:sp>
        <p:nvSpPr>
          <p:cNvPr id="8" name="Shape 6"/>
          <p:cNvSpPr/>
          <p:nvPr/>
        </p:nvSpPr>
        <p:spPr>
          <a:xfrm>
            <a:off x="4344314" y="1691640"/>
            <a:ext cx="3503066" cy="2148840"/>
          </a:xfrm>
          <a:prstGeom prst="roundRect">
            <a:avLst>
              <a:gd name="adj" fmla="val 2553"/>
            </a:avLst>
          </a:prstGeom>
          <a:solidFill>
            <a:srgbClr val="F3EEE9"/>
          </a:solidFill>
          <a:ln/>
        </p:spPr>
      </p:sp>
      <p:sp>
        <p:nvSpPr>
          <p:cNvPr id="9" name="Text 7"/>
          <p:cNvSpPr/>
          <p:nvPr/>
        </p:nvSpPr>
        <p:spPr>
          <a:xfrm>
            <a:off x="4600346" y="19293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02</a:t>
            </a:r>
            <a:endParaRPr lang="en-US" sz="950" dirty="0"/>
          </a:p>
        </p:txBody>
      </p:sp>
      <p:sp>
        <p:nvSpPr>
          <p:cNvPr id="10" name="Text 8"/>
          <p:cNvSpPr/>
          <p:nvPr/>
        </p:nvSpPr>
        <p:spPr>
          <a:xfrm>
            <a:off x="4600346"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Aucune promesse cachée</a:t>
            </a:r>
            <a:endParaRPr lang="en-US" sz="1700" dirty="0"/>
          </a:p>
        </p:txBody>
      </p:sp>
      <p:sp>
        <p:nvSpPr>
          <p:cNvPr id="11" name="Text 9"/>
          <p:cNvSpPr/>
          <p:nvPr/>
        </p:nvSpPr>
        <p:spPr>
          <a:xfrm>
            <a:off x="4600346" y="267919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Aucun engagement de délai, de volume ou de concept n'a été pris au-delà de ce qui figure ici.</a:t>
            </a:r>
            <a:endParaRPr lang="en-US" sz="1250" dirty="0"/>
          </a:p>
        </p:txBody>
      </p:sp>
      <p:sp>
        <p:nvSpPr>
          <p:cNvPr id="12" name="Shape 10"/>
          <p:cNvSpPr/>
          <p:nvPr/>
        </p:nvSpPr>
        <p:spPr>
          <a:xfrm>
            <a:off x="8121701" y="1691640"/>
            <a:ext cx="3503066" cy="2148840"/>
          </a:xfrm>
          <a:prstGeom prst="roundRect">
            <a:avLst>
              <a:gd name="adj" fmla="val 2553"/>
            </a:avLst>
          </a:prstGeom>
          <a:solidFill>
            <a:srgbClr val="F3EEE9"/>
          </a:solidFill>
          <a:ln/>
        </p:spPr>
      </p:sp>
      <p:sp>
        <p:nvSpPr>
          <p:cNvPr id="13" name="Text 11"/>
          <p:cNvSpPr/>
          <p:nvPr/>
        </p:nvSpPr>
        <p:spPr>
          <a:xfrm>
            <a:off x="8377733" y="1929384"/>
            <a:ext cx="2991002" cy="237744"/>
          </a:xfrm>
          <a:prstGeom prst="rect">
            <a:avLst/>
          </a:prstGeom>
          <a:noFill/>
          <a:ln/>
        </p:spPr>
        <p:txBody>
          <a:bodyPr wrap="square" lIns="0" tIns="0" rIns="0" bIns="0" rtlCol="0" anchor="ctr"/>
          <a:lstStyle/>
          <a:p>
            <a:pPr indent="0" marL="0">
              <a:buNone/>
            </a:pPr>
            <a:r>
              <a:rPr lang="en-US" sz="950" b="1" spc="150" kern="0" dirty="0">
                <a:solidFill>
                  <a:srgbClr val="10646E"/>
                </a:solidFill>
                <a:latin typeface="Calibri" pitchFamily="34" charset="0"/>
                <a:ea typeface="Calibri" pitchFamily="34" charset="-122"/>
                <a:cs typeface="Calibri" pitchFamily="34" charset="-120"/>
              </a:rPr>
              <a:t>03</a:t>
            </a:r>
            <a:endParaRPr lang="en-US" sz="950" dirty="0"/>
          </a:p>
        </p:txBody>
      </p:sp>
      <p:sp>
        <p:nvSpPr>
          <p:cNvPr id="14" name="Text 12"/>
          <p:cNvSpPr/>
          <p:nvPr/>
        </p:nvSpPr>
        <p:spPr>
          <a:xfrm>
            <a:off x="8377733"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Une version, pas un message</a:t>
            </a:r>
            <a:endParaRPr lang="en-US" sz="1700" dirty="0"/>
          </a:p>
        </p:txBody>
      </p:sp>
      <p:sp>
        <p:nvSpPr>
          <p:cNvPr id="15" name="Text 13"/>
          <p:cNvSpPr/>
          <p:nvPr/>
        </p:nvSpPr>
        <p:spPr>
          <a:xfrm>
            <a:off x="8377733" y="2679192"/>
            <a:ext cx="2991002" cy="90525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Toute évolution du besoin client donne lieu à une version 2.0 de ce document, jamais à un échange informel.</a:t>
            </a:r>
            <a:endParaRPr lang="en-US" sz="1250" dirty="0"/>
          </a:p>
        </p:txBody>
      </p:sp>
      <p:sp>
        <p:nvSpPr>
          <p:cNvPr id="16" name="Shape 14"/>
          <p:cNvSpPr/>
          <p:nvPr/>
        </p:nvSpPr>
        <p:spPr>
          <a:xfrm>
            <a:off x="566928" y="4069080"/>
            <a:ext cx="11057839" cy="1600200"/>
          </a:xfrm>
          <a:prstGeom prst="roundRect">
            <a:avLst>
              <a:gd name="adj" fmla="val 3429"/>
            </a:avLst>
          </a:prstGeom>
          <a:solidFill>
            <a:srgbClr val="F3EEE9"/>
          </a:solidFill>
          <a:ln/>
        </p:spPr>
      </p:sp>
      <p:sp>
        <p:nvSpPr>
          <p:cNvPr id="17" name="Text 15"/>
          <p:cNvSpPr/>
          <p:nvPr/>
        </p:nvSpPr>
        <p:spPr>
          <a:xfrm>
            <a:off x="886968" y="4279392"/>
            <a:ext cx="10417759" cy="292608"/>
          </a:xfrm>
          <a:prstGeom prst="rect">
            <a:avLst/>
          </a:prstGeom>
          <a:noFill/>
          <a:ln/>
        </p:spPr>
        <p:txBody>
          <a:bodyPr wrap="square" lIns="0" tIns="0" rIns="0" bIns="0" rtlCol="0" anchor="ctr"/>
          <a:lstStyle/>
          <a:p>
            <a:pPr indent="0" marL="0">
              <a:buNone/>
            </a:pPr>
            <a:r>
              <a:rPr lang="en-US" sz="1600" b="1" dirty="0">
                <a:solidFill>
                  <a:srgbClr val="1F1512"/>
                </a:solidFill>
                <a:latin typeface="Cambria" pitchFamily="34" charset="0"/>
                <a:ea typeface="Cambria" pitchFamily="34" charset="-122"/>
                <a:cs typeface="Cambria" pitchFamily="34" charset="-120"/>
              </a:rPr>
              <a:t>Réception sous réserve</a:t>
            </a:r>
            <a:endParaRPr lang="en-US" sz="1600" dirty="0"/>
          </a:p>
        </p:txBody>
      </p:sp>
      <p:sp>
        <p:nvSpPr>
          <p:cNvPr id="18" name="Text 16"/>
          <p:cNvSpPr/>
          <p:nvPr/>
        </p:nvSpPr>
        <p:spPr>
          <a:xfrm>
            <a:off x="886968" y="4617720"/>
            <a:ext cx="10417759" cy="914400"/>
          </a:xfrm>
          <a:prstGeom prst="rect">
            <a:avLst/>
          </a:prstGeom>
          <a:noFill/>
          <a:ln/>
        </p:spPr>
        <p:txBody>
          <a:bodyPr wrap="square" lIns="0" tIns="0" rIns="0" bIns="0" rtlCol="0" anchor="ctr"/>
          <a:lstStyle/>
          <a:p>
            <a:pPr indent="0" marL="0">
              <a:lnSpc>
                <a:spcPts val="2000"/>
              </a:lnSpc>
              <a:buNone/>
            </a:pPr>
            <a:r>
              <a:rPr lang="en-US" sz="1300" dirty="0">
                <a:solidFill>
                  <a:srgbClr val="3E322C"/>
                </a:solidFill>
                <a:latin typeface="Calibri" pitchFamily="34" charset="0"/>
                <a:ea typeface="Calibri" pitchFamily="34" charset="-122"/>
                <a:cs typeface="Calibri" pitchFamily="34" charset="-120"/>
              </a:rPr>
              <a:t>La Direction de la Création peut retourner ce brief sous 24 h en signalant les points manquants. L'horloge des 10 jours ouvrés ne démarre qu'à la levée des réserves.</a:t>
            </a:r>
            <a:endParaRPr lang="en-US" sz="1300" dirty="0"/>
          </a:p>
          <a:p>
            <a:pPr indent="0" marL="0">
              <a:lnSpc>
                <a:spcPts val="2000"/>
              </a:lnSpc>
              <a:buNone/>
            </a:pPr>
            <a:r>
              <a:rPr lang="en-US" sz="1300" dirty="0">
                <a:solidFill>
                  <a:srgbClr val="3E322C"/>
                </a:solidFill>
                <a:latin typeface="Calibri" pitchFamily="34" charset="0"/>
                <a:ea typeface="Calibri" pitchFamily="34" charset="-122"/>
                <a:cs typeface="Calibri" pitchFamily="34" charset="-120"/>
              </a:rPr>
              <a:t>Signataires : Directeur Clientèle · Planner stratégique · Directeur de la Création (accusé de réception).</a:t>
            </a:r>
            <a:endParaRPr lang="en-US" sz="1300" dirty="0"/>
          </a:p>
        </p:txBody>
      </p:sp>
      <p:sp>
        <p:nvSpPr>
          <p:cNvPr id="19" name="Shape 17"/>
          <p:cNvSpPr/>
          <p:nvPr/>
        </p:nvSpPr>
        <p:spPr>
          <a:xfrm>
            <a:off x="566928" y="6199632"/>
            <a:ext cx="256032" cy="256032"/>
          </a:xfrm>
          <a:prstGeom prst="ellipse">
            <a:avLst/>
          </a:prstGeom>
          <a:solidFill>
            <a:srgbClr val="10646E"/>
          </a:solidFill>
          <a:ln/>
        </p:spPr>
      </p:sp>
      <p:sp>
        <p:nvSpPr>
          <p:cNvPr id="20" name="Text 18"/>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1" name="Text 19"/>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Clientèle</a:t>
            </a:r>
            <a:endParaRPr lang="en-US" sz="950" dirty="0"/>
          </a:p>
        </p:txBody>
      </p:sp>
      <p:sp>
        <p:nvSpPr>
          <p:cNvPr id="22" name="Text 20"/>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Brief qualifié v1.0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2026-08-12T10:55:06Z</dcterms:created>
  <dcterms:modified xsi:type="dcterms:W3CDTF">2026-08-12T10:55:06Z</dcterms:modified>
</cp:coreProperties>
</file>